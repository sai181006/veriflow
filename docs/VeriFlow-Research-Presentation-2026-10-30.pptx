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b6da5f2259482c" /><Relationship Type="http://schemas.openxmlformats.org/officeDocument/2006/relationships/extended-properties" Target="/docProps/app.xml" Id="Re4e6c60080e54d65" /><Relationship Type="http://schemas.openxmlformats.org/officeDocument/2006/relationships/officeDocument" Target="/ppt/presentation.xml" Id="R0137d71f7bf84a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1f4d1297e247e1"/>
  </p:sldMasterIdLst>
  <p:notesMasterIdLst>
    <p:notesMasterId xmlns:r="http://schemas.openxmlformats.org/officeDocument/2006/relationships" r:id="R21e317e49b1c435b"/>
  </p:notesMasterIdLst>
  <p:sldIdLst>
    <p:sldId xmlns:r="http://schemas.openxmlformats.org/officeDocument/2006/relationships" id="256" r:id="Rc2a35d363a9f471a"/>
    <p:sldId xmlns:r="http://schemas.openxmlformats.org/officeDocument/2006/relationships" id="257" r:id="R402ab62639104d52"/>
    <p:sldId xmlns:r="http://schemas.openxmlformats.org/officeDocument/2006/relationships" id="258" r:id="Rb6bb8d55567848c0"/>
    <p:sldId xmlns:r="http://schemas.openxmlformats.org/officeDocument/2006/relationships" id="259" r:id="R81e8cd007c9a4870"/>
    <p:sldId xmlns:r="http://schemas.openxmlformats.org/officeDocument/2006/relationships" id="260" r:id="Rbac5a9c3ff064731"/>
    <p:sldId xmlns:r="http://schemas.openxmlformats.org/officeDocument/2006/relationships" id="261" r:id="Rca622e7f2b3747ff"/>
    <p:sldId xmlns:r="http://schemas.openxmlformats.org/officeDocument/2006/relationships" id="262" r:id="R507629936c98443c"/>
    <p:sldId xmlns:r="http://schemas.openxmlformats.org/officeDocument/2006/relationships" id="263" r:id="R96c350746f7c442f"/>
    <p:sldId xmlns:r="http://schemas.openxmlformats.org/officeDocument/2006/relationships" id="264" r:id="Rf62fce5229654f53"/>
    <p:sldId xmlns:r="http://schemas.openxmlformats.org/officeDocument/2006/relationships" id="265" r:id="R2b990e47e0a54f42"/>
    <p:sldId xmlns:r="http://schemas.openxmlformats.org/officeDocument/2006/relationships" id="266" r:id="R39103b5fc5cb49df"/>
    <p:sldId xmlns:r="http://schemas.openxmlformats.org/officeDocument/2006/relationships" id="267" r:id="R5caf998bf59f44d2"/>
    <p:sldId xmlns:r="http://schemas.openxmlformats.org/officeDocument/2006/relationships" id="268" r:id="R08dbe1b28b20471a"/>
    <p:sldId xmlns:r="http://schemas.openxmlformats.org/officeDocument/2006/relationships" id="269" r:id="R2954fa3099004ca9"/>
    <p:sldId xmlns:r="http://schemas.openxmlformats.org/officeDocument/2006/relationships" id="270" r:id="R0e81b6d484864934"/>
    <p:sldId xmlns:r="http://schemas.openxmlformats.org/officeDocument/2006/relationships" id="271" r:id="Reed04c0adf1c46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b26efaad534de0" /><Relationship Type="http://schemas.openxmlformats.org/officeDocument/2006/relationships/slideMaster" Target="/ppt/slideMasters/slideMaster1.xml" Id="R681f4d1297e247e1" /><Relationship Type="http://schemas.openxmlformats.org/officeDocument/2006/relationships/notesMaster" Target="/ppt/notesMasters/notesMaster1.xml" Id="R21e317e49b1c435b" /><Relationship Type="http://schemas.openxmlformats.org/officeDocument/2006/relationships/presProps" Target="/ppt/presProps.xml" Id="R9a747127d48b4d5d" /><Relationship Type="http://schemas.openxmlformats.org/officeDocument/2006/relationships/tableStyles" Target="/ppt/tableStyles.xml" Id="Rd6515fd710bc40a1" /><Relationship Type="http://schemas.openxmlformats.org/officeDocument/2006/relationships/slide" Target="/ppt/slides/slide1.xml" Id="Rc2a35d363a9f471a" /><Relationship Type="http://schemas.openxmlformats.org/officeDocument/2006/relationships/slide" Target="/ppt/slides/slide2.xml" Id="R402ab62639104d52" /><Relationship Type="http://schemas.openxmlformats.org/officeDocument/2006/relationships/slide" Target="/ppt/slides/slide3.xml" Id="Rb6bb8d55567848c0" /><Relationship Type="http://schemas.openxmlformats.org/officeDocument/2006/relationships/slide" Target="/ppt/slides/slide4.xml" Id="R81e8cd007c9a4870" /><Relationship Type="http://schemas.openxmlformats.org/officeDocument/2006/relationships/slide" Target="/ppt/slides/slide5.xml" Id="Rbac5a9c3ff064731" /><Relationship Type="http://schemas.openxmlformats.org/officeDocument/2006/relationships/slide" Target="/ppt/slides/slide6.xml" Id="Rca622e7f2b3747ff" /><Relationship Type="http://schemas.openxmlformats.org/officeDocument/2006/relationships/slide" Target="/ppt/slides/slide7.xml" Id="R507629936c98443c" /><Relationship Type="http://schemas.openxmlformats.org/officeDocument/2006/relationships/slide" Target="/ppt/slides/slide8.xml" Id="R96c350746f7c442f" /><Relationship Type="http://schemas.openxmlformats.org/officeDocument/2006/relationships/slide" Target="/ppt/slides/slide9.xml" Id="Rf62fce5229654f53" /><Relationship Type="http://schemas.openxmlformats.org/officeDocument/2006/relationships/slide" Target="/ppt/slides/slide10.xml" Id="R2b990e47e0a54f42" /><Relationship Type="http://schemas.openxmlformats.org/officeDocument/2006/relationships/slide" Target="/ppt/slides/slide11.xml" Id="R39103b5fc5cb49df" /><Relationship Type="http://schemas.openxmlformats.org/officeDocument/2006/relationships/slide" Target="/ppt/slides/slide12.xml" Id="R5caf998bf59f44d2" /><Relationship Type="http://schemas.openxmlformats.org/officeDocument/2006/relationships/slide" Target="/ppt/slides/slide13.xml" Id="R08dbe1b28b20471a" /><Relationship Type="http://schemas.openxmlformats.org/officeDocument/2006/relationships/slide" Target="/ppt/slides/slide14.xml" Id="R2954fa3099004ca9" /><Relationship Type="http://schemas.openxmlformats.org/officeDocument/2006/relationships/slide" Target="/ppt/slides/slide15.xml" Id="R0e81b6d484864934" /><Relationship Type="http://schemas.openxmlformats.org/officeDocument/2006/relationships/slide" Target="/ppt/slides/slide16.xml" Id="Reed04c0adf1c46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0b85d6c35e48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46b6e721df46d9" /><Relationship Type="http://schemas.openxmlformats.org/officeDocument/2006/relationships/notesMaster" Target="/ppt/notesMasters/notesMaster1.xml" Id="R2b0f909ee02342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dfb62f75cc4d1a" /><Relationship Type="http://schemas.openxmlformats.org/officeDocument/2006/relationships/notesMaster" Target="/ppt/notesMasters/notesMaster1.xml" Id="Red0bbb84e3f04d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1502369c55456a" /><Relationship Type="http://schemas.openxmlformats.org/officeDocument/2006/relationships/notesMaster" Target="/ppt/notesMasters/notesMaster1.xml" Id="Ra8f94f3e2c6a48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19185ba0884f7c" /><Relationship Type="http://schemas.openxmlformats.org/officeDocument/2006/relationships/notesMaster" Target="/ppt/notesMasters/notesMaster1.xml" Id="R9e9369952a8147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326c99b2af45e4" /><Relationship Type="http://schemas.openxmlformats.org/officeDocument/2006/relationships/notesMaster" Target="/ppt/notesMasters/notesMaster1.xml" Id="R4d0a210826ac40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468ebb602443a8" /><Relationship Type="http://schemas.openxmlformats.org/officeDocument/2006/relationships/notesMaster" Target="/ppt/notesMasters/notesMaster1.xml" Id="R02a5a40cbaa44f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e0f8bd6bb64eda" /><Relationship Type="http://schemas.openxmlformats.org/officeDocument/2006/relationships/notesMaster" Target="/ppt/notesMasters/notesMaster1.xml" Id="R46d99118460542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35aa3dd4384b36" /><Relationship Type="http://schemas.openxmlformats.org/officeDocument/2006/relationships/notesMaster" Target="/ppt/notesMasters/notesMaster1.xml" Id="R44d2661c32d24d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557cc4c70942d9" /><Relationship Type="http://schemas.openxmlformats.org/officeDocument/2006/relationships/notesMaster" Target="/ppt/notesMasters/notesMaster1.xml" Id="Rddde156e69234f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e92905c2f549a4" /><Relationship Type="http://schemas.openxmlformats.org/officeDocument/2006/relationships/notesMaster" Target="/ppt/notesMasters/notesMaster1.xml" Id="Rab55e0d7ee9241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8e0bf3ebd94d65" /><Relationship Type="http://schemas.openxmlformats.org/officeDocument/2006/relationships/notesMaster" Target="/ppt/notesMasters/notesMaster1.xml" Id="Re4a38a2e18fe4f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e9c95f51be49f2" /><Relationship Type="http://schemas.openxmlformats.org/officeDocument/2006/relationships/notesMaster" Target="/ppt/notesMasters/notesMaster1.xml" Id="Rb7fee69ff74544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3bedcfcfff4141" /><Relationship Type="http://schemas.openxmlformats.org/officeDocument/2006/relationships/notesMaster" Target="/ppt/notesMasters/notesMaster1.xml" Id="Rec68aec1468e48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00c7248ba84e7d" /><Relationship Type="http://schemas.openxmlformats.org/officeDocument/2006/relationships/notesMaster" Target="/ppt/notesMasters/notesMaster1.xml" Id="Raf245e78f1ed49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d5689bc15b4880" /><Relationship Type="http://schemas.openxmlformats.org/officeDocument/2006/relationships/notesMaster" Target="/ppt/notesMasters/notesMaster1.xml" Id="Ra2defd3b5a5e45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607289d2f94f21" /><Relationship Type="http://schemas.openxmlformats.org/officeDocument/2006/relationships/notesMaster" Target="/ppt/notesMasters/notesMaster1.xml" Id="Rd97940a82aba48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https://github.com/Sai181006/VeriFlow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Awiti et al. 2025 https://reference-global.com/article/10.2478/fcds-2025-0006</a:t>
            </a:r>
          </a:p>
          <a:p xmlns:a="http://schemas.openxmlformats.org/drawingml/2006/main">
            <a:r>
              <a:t>Kramer et al. 2025 https://www.vldb.org/2025/Workshops/VLDB-Workshops-2025/QDB/QDB25_4.pdf</a:t>
            </a:r>
          </a:p>
          <a:p xmlns:a="http://schemas.openxmlformats.org/drawingml/2006/main">
            <a:r>
              <a:t>Auge and Heuer 2022 https://arxiv.org/abs/2211.13810</a:t>
            </a:r>
          </a:p>
          <a:p xmlns:a="http://schemas.openxmlformats.org/drawingml/2006/main">
            <a:r>
              <a:t>Ortín et al. 2026 preprint https://arxiv.org/abs/2604.22415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Malaysian ICU change: https://github.com/MoH-Malaysia/covid19-public/commit/4e80229047d796f14c7aac82910a3377277b699f</a:t>
            </a:r>
          </a:p>
          <a:p xmlns:a="http://schemas.openxmlformats.org/drawingml/2006/main">
            <a:r>
              <a:t>UCI Abalone: https://archive.ics.uci.edu/dataset/1/abalone</a:t>
            </a:r>
          </a:p>
          <a:p xmlns:a="http://schemas.openxmlformats.org/drawingml/2006/main">
            <a:r>
              <a:t>UCI Iris: https://archive.ics.uci.edu/dataset/53/iris</a:t>
            </a:r>
          </a:p>
          <a:p xmlns:a="http://schemas.openxmlformats.org/drawingml/2006/main">
            <a:r>
              <a:t>UCI Wine Quality: https://archive.ics.uci.edu/dataset/186/wine+quality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official MoH Malaysia paired ICU CSV history. Study results: evaluation/migration-results.json, run 30 October 2026; three repetitions per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UCI datasets: https://archive.ics.uci.edu/dataset/1/abalone ; https://archive.ics.uci.edu/dataset/53/iris ; https://archive.ics.uci.edu/dataset/186/wine+quality . Study results: evaluation/migration-results.json.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papers and data links are listed in the manuscript reference section. No project codebase is cited as external literature.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89ba73a7d4d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83398f00a84a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26be41e8045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b4f63032340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dba26bc9847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c7513914f4d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AAAFC1-2486-41E2-A4CD-AF429DA36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2D390D-BC43-4D1B-8536-623AEEC283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61A06E-BC50-4A94-8ED6-B609B7914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8C50F4-C449-4482-BAC0-F80D6835C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38ECCE1-A72D-4517-BEF2-E3E656D79F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FB8678-3F4D-4DEF-B588-C3EBC9AC5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7638D4-AA59-4885-9C22-787BA23B60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5152C8D-ECF9-42DB-884B-722A7116F1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80DDAA-384A-4641-A021-49C9E7BB28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DF942C-AA70-4704-9C0D-85D307F121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bade970ce64574" /><Relationship Type="http://schemas.openxmlformats.org/officeDocument/2006/relationships/slideLayout" Target="/ppt/slideLayouts/slideLayout1.xml" Id="Ra85ecaf89efb44c3" /><Relationship Type="http://schemas.openxmlformats.org/officeDocument/2006/relationships/slideLayout" Target="/ppt/slideLayouts/slideLayout2.xml" Id="R60eadb96d5af4bca" /><Relationship Type="http://schemas.openxmlformats.org/officeDocument/2006/relationships/slideLayout" Target="/ppt/slideLayouts/slideLayout3.xml" Id="Rb78f070c44784d6d" /><Relationship Type="http://schemas.openxmlformats.org/officeDocument/2006/relationships/slideLayout" Target="/ppt/slideLayouts/slideLayout4.xml" Id="Rb3f611fc9e4443c4" /><Relationship Type="http://schemas.openxmlformats.org/officeDocument/2006/relationships/slideLayout" Target="/ppt/slideLayouts/slideLayout5.xml" Id="R2bbebe5b575745a1" /><Relationship Type="http://schemas.openxmlformats.org/officeDocument/2006/relationships/slideLayout" Target="/ppt/slideLayouts/slideLayout6.xml" Id="R1e80ae55a3a34b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5ecaf89efb44c3"/>
    <p:sldLayoutId xmlns:r="http://schemas.openxmlformats.org/officeDocument/2006/relationships" id="2147483650" r:id="R60eadb96d5af4bca"/>
    <p:sldLayoutId xmlns:r="http://schemas.openxmlformats.org/officeDocument/2006/relationships" id="2147483651" r:id="Rb78f070c44784d6d"/>
    <p:sldLayoutId xmlns:r="http://schemas.openxmlformats.org/officeDocument/2006/relationships" id="2147483652" r:id="Rb3f611fc9e4443c4"/>
    <p:sldLayoutId xmlns:r="http://schemas.openxmlformats.org/officeDocument/2006/relationships" id="2147483653" r:id="R2bbebe5b575745a1"/>
    <p:sldLayoutId xmlns:r="http://schemas.openxmlformats.org/officeDocument/2006/relationships" id="2147483654" r:id="R1e80ae55a3a34b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1ad605254b46bf" /><Relationship Type="http://schemas.openxmlformats.org/officeDocument/2006/relationships/notesSlide" Target="/ppt/notesSlides/notesSlide1.xml" Id="R09325e9a6faa47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26af41282e4286" /><Relationship Type="http://schemas.openxmlformats.org/officeDocument/2006/relationships/notesSlide" Target="/ppt/notesSlides/notesSlide2.xml" Id="Rc750611aeb8b49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ae5ee86cf34e42" /><Relationship Type="http://schemas.openxmlformats.org/officeDocument/2006/relationships/notesSlide" Target="/ppt/notesSlides/notesSlide3.xml" Id="Re41bd1b13e3545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9e3ac665ce4f56" /><Relationship Type="http://schemas.openxmlformats.org/officeDocument/2006/relationships/notesSlide" Target="/ppt/notesSlides/notesSlide4.xml" Id="R82cbe4c9bffc4d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8190e7edb4741" /><Relationship Type="http://schemas.openxmlformats.org/officeDocument/2006/relationships/notesSlide" Target="/ppt/notesSlides/notesSlide5.xml" Id="R0f3a9307d4a74e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6b45adf254b99" /><Relationship Type="http://schemas.openxmlformats.org/officeDocument/2006/relationships/notesSlide" Target="/ppt/notesSlides/notesSlide6.xml" Id="Rfb44bcd3cd7c42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37e71e25814b8e" /><Relationship Type="http://schemas.openxmlformats.org/officeDocument/2006/relationships/image" Target="/ppt/media/image.png" Id="R0bf8a2e2994a4bba" /><Relationship Type="http://schemas.openxmlformats.org/officeDocument/2006/relationships/image" Target="/ppt/media/image2.png" Id="Rb86ed6bee9dc4326" /><Relationship Type="http://schemas.openxmlformats.org/officeDocument/2006/relationships/notesSlide" Target="/ppt/notesSlides/notesSlide7.xml" Id="R07e27b3302494d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0428f8ebb34ca3" /><Relationship Type="http://schemas.openxmlformats.org/officeDocument/2006/relationships/image" Target="/ppt/media/image3.png" Id="Redd5b66ce61346cc" /><Relationship Type="http://schemas.openxmlformats.org/officeDocument/2006/relationships/image" Target="/ppt/media/image4.png" Id="R420fe398e8a44ec0" /><Relationship Type="http://schemas.openxmlformats.org/officeDocument/2006/relationships/notesSlide" Target="/ppt/notesSlides/notesSlide8.xml" Id="R74c4ddcde79f4e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776050fe4743f3" /><Relationship Type="http://schemas.openxmlformats.org/officeDocument/2006/relationships/image" Target="/ppt/media/image5.png" Id="R40ae78d4429a43f9" /><Relationship Type="http://schemas.openxmlformats.org/officeDocument/2006/relationships/image" Target="/ppt/media/image6.png" Id="Re4d70353ce7a4aa7" /><Relationship Type="http://schemas.openxmlformats.org/officeDocument/2006/relationships/notesSlide" Target="/ppt/notesSlides/notesSlide9.xml" Id="Ra701a5b47c3040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0df7a5a1d44020" /><Relationship Type="http://schemas.openxmlformats.org/officeDocument/2006/relationships/image" Target="/ppt/media/image7.png" Id="Ra9436dfc743a4747" /><Relationship Type="http://schemas.openxmlformats.org/officeDocument/2006/relationships/image" Target="/ppt/media/image8.png" Id="Re967329c6f8c4dac" /><Relationship Type="http://schemas.openxmlformats.org/officeDocument/2006/relationships/notesSlide" Target="/ppt/notesSlides/notesSlide10.xml" Id="Rf0305f595dc146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70e3e5aa745f4" /><Relationship Type="http://schemas.openxmlformats.org/officeDocument/2006/relationships/notesSlide" Target="/ppt/notesSlides/notesSlide11.xml" Id="R05ccdd90dfde46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bdf12c9db4b4f" /><Relationship Type="http://schemas.openxmlformats.org/officeDocument/2006/relationships/notesSlide" Target="/ppt/notesSlides/notesSlide12.xml" Id="R3d894636663a41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57c710db3a4b94" /><Relationship Type="http://schemas.openxmlformats.org/officeDocument/2006/relationships/image" Target="/ppt/media/image9.png" Id="R860cf4da130b4fcd" /><Relationship Type="http://schemas.openxmlformats.org/officeDocument/2006/relationships/notesSlide" Target="/ppt/notesSlides/notesSlide13.xml" Id="R18843ac3e4b842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07fce88476468d" /><Relationship Type="http://schemas.openxmlformats.org/officeDocument/2006/relationships/notesSlide" Target="/ppt/notesSlides/notesSlide14.xml" Id="R82d784324b294f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f699d18cd04821" /><Relationship Type="http://schemas.openxmlformats.org/officeDocument/2006/relationships/notesSlide" Target="/ppt/notesSlides/notesSlide15.xml" Id="R4be993a0df7c44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b7984691c34e67" /><Relationship Type="http://schemas.openxmlformats.org/officeDocument/2006/relationships/notesSlide" Target="/ppt/notesSlides/notesSlide16.xml" Id="Rb1b18f2a845e40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AEB80-DC3F-4E3F-9E80-45E951E8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14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B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6BF9B-0B55-4E58-B8F0-64D509A0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"/>
            <a:ext cx="990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9B260-AC71-4A42-B503-2DA2854F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9715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defPPr>
            <a:lvl1pPr>
              <a:defRPr sz="23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1pPr>
            <a:lvl2pPr>
              <a:defRPr sz="23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2pPr>
            <a:lvl3pPr>
              <a:defRPr sz="23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3pPr>
            <a:lvl4pPr>
              <a:defRPr sz="23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4pPr>
            <a:lvl5pPr>
              <a:defRPr sz="23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5pPr>
            <a:lvl6pPr>
              <a:defRPr sz="23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6pPr>
            <a:lvl7pPr>
              <a:defRPr sz="23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7pPr>
            <a:lvl8pPr>
              <a:defRPr sz="23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8pPr>
            <a:lvl9pPr>
              <a:defRPr sz="23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C7EBE6"/>
                </a:solidFill>
                <a:latin typeface="Aptos"/>
                <a:ea typeface="Aptos"/>
                <a:cs typeface="Aptos"/>
              </a:rPr>
              <a:t>Preserving row-pipeline behavior across lossy schema migration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45F0E-F159-4561-B749-469442DE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1B6AC-1C63-45B4-82CA-0B4820CB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 Mohita.C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BCFEE-3EA2-4FC4-8CBD-451D2E34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657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7EBE6"/>
                </a:solidFill>
                <a:latin typeface="Aptos"/>
                <a:ea typeface="Aptos"/>
                <a:cs typeface="Aptos"/>
              </a:rPr>
              <a:t>Registration No. 24BCE2057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71F69-817B-47E5-B46B-5A44CC8D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8572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https://github.com/Sai181006/VeriFlow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5D87C-0341-4404-BCE4-83D8B84F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904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7EB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EBE6"/>
                </a:solidFill>
                <a:latin typeface="Aptos"/>
                <a:ea typeface="Aptos"/>
                <a:cs typeface="Aptos"/>
              </a:rPr>
              <a:t>Research prototype  ·  30 October 2026</a:t>
            </a:r>
          </a:p>
        </p:txBody>
      </p:sp>
    </p:spTree>
    <p:extLst>
      <p:ext uri="{BB962C8B-B14F-4D97-AF65-F5344CB8AC3E}">
        <p14:creationId xmlns:p14="http://schemas.microsoft.com/office/powerpoint/2010/main" val="2072035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14056E-2AEB-4B12-96D7-2376DCAC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8ECA3-7FFA-4325-B7D5-89AAF0CB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79DAE-890E-456B-8444-97C2B11C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A schema can lose data without changing a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B7B2D-D2E7-4FED-BED9-35E1CA8E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52CBB-B90F-4759-81EC-8B0EB841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676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VERIFLOW  ·  RESEARCH &amp; COMPILER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8A58E-6AD2-42F4-82F3-67A01DDD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7EB4C-9E0B-4EB0-B865-DBD33888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D2B3C"/>
                </a:solidFill>
                <a:latin typeface="Aptos"/>
                <a:ea typeface="Aptos"/>
                <a:cs typeface="Aptos"/>
              </a:rPr>
              <a:t>Record reconstruction and pipeline behavior are different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937D2-0E04-4D56-B98F-425BAC3B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B7FB2-9A00-4CD9-89AE-EE92EBB8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6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11F77-E736-4B86-928D-90FEE59A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Old field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D25F6-F479-402D-BC3B-0152232B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57525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score = 5.7 (decimal)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1FFD4-5297-4FF3-AC97-F1F3A7D1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52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AF5C7-228F-4351-9D40-56F70E18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146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A51B3-86BF-447E-B88E-B8231D04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146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657D9-6678-4938-B115-8D665FF9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Lossy migration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F6CB7-01C4-4847-BB5A-41CEE18B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score = 5 (integer)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EC894-829E-43D2-B775-142BABD7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84731-9C1E-4F9C-9A08-56C2EDD9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C0954-9D20-4116-B8CD-1E1F66EE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E624D-AD5E-416B-AF00-BD67AC74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86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Pipeline observation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4EFD5-324D-4700-BEEC-1B21B858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5752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Does this row pass the filter?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12CA35-F417-4781-8CC5-0B001339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4933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5175AB-F9E4-49A5-89B6-D627D592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6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B53C7A-3551-4CB5-807A-4698BACE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Potentially changed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7DB81D-AF90-4033-ACA8-E25A1BDE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455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score &gt; 5: true before, false after.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1883F6-BA96-4F5A-B57F-D7DDFBEC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95800"/>
            <a:ext cx="554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1CAADA-2EA6-4B82-9A00-180E6C09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958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65B17B-8498-4253-AB17-ABD57483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Provably unchanged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7C743B-89BC-461F-B2DD-8DE4F64E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score &gt;= 5: true before and after.</a:t>
            </a:r>
          </a:p>
        </p:txBody>
      </p:sp>
    </p:spTree>
    <p:extLst>
      <p:ext uri="{BB962C8B-B14F-4D97-AF65-F5344CB8AC3E}">
        <p14:creationId xmlns:p14="http://schemas.microsoft.com/office/powerpoint/2010/main" val="15826265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94461-EF01-45EE-A14F-7D60BA06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E6208-47E4-4D3C-8A47-4AD72E5C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RELATED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78B39-A461-4ABC-A242-2464AFCB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Recent work frames the gap, but addresses different tasks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C20B3-5FE2-454C-A262-4CB78509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22847-5304-46B7-BA99-D07ECDA5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676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VERIFLOW  ·  RESEARCH &amp; COMPILER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8B499-BD5C-4CD8-8570-31850D00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810A2-1C16-4A81-813A-71D41D78898F}"/>
              </a:ext>
            </a:extLst>
          </p:cNvPr>
          <p:cNvGraphicFramePr/>
          <p:nvPr/>
        </p:nvGraphicFramePr>
        <p:xfrm>
          <a:off xmlns:a="http://schemas.openxmlformats.org/drawingml/2006/main" x="571500" y="1466850"/>
          <a:ext xmlns:a="http://schemas.openxmlformats.org/drawingml/2006/main" cx="11049000" cy="3667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52625"/>
                <a:gridCol w="4324350"/>
                <a:gridCol w="4772025"/>
              </a:tblGrid>
              <a:tr h="7334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Study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it studies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Question VeriFlow tests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Awiti et al. (2025)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ETL operator repair after source changes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Can a typed row observation be preserved?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Kramer et al. (2025)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Robust, adaptive cleaning pipelines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Can guards be executed per migrated row?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Auge &amp; Heuer (2022)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Provenance-assisted inversion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Which old cells does this pipeline need?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Ortín et al. (2026)*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Broader query equivalence after migration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What does a smaller executable row contract buy?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E486D-B91C-4A88-A8BF-1531796A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Gap addressed here: a per-row executable preservation decision for a typed pipeline. * 2026 preprint.</a:t>
            </a:r>
          </a:p>
        </p:txBody>
      </p:sp>
    </p:spTree>
    <p:extLst>
      <p:ext uri="{BB962C8B-B14F-4D97-AF65-F5344CB8AC3E}">
        <p14:creationId xmlns:p14="http://schemas.microsoft.com/office/powerpoint/2010/main" val="7367145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69D31A-DFAE-4024-B84B-37808BE1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46DFD-94E8-454E-876B-B0C05F8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SYSTEM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DC5B9-99F5-4191-AD37-22C8BA8E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From explicit mapping to an executable preservation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073AB-E337-4C6C-8350-DA7EE195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2BE7A-7522-4B34-82F0-5A503148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676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VERIFLOW  ·  RESEARCH &amp; COMPILER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CBAD2-F7F0-411C-A17C-017CAC48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22070-BBA5-4AA2-B8B2-B45E1F3C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333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A73EE-C82A-4814-96F9-10C01B77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18358-5947-4F67-9F4B-1F1CE93F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2882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Old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6DBD3-6FBD-4802-9074-3D2FE85C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20478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Typed .vfl source; operations and select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80E6A-5224-45BD-A3FA-C6C9F8C6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1935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7DE1B-EC7A-461D-889F-BAE0E430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57375"/>
            <a:ext cx="2333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F95D2-A8D4-4C23-96F8-DEC7FA1F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57375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2FB6D-217E-459D-A95D-200DBD4D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2882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Impact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39B68-15A5-4C8D-9FC0-BF5C6107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00300"/>
            <a:ext cx="20478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Dependencies, exact rules, guards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309CD-BF65-49E5-924C-2ABEE828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471F5-B97B-4E5F-B396-42682520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57375"/>
            <a:ext cx="2333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C4282D-8260-4D29-9DBE-2CFA2C4A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57375"/>
            <a:ext cx="2333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6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6EE9E-7F97-49AB-B49D-7A55CA4F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2882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Evolved program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73E4F-D933-4149-B352-BE977457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00300"/>
            <a:ext cx="20478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New cells → old VM register bindings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42086-E6B5-4DA6-8B97-66507C06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1935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EF815-66DC-4CEC-96C5-D09766BB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286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BA6461-2B2C-44BC-A1EC-A28B0F30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30842-5EEE-4DB9-9FFE-21B1E58B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288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Migration + replay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03D42-C238-46E6-8FD6-3BBAC861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00300"/>
            <a:ext cx="20002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Admit, retain or reject; compare observations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350F67-22C9-4F57-99C3-0828BF92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3B1408-7B44-48B2-945E-94E18D60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9102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Preservation contract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B14556-0439-4271-BCAB-DF6D23D4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Old execution  =  evolved execution from new row + certified guards + retained old cells</a:t>
            </a:r>
          </a:p>
        </p:txBody>
      </p:sp>
    </p:spTree>
    <p:extLst>
      <p:ext uri="{BB962C8B-B14F-4D97-AF65-F5344CB8AC3E}">
        <p14:creationId xmlns:p14="http://schemas.microsoft.com/office/powerpoint/2010/main" val="4018346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7E49DA-7120-42B8-AEC6-38812D85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373C0-E16A-47B3-826C-7F91F207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COUNCIL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6AF8E-163C-43D4-BD31-027BDAA5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One bounded extension: terminal-aware projection retention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641E2-D9EF-408A-B592-2371E6A8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F15AE-5F51-469E-91A1-9CAA0036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676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VERIFLOW  ·  RESEARCH &amp; COMPILER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BD875-BF49-4B56-AEC0-F2906B35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5A166-9421-4926-9502-0E683F4E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100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D2B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2B3C"/>
                </a:solidFill>
                <a:latin typeface="Aptos"/>
                <a:ea typeface="Aptos"/>
                <a:cs typeface="Aptos"/>
              </a:rPr>
              <a:t>If a row stops before select, a field used only by select cannot affect its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6FFC1-328F-4FCF-86E2-BEFA8527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3238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C1E53-5F41-4111-854D-AADDA883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82E7B-7862-4610-9E48-DED86600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955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1 · Execute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ADAA6-A36F-4B16-9275-E10C30BF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670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let / require / keep; bind inputs conservatively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EA8F3-CFC9-49EA-B473-40A9B8AB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BEB49-48F1-4845-919A-B360285C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24125"/>
            <a:ext cx="3238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78D54-18D8-4860-A2FA-AD82461A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24125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0F01E-B0B8-492B-8CF1-FF80F435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955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2 · Observe terminal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0D8C9-5454-483A-B02B-BEE8FF9C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670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Filtered, rejected, error, or emitted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24109-0704-4585-92BD-A514E7AF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C5F8F-CF5F-41FB-A176-BCC39A76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24125"/>
            <a:ext cx="3238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81276F-6BF0-41DF-AE44-BFAF496C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24125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CE564-E11E-4A19-A1E1-C9573743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955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3 · Retain if reached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23847-32A3-4351-9BD6-1C8AAE25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670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Bind old select-only cells for emitted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71F5AC-C201-4DCF-B0B0-34D30949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10896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C4ECE-9097-4B4E-AE37-5587FEFF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6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3E8A63-15F6-4E1C-91B4-DE3F467A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72025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Real ICU recovered pipeline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E78137-B54C-482D-B320-CB095583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53025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4,025 emitted rows retain vent_sari; 3,290 filtered rows retain no old cell.</a:t>
            </a:r>
          </a:p>
        </p:txBody>
      </p:sp>
    </p:spTree>
    <p:extLst>
      <p:ext uri="{BB962C8B-B14F-4D97-AF65-F5344CB8AC3E}">
        <p14:creationId xmlns:p14="http://schemas.microsoft.com/office/powerpoint/2010/main" val="12824445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3AEDB-46AB-4210-9745-D7CAF8C8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DEF8E-F0CD-4E3E-827B-867BD238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COMPILER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E247E-FBB9-4302-83C1-74F830DC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Three compiler phases, one replayable execution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F77D2-8F75-416D-A2E9-F2014D74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BCFE9-3F32-441E-A98E-C0A535C2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676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VERIFLOW  ·  RESEARCH &amp; COMPILER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973A8-FACB-4963-9048-E09E5101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0BEF1-B180-41C9-9F49-21595BEE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3333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18B77-DC92-47E9-9821-75753D36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9B9E0-543B-452A-BF2F-83C9B27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574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Phase 1 · Front 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C29EE-A070-45BC-BE73-D92FC851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28875"/>
            <a:ext cx="3048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lexer.py → parser.py → ast.py</a:t>
            </a:r>
          </a:p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Tokens, syntax tree, source positions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DC2EF-03A5-4E39-819E-EB498E8C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336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27B99-42D9-4258-AF42-574AEE9B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3333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F996E-8BB7-4494-8518-49964C60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6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B340D-8D6C-466C-B2A3-6F8BB76B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Phase 2 · Middle 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22E76-FFB9-4B1A-B578-C497BF41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3048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ir.py → optimizer.py</a:t>
            </a:r>
          </a:p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Intermediate operations; safe rewrites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1D4A1-A26C-4029-8981-3082AF8C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336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8CB2C0-EF02-4F66-972E-FB8395C8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333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5B32D-ADF3-4DF6-BD64-D2028F94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A1B077-D40C-40A0-87BD-1CF8EFAA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574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Phase 3 · Back 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855B0-4E07-41CA-A098-88488F7B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28875"/>
            <a:ext cx="3048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vm.py / runtime.py</a:t>
            </a:r>
          </a:p>
          <a:p xmlns:a="http://schemas.openxmlformats.org/drawingml/2006/main">
            <a:pPr>
              <a:defRPr sz="112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Generated VM instructions and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354E4F-964D-4EF3-A50F-806F2C1A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53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defPPr>
            <a:lvl1pPr>
              <a:defRPr sz="165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1pPr>
            <a:lvl2pPr>
              <a:defRPr sz="165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2pPr>
            <a:lvl3pPr>
              <a:defRPr sz="165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3pPr>
            <a:lvl4pPr>
              <a:defRPr sz="165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4pPr>
            <a:lvl5pPr>
              <a:defRPr sz="165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5pPr>
            <a:lvl6pPr>
              <a:defRPr sz="165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6pPr>
            <a:lvl7pPr>
              <a:defRPr sz="165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7pPr>
            <a:lvl8pPr>
              <a:defRPr sz="165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8pPr>
            <a:lvl9pPr>
              <a:defRPr sz="165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2B3C"/>
                </a:solidFill>
                <a:latin typeface="Aptos"/>
                <a:ea typeface="Aptos"/>
                <a:cs typeface="Aptos"/>
              </a:rPr>
              <a:t>Evolution path: impact.py + evolved.py compile new-schema bindings; migration.py writes and replays the persisted bundle.</a:t>
            </a:r>
          </a:p>
        </p:txBody>
      </p:sp>
    </p:spTree>
    <p:extLst>
      <p:ext uri="{BB962C8B-B14F-4D97-AF65-F5344CB8AC3E}">
        <p14:creationId xmlns:p14="http://schemas.microsoft.com/office/powerpoint/2010/main" val="14826334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0105E-ECB8-4203-B1E6-A86C0BF6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5E6DF-D9EF-4BCD-8D9F-A7B10876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LIVE OUTPUT · FRONT 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1281F-47A5-4FA4-A564-DED58C47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Phase 1: source text becomes tokens and a syntax tree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FC32B-758C-4D75-96AC-AF703615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71D75-DB04-489F-AB05-DFB6F96B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676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VERIFLOW  ·  RESEARCH &amp; COMPILER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5A7DD-D054-4A06-8EC4-66E6D584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05AED-6775-4DA7-BADD-028C3327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353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10D6A-F9CF-4951-809E-CA93031E29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8a2e2994a4bba"/>
          <a:stretch xmlns:a="http://schemas.openxmlformats.org/drawingml/2006/main"/>
        </p:blipFill>
        <p:spPr>
          <a:xfrm xmlns:a="http://schemas.openxmlformats.org/drawingml/2006/main">
            <a:off x="609674" y="1581150"/>
            <a:ext cx="5200503" cy="3009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9BBD9-FC57-4C96-973E-B07DDCFD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7677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Actual lexer output: token 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65A34-9B60-48B7-9261-CF47ECFE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5353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DB53E-B5B0-4AC5-B361-04DEA9B4C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ed6bee9dc4326"/>
          <a:stretch xmlns:a="http://schemas.openxmlformats.org/drawingml/2006/main"/>
        </p:blipFill>
        <p:spPr>
          <a:xfrm xmlns:a="http://schemas.openxmlformats.org/drawingml/2006/main">
            <a:off x="6381824" y="1581150"/>
            <a:ext cx="5200503" cy="3009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C6E31-E573-443D-8165-B11F2374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7677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Actual parser output: 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8D304-C46F-4FAC-ACE3-BE546FA4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286375"/>
            <a:ext cx="1100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2B3C"/>
                </a:solidFill>
                <a:latin typeface="Aptos"/>
                <a:ea typeface="Aptos"/>
                <a:cs typeface="Aptos"/>
              </a:rPr>
              <a:t>Lexer recognizes keywords and literals; parser checks structure before semantic validation.</a:t>
            </a:r>
          </a:p>
        </p:txBody>
      </p:sp>
    </p:spTree>
    <p:extLst>
      <p:ext uri="{BB962C8B-B14F-4D97-AF65-F5344CB8AC3E}">
        <p14:creationId xmlns:p14="http://schemas.microsoft.com/office/powerpoint/2010/main" val="11407169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F3925-C320-40C2-B0FA-2667BD4B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7E973-DE61-43E1-8F1F-E7B5DBF5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LIVE OUTPUT · MIDDLE 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83220-B1E0-4C10-B164-2A11E084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Phase 2: checks and lowers the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F6BE1-A15A-4A11-99BE-0F6832F7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23828-63B4-4436-A59C-905E4D14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676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VERIFLOW  ·  RESEARCH &amp; COMPILER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0F75F-6D40-4A5C-B0FC-17505405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0E472-F40D-44C8-859D-7B0ED775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353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A519C-F77D-4619-A94F-C5BD5BE063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5b66ce61346cc"/>
          <a:stretch xmlns:a="http://schemas.openxmlformats.org/drawingml/2006/main"/>
        </p:blipFill>
        <p:spPr>
          <a:xfrm xmlns:a="http://schemas.openxmlformats.org/drawingml/2006/main">
            <a:off x="609674" y="1581150"/>
            <a:ext cx="5200503" cy="3009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4AA2A-C666-44A6-93A3-E42FDD29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7677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Actual semantic analysis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CD01C-3B9D-45F4-B098-98AC1ECA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5353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DF55B-46C3-4C9D-8C74-30A180B5C6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fe398e8a44ec0"/>
          <a:stretch xmlns:a="http://schemas.openxmlformats.org/drawingml/2006/main"/>
        </p:blipFill>
        <p:spPr>
          <a:xfrm xmlns:a="http://schemas.openxmlformats.org/drawingml/2006/main">
            <a:off x="6381824" y="1581150"/>
            <a:ext cx="5200503" cy="3009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9AB4B-47B4-4A3A-8F00-4A485EAF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7677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Actual intermediate representation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6731A-1655-45E9-B134-6EE1767F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286375"/>
            <a:ext cx="1100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2B3C"/>
                </a:solidFill>
                <a:latin typeface="Aptos"/>
                <a:ea typeface="Aptos"/>
                <a:cs typeface="Aptos"/>
              </a:rPr>
              <a:t>Type checking rejects invalid field use; lowering turns operations into explicit IR instructions.</a:t>
            </a:r>
          </a:p>
        </p:txBody>
      </p:sp>
    </p:spTree>
    <p:extLst>
      <p:ext uri="{BB962C8B-B14F-4D97-AF65-F5344CB8AC3E}">
        <p14:creationId xmlns:p14="http://schemas.microsoft.com/office/powerpoint/2010/main" val="4243202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0C2BE-DE98-43B2-8D92-73F8BA8D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9EF03-8B21-408F-BA70-4FCF1F2D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OPTIMIZATION 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B9F9D-BF73-4742-B9D5-36908C2C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The optimizer simplifies IR before code generation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DEDF1-EEF3-4B88-A7A1-F1187BC2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F4090-6DFE-4D4A-A24A-EE970306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676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VERIFLOW  ·  RESEARCH &amp; COMPILER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A0418-C5B5-4D93-9B8B-488BA7A7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1EC5E-22B7-42DB-AB77-D5E8CFF3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353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B93AE-C5EB-41F2-8521-1B9A52B4D3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e78d4429a43f9"/>
          <a:stretch xmlns:a="http://schemas.openxmlformats.org/drawingml/2006/main"/>
        </p:blipFill>
        <p:spPr>
          <a:xfrm xmlns:a="http://schemas.openxmlformats.org/drawingml/2006/main">
            <a:off x="609674" y="1581150"/>
            <a:ext cx="5200503" cy="3009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714CE-4DC8-4410-89FF-3A9A37E4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7677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Before: unoptimized 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01B9B-6567-4252-B74A-D2658192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5353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6A1FF-F98E-439A-9260-F2FE5B04FF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70353ce7a4aa7"/>
          <a:stretch xmlns:a="http://schemas.openxmlformats.org/drawingml/2006/main"/>
        </p:blipFill>
        <p:spPr>
          <a:xfrm xmlns:a="http://schemas.openxmlformats.org/drawingml/2006/main">
            <a:off x="6381824" y="1581150"/>
            <a:ext cx="5200503" cy="3009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8316B-1B3E-48F2-819E-17BA5CDF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7677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After: optimized 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7268D-ADBD-4692-B988-9FF6AA10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768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Demo: 21 instructions → 13 (8 removed, 38.1% fewer).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CBE76-AEA6-4C21-A66E-6506FD54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3402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This is instruction-count evidence for the sample, not a general runtime speedup claim.</a:t>
            </a:r>
          </a:p>
        </p:txBody>
      </p:sp>
    </p:spTree>
    <p:extLst>
      <p:ext uri="{BB962C8B-B14F-4D97-AF65-F5344CB8AC3E}">
        <p14:creationId xmlns:p14="http://schemas.microsoft.com/office/powerpoint/2010/main" val="319790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3FCD4-3F72-4F3C-8CE2-E99BB517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C6A05-44D9-4986-B30B-C9670D87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LIVE OUTPUT · BACK 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651B6-8A91-405B-BC2C-2DE3698F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Phase 3: IR becomes VM instructions, then runs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71EC4-0BA1-4017-A963-DE1C1BC5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A42A1-6CC8-4C74-A40C-FBBBC45A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676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VERIFLOW  ·  RESEARCH &amp; COMPILER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7DD8A-983D-4CC3-B30C-C14422F2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E638E-AE7A-4F50-9732-F0646EB7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353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5991E-64FB-4D19-B54C-49F19EE884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36dfc743a4747"/>
          <a:stretch xmlns:a="http://schemas.openxmlformats.org/drawingml/2006/main"/>
        </p:blipFill>
        <p:spPr>
          <a:xfrm xmlns:a="http://schemas.openxmlformats.org/drawingml/2006/main">
            <a:off x="609674" y="1581150"/>
            <a:ext cx="5200503" cy="3009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85C45-D81F-4D16-8FAA-154E3B99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7677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Generated VM bytecode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FA2CC-3246-43F9-ABB8-A1F40C5C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5353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F249E-67AA-4EDC-A3C2-AEB300D596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7329c6f8c4dac"/>
          <a:stretch xmlns:a="http://schemas.openxmlformats.org/drawingml/2006/main"/>
        </p:blipFill>
        <p:spPr>
          <a:xfrm xmlns:a="http://schemas.openxmlformats.org/drawingml/2006/main">
            <a:off x="6381824" y="1581150"/>
            <a:ext cx="5200503" cy="3009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2767A-CA11-41FC-812C-4980CD10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7677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Execution output from the generated program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4CDFE-4499-4799-9773-004D44AE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286375"/>
            <a:ext cx="1100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2B3C"/>
                </a:solidFill>
                <a:latin typeface="Aptos"/>
                <a:ea typeface="Aptos"/>
                <a:cs typeface="Aptos"/>
              </a:rPr>
              <a:t>The generated artifact is executable VM bytecode; the VM produces the row observations used in migration checks.</a:t>
            </a:r>
          </a:p>
        </p:txBody>
      </p:sp>
    </p:spTree>
    <p:extLst>
      <p:ext uri="{BB962C8B-B14F-4D97-AF65-F5344CB8AC3E}">
        <p14:creationId xmlns:p14="http://schemas.microsoft.com/office/powerpoint/2010/main" val="3245317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33C2A-E2F2-4E5A-BE73-4D1B9487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09E22-FDB5-4E56-9AFA-6B4DE276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EVALUATION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D1521-BE39-4A9E-89B9-392ABD96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One real paired history plus controlled synthetic stress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84F0B-C0BE-4983-83C1-30B0DBB5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925B6-DF4C-49DB-A712-62337378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676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VERIFLOW  ·  RESEARCH &amp; COMPILER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7C78F-877F-4F53-AC3F-821A421D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6D989-B0DE-4237-8581-4600E2ABEF30}"/>
              </a:ext>
            </a:extLst>
          </p:cNvPr>
          <p:cNvGraphicFramePr/>
          <p:nvPr/>
        </p:nvGraphicFramePr>
        <p:xfrm>
          <a:off xmlns:a="http://schemas.openxmlformats.org/drawingml/2006/main" x="571500" y="1543050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6000"/>
                <a:gridCol w="1428750"/>
                <a:gridCol w="3714750"/>
                <a:gridCol w="3619500"/>
              </a:tblGrid>
              <a:tr h="6858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Rows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Schema change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 status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Malaysia ICU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7,315 paired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Official drop + 4 renames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Actual before/after CSV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UCI Abalone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4,177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Injected numeric conversion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Controlled stress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UCI Iris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150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Injected numeric conversion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Controlled stress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UCI Red Wine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1,599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Injected numeric conversion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Controlled stress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2754E-8DAD-4B43-BE5B-B17C7CCD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The 10 injected cases reuse 5,926 distinct UCI rows; 17,928 case-rows are repeated workloads.</a:t>
            </a:r>
          </a:p>
        </p:txBody>
      </p:sp>
    </p:spTree>
    <p:extLst>
      <p:ext uri="{BB962C8B-B14F-4D97-AF65-F5344CB8AC3E}">
        <p14:creationId xmlns:p14="http://schemas.microsoft.com/office/powerpoint/2010/main" val="16476970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ED0B4-3A58-4B2A-A905-FC95B8CF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DB1A5-7AB5-4B82-AFC2-FC23E036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MEASURED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E1CB2-C702-4DE8-8C81-5EC879D7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Real ICU history: sparse replay preserves all accepted rows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A806F-DF96-40E4-9B4F-A644F4D0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30859-7953-4D30-97D3-8DEFD93A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676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VERIFLOW  ·  RESEARCH &amp; COMPILER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0C0BD-234F-4364-BCF4-A102B4E4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D4450-0D39-4158-AEDD-45C0E00BF826}"/>
              </a:ext>
            </a:extLst>
          </p:cNvPr>
          <p:cNvGraphicFramePr/>
          <p:nvPr/>
        </p:nvGraphicFramePr>
        <p:xfrm>
          <a:off xmlns:a="http://schemas.openxmlformats.org/drawingml/2006/main" x="571500" y="1504950"/>
          <a:ext xmlns:a="http://schemas.openxmlformats.org/drawingml/2006/main" cx="11049000" cy="2781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38500"/>
                <a:gridCol w="1619250"/>
                <a:gridCol w="1714500"/>
                <a:gridCol w="2286000"/>
                <a:gridCol w="2190750"/>
              </a:tblGrid>
              <a:tr h="6953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Recovered workload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Accepted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Old cells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Sidecar bytes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Typed mismatch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Sparse (terminal-aware)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7,315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4,025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1,088,711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Full-row baseline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7,315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36,575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1,728,544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Guard-only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N/A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EC0E1-DE55-4060-8712-90B0AFD6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Retained old cells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4EBBF-9FD9-4593-9F6A-5EBE224D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Sparse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E47BD-802D-467F-9151-46A1D50E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00625"/>
            <a:ext cx="9620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005E0-DDF4-4FF1-97FD-F754D55E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00625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4,025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8F5ED-F497-4A98-8525-2875AE02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Full-row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1D082-C9C7-4362-ABC1-956CA2C9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29250"/>
            <a:ext cx="8620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6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3CF9B-BF8B-410F-954E-182B5CEE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42925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36,575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7D0B5-BB17-436D-9543-24F2B8CE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Sparse retains 89.0% fewer old cells than full-row on this workload.</a:t>
            </a:r>
          </a:p>
        </p:txBody>
      </p:sp>
    </p:spTree>
    <p:extLst>
      <p:ext uri="{BB962C8B-B14F-4D97-AF65-F5344CB8AC3E}">
        <p14:creationId xmlns:p14="http://schemas.microsoft.com/office/powerpoint/2010/main" val="4381477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B25E43-FBE8-4671-91CA-A32C6895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57E99-313F-45BB-9F4F-DCC9347C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EXECUTION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0BCCB-7269-45E4-B6D2-6FCE24E3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Persisted migration and replay produce the same typed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FB004-F95A-4227-8F05-98FB9EFC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41D1C-DA2E-4F7A-BA78-D1F97B3F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676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VERIFLOW  ·  RESEARCH &amp; COMPILER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54BB5-CFB5-43FC-926C-CA39EDD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54565-B4D4-45BA-BA80-7208B74A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848475" cy="397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51406-91CC-4389-B936-39A45CA623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cf4da130b4fcd"/>
          <a:stretch xmlns:a="http://schemas.openxmlformats.org/drawingml/2006/main"/>
        </p:blipFill>
        <p:spPr>
          <a:xfrm xmlns:a="http://schemas.openxmlformats.org/drawingml/2006/main">
            <a:off x="578258" y="1524000"/>
            <a:ext cx="6796860" cy="39338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6C6D9-ABDD-4675-970E-29078103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43550"/>
            <a:ext cx="681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Actual migrate-run and replay-migration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EF1B2-0D7D-4591-8A52-69609071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19250"/>
            <a:ext cx="37147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26C15-88F1-4996-9B26-14BD811D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19250"/>
            <a:ext cx="571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0C535-2F38-48F0-BC0E-729098E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7,315 paired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CE749-F4B9-4FCF-A005-B19B20C3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7170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Official post-change projection matches every accepted migrated row.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98F7A-A97A-43D7-BF5A-BE2D87E1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37147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A5468-D164-4073-9803-0A5966E4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571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89036-ED2C-4FC7-BCF6-9147300B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14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4,025 emitted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2F9A8F-45DB-4F28-ABDD-36C7F8B6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Dropped field retained only when final select is reached.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9D01D-6418-4F7A-8B5A-8B84D895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67250"/>
            <a:ext cx="37147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E76E3-CCCF-47B3-B679-7EF1F1BA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67250"/>
            <a:ext cx="571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6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D36CF-1433-4C91-B10E-9C5D8A53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3,290 filtered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EA09F-0CF3-4496-AF11-A3075318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1970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No old selected cell is stored for these terminal rows.</a:t>
            </a:r>
          </a:p>
        </p:txBody>
      </p:sp>
    </p:spTree>
    <p:extLst>
      <p:ext uri="{BB962C8B-B14F-4D97-AF65-F5344CB8AC3E}">
        <p14:creationId xmlns:p14="http://schemas.microsoft.com/office/powerpoint/2010/main" val="6164865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26EA8-144D-4FC5-B241-B69D757D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D6B13-655F-4AF4-8D99-CC537517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CONTROLLED STRESS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0B284-B0A6-4674-8D2B-C8187BD8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Injected pilot probes value-dependent guard admission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DFE8B-0659-489C-9C67-1CCFA5CD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96EB7-67B0-47AC-92B4-EA7FB5D2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676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VERIFLOW  ·  RESEARCH &amp; COMPILER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86467-AF38-426D-BCAA-425AC2AF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2A4E9-4349-4201-8874-E6FBBE6C9C51}"/>
              </a:ext>
            </a:extLst>
          </p:cNvPr>
          <p:cNvGraphicFramePr/>
          <p:nvPr/>
        </p:nvGraphicFramePr>
        <p:xfrm>
          <a:off xmlns:a="http://schemas.openxmlformats.org/drawingml/2006/main" x="571500" y="1504950"/>
          <a:ext xmlns:a="http://schemas.openxmlformats.org/drawingml/2006/main" cx="11049000" cy="2809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381375"/>
                <a:gridCol w="2333625"/>
                <a:gridCol w="1524000"/>
                <a:gridCol w="3810000"/>
              </a:tblGrid>
              <a:tr h="70246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Strict-threshold case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Guard-admitted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Share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Rows requiring sparse recovery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T w="9525">
                      <a:solidFill>
                        <a:srgbClr val="D7E0E5"/>
                      </a:solidFill>
                      <a:prstDash val="solid"/>
                    </a:lnT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14243A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Abalone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2,782 / 4,177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66.6%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1,395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Iris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99 / 150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66.0%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51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EAF1F3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Red Wine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5"/>
                      </a:solidFill>
                      <a:prstDash val="solid"/>
                    </a:lnL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1,214 / 1,599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75.9%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B3C"/>
                          </a:solidFill>
                          <a:latin typeface="Aptos"/>
                          <a:ea typeface="Aptos"/>
                          <a:cs typeface="Aptos"/>
                        </a:rPr>
                        <a:t>385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5"/>
                      </a:solidFill>
                      <a:prstDash val="solid"/>
                    </a:lnR>
                    <a:lnB w="9525">
                      <a:solidFill>
                        <a:srgbClr val="D7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4D47C-4340-496E-980B-DC9D9973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434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Across all 10 injected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BAF0A-FB01-4803-BFC6-9B7B4FCD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Sparse: 10,379 admitted + 7,549 recovered; 0 observed replay mismatches.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B1B9F-6E0A-4588-BD3B-F493591B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149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8 negative controls and 4 CSV parity checks passed. Results are finite observations over reused rows.</a:t>
            </a:r>
          </a:p>
        </p:txBody>
      </p:sp>
    </p:spTree>
    <p:extLst>
      <p:ext uri="{BB962C8B-B14F-4D97-AF65-F5344CB8AC3E}">
        <p14:creationId xmlns:p14="http://schemas.microsoft.com/office/powerpoint/2010/main" val="10074275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931FE-B639-4E70-B264-CA17CA43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F4740-8D99-4059-A1BB-D3238119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05E9C-1171-4F5C-A9D2-D2E0B192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What the prototype establishes—and the next research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E2879-7B67-47B6-A908-CE808F51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201FD-60D9-433D-91A5-D71CBC63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676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VERIFLOW  ·  RESEARCH &amp; COMPILER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CBDE8-D56B-4D71-AF0B-7866B92F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1BD60-7B11-45A3-8698-B4F34A11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334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F8167-16B2-4FEA-AE5E-A2F7F06A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7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BD9CF-9D20-4601-9543-F70CCCD7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Implemented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2DF84-40EE-40C4-BF01-FE2FB782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4953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Guard proof, typed conversion, evolved VM bindings, migration ledger, sparse retention, terminal-aware projection, disk replay.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97853-E451-444C-A330-DFD8FC37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334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4DDAA-F47E-40E4-91B5-E3994E7F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7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3CD9B-16FE-4A19-A283-FDBC3383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430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Measured now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BC379-BB89-41D7-9BB0-83318C03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24075"/>
            <a:ext cx="4953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One genuine paired drop/rename history; 10 injected cases; 107 tests; retained cells and byte costs across three strategies.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1249D-976E-4933-9986-59CEBA60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5334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A8FF4-B166-4E19-A184-4C316EA0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571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6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CD46C-F5A8-42D7-9E8D-F96ECB42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Scope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24BA15-EEE9-456E-AE08-5379F7D6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Well-typed old rows at migration time; row-wise operations. One real event and researcher-authored pipelines.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94236-5EDC-498D-BCB4-8C8F51C5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5334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AB280-E600-4B59-8800-62C6FEB6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571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BAC85D-55D4-49F5-AB55-ECAC7F24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1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Next useful study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38B4D3-87E1-4A54-B5AF-5A576189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958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0647A"/>
                </a:solidFill>
                <a:latin typeface="Aptos"/>
                <a:ea typeface="Aptos"/>
                <a:cs typeface="Aptos"/>
              </a:rPr>
              <a:t>Add a second independent real lossy history and a directly comparable system baseline before broadening the language.</a:t>
            </a:r>
          </a:p>
        </p:txBody>
      </p:sp>
    </p:spTree>
    <p:extLst>
      <p:ext uri="{BB962C8B-B14F-4D97-AF65-F5344CB8AC3E}">
        <p14:creationId xmlns:p14="http://schemas.microsoft.com/office/powerpoint/2010/main" val="17703474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BF5889-F913-4698-B9C4-F2293444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4E6E4-6EE5-43B6-B700-5F38377E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47F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F85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B3ED2-4D91-4505-83E4-E045E235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43A"/>
                </a:solidFill>
                <a:latin typeface="Aptos"/>
                <a:ea typeface="Aptos"/>
                <a:cs typeface="Aptos"/>
              </a:rPr>
              <a:t>References and primary data documentation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96FB1-32EF-4570-8B14-3989A7EB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F78E6-2F7F-486B-9CA7-4CDE97D6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676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VERIFLOW  ·  RESEARCH &amp; COMPILER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4ED1D-97ED-4F79-B17B-A3B187A3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66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defPPr>
            <a:lvl1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1pPr>
            <a:lvl2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2pPr>
            <a:lvl3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3pPr>
            <a:lvl4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4pPr>
            <a:lvl5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5pPr>
            <a:lvl6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6pPr>
            <a:lvl7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7pPr>
            <a:lvl8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8pPr>
            <a:lvl9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06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0647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02BF9-FAE1-48BE-AA9C-1400ED9F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762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D3872-5A1A-480C-830D-F9B84BB5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00175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B3C"/>
                </a:solidFill>
                <a:latin typeface="Aptos"/>
                <a:ea typeface="Aptos"/>
                <a:cs typeface="Aptos"/>
              </a:rPr>
              <a:t>Awiti, Wrembel &amp; Zimányi (2025), Repairing ETL Processes — reference-global.com/article/10.2478/fcds-2025-0006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CA05B-F069-4B79-8ED4-67271A4F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90725"/>
            <a:ext cx="762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B87C2-1F82-4F62-8333-AB55265B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B3C"/>
                </a:solidFill>
                <a:latin typeface="Aptos"/>
                <a:ea typeface="Aptos"/>
                <a:cs typeface="Aptos"/>
              </a:rPr>
              <a:t>Kramer, Restat &amp; Störl (2025), Evolving Gracefully — vldb.org/2025/Workshops/VLDB-Workshops-2025/QDB/QDB25_4.pdf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72BFF-4C0F-4CB6-8F59-BF000CA3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43175"/>
            <a:ext cx="762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247D9-4BE8-4C37-8763-38588366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05075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B3C"/>
                </a:solidFill>
                <a:latin typeface="Aptos"/>
                <a:ea typeface="Aptos"/>
                <a:cs typeface="Aptos"/>
              </a:rPr>
              <a:t>Auge &amp; Heuer (2022), Provenance-assisted schema evolution — arxiv.org/abs/2211.13810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1D8B7-E50D-4CAC-8C75-38F84B20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762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6704A-BE20-4913-95F9-94181E11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B3C"/>
                </a:solidFill>
                <a:latin typeface="Aptos"/>
                <a:ea typeface="Aptos"/>
                <a:cs typeface="Aptos"/>
              </a:rPr>
              <a:t>Ortín, Hoyos &amp; García-Molina (2026 preprint), U-Schema migration — arxiv.org/abs/2604.22415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50EB3-004B-4B78-B842-88018557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48075"/>
            <a:ext cx="762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E815A-ED25-4835-9A97-DCDB766C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09975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B3C"/>
                </a:solidFill>
                <a:latin typeface="Aptos"/>
                <a:ea typeface="Aptos"/>
                <a:cs typeface="Aptos"/>
              </a:rPr>
              <a:t>Vassiliadis et al. (2023), schema and source histories — openproceedings.org/2023/conf/edbt/paper-160.pdf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7AEF1-BB1B-4A3E-A396-EC395A27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00525"/>
            <a:ext cx="762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F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FDCFD-2058-4F38-9794-B038DDAA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62425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B3C"/>
                </a:solidFill>
                <a:latin typeface="Aptos"/>
                <a:ea typeface="Aptos"/>
                <a:cs typeface="Aptos"/>
              </a:rPr>
              <a:t>EvoSchema (2025), text-to-SQL schema evolution — vldb.org/pvldb/vol18/p3655-zhang.pdf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5AA66-8761-4067-8685-D1B76342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762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6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43B29-2736-4C19-A75E-3EC09D5F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14875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B3C"/>
                </a:solidFill>
                <a:latin typeface="Aptos"/>
                <a:ea typeface="Aptos"/>
                <a:cs typeface="Aptos"/>
              </a:rPr>
              <a:t>Malaysia Ministry of Health, ICU history (2021) — github.com/MoH-Malaysia/covid19-public/commit/4e80229047d796f14c7aac82910a3377277b699f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0498D-68B1-4FBB-B42E-25738055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05425"/>
            <a:ext cx="762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6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E7C33-D6DB-42A9-9209-FE970E94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67325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D2B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B3C"/>
                </a:solidFill>
                <a:latin typeface="Aptos"/>
                <a:ea typeface="Aptos"/>
                <a:cs typeface="Aptos"/>
              </a:rPr>
              <a:t>UCI Machine Learning Repository: Abalone, Iris, Wine Quality — archive.ics.uci.edu</a:t>
            </a:r>
          </a:p>
        </p:txBody>
      </p:sp>
    </p:spTree>
    <p:extLst>
      <p:ext uri="{BB962C8B-B14F-4D97-AF65-F5344CB8AC3E}">
        <p14:creationId xmlns:p14="http://schemas.microsoft.com/office/powerpoint/2010/main" val="14330280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2026-10-29T21:18:49.3940000Z</dcterms:created>
  <dcterms:modified xsi:type="dcterms:W3CDTF">2026-10-29T21:18:49.3940000Z</dcterms:modified>
</coreProperties>
</file>