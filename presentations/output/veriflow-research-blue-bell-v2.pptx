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9115d8c42b4992" /><Relationship Type="http://schemas.openxmlformats.org/officeDocument/2006/relationships/extended-properties" Target="/docProps/app.xml" Id="Rcd5a3e573b814396" /><Relationship Type="http://schemas.openxmlformats.org/officeDocument/2006/relationships/officeDocument" Target="/ppt/presentation.xml" Id="R5a1f5c0046544fff" /></Relationships>
</file>

<file path=ppt/presentation.xml><?xml version="1.0" encoding="utf-8"?>
<p:presentation xmlns:p="http://schemas.openxmlformats.org/presentationml/2006/main">
  <p:sldMasterIdLst>
    <p:sldMasterId xmlns:r="http://schemas.openxmlformats.org/officeDocument/2006/relationships" id="2147483648" r:id="R585a0e25dd364b4c"/>
  </p:sldMasterIdLst>
  <p:notesMasterIdLst>
    <p:notesMasterId xmlns:r="http://schemas.openxmlformats.org/officeDocument/2006/relationships" r:id="R4a58de8532184d58"/>
  </p:notesMasterIdLst>
  <p:sldIdLst>
    <p:sldId xmlns:r="http://schemas.openxmlformats.org/officeDocument/2006/relationships" id="256" r:id="R3253c437690e4739"/>
    <p:sldId xmlns:r="http://schemas.openxmlformats.org/officeDocument/2006/relationships" id="257" r:id="R4036f759179b4999"/>
    <p:sldId xmlns:r="http://schemas.openxmlformats.org/officeDocument/2006/relationships" id="258" r:id="Rb736504805004e9f"/>
    <p:sldId xmlns:r="http://schemas.openxmlformats.org/officeDocument/2006/relationships" id="259" r:id="Rd0cf4a554c524a53"/>
    <p:sldId xmlns:r="http://schemas.openxmlformats.org/officeDocument/2006/relationships" id="260" r:id="Reb357c780c1c436b"/>
    <p:sldId xmlns:r="http://schemas.openxmlformats.org/officeDocument/2006/relationships" id="261" r:id="R81f24dd258634066"/>
    <p:sldId xmlns:r="http://schemas.openxmlformats.org/officeDocument/2006/relationships" id="262" r:id="R10b50a6ec2b943b3"/>
    <p:sldId xmlns:r="http://schemas.openxmlformats.org/officeDocument/2006/relationships" id="263" r:id="R45c28ed4379c46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0db1337878414e" /><Relationship Type="http://schemas.openxmlformats.org/officeDocument/2006/relationships/slideMaster" Target="/ppt/slideMasters/slideMaster1.xml" Id="R585a0e25dd364b4c" /><Relationship Type="http://schemas.openxmlformats.org/officeDocument/2006/relationships/notesMaster" Target="/ppt/notesMasters/notesMaster1.xml" Id="R4a58de8532184d58" /><Relationship Type="http://schemas.openxmlformats.org/officeDocument/2006/relationships/presProps" Target="/ppt/presProps.xml" Id="R60362ca8165f4abc" /><Relationship Type="http://schemas.openxmlformats.org/officeDocument/2006/relationships/tableStyles" Target="/ppt/tableStyles.xml" Id="R65d201622b3949eb" /><Relationship Type="http://schemas.openxmlformats.org/officeDocument/2006/relationships/slide" Target="/ppt/slides/slide1.xml" Id="R3253c437690e4739" /><Relationship Type="http://schemas.openxmlformats.org/officeDocument/2006/relationships/slide" Target="/ppt/slides/slide2.xml" Id="R4036f759179b4999" /><Relationship Type="http://schemas.openxmlformats.org/officeDocument/2006/relationships/slide" Target="/ppt/slides/slide3.xml" Id="Rb736504805004e9f" /><Relationship Type="http://schemas.openxmlformats.org/officeDocument/2006/relationships/slide" Target="/ppt/slides/slide4.xml" Id="Rd0cf4a554c524a53" /><Relationship Type="http://schemas.openxmlformats.org/officeDocument/2006/relationships/slide" Target="/ppt/slides/slide5.xml" Id="Reb357c780c1c436b" /><Relationship Type="http://schemas.openxmlformats.org/officeDocument/2006/relationships/slide" Target="/ppt/slides/slide6.xml" Id="R81f24dd258634066" /><Relationship Type="http://schemas.openxmlformats.org/officeDocument/2006/relationships/slide" Target="/ppt/slides/slide7.xml" Id="R10b50a6ec2b943b3" /><Relationship Type="http://schemas.openxmlformats.org/officeDocument/2006/relationships/slide" Target="/ppt/slides/slide8.xml" Id="R45c28ed4379c46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3a70358f3644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f5c2eb96c24431" /><Relationship Type="http://schemas.openxmlformats.org/officeDocument/2006/relationships/notesMaster" Target="/ppt/notesMasters/notesMaster1.xml" Id="Rbddb743c17b74c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039396af8b441f" /><Relationship Type="http://schemas.openxmlformats.org/officeDocument/2006/relationships/notesMaster" Target="/ppt/notesMasters/notesMaster1.xml" Id="Rac330022a37340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41ae66041a4bd4" /><Relationship Type="http://schemas.openxmlformats.org/officeDocument/2006/relationships/notesMaster" Target="/ppt/notesMasters/notesMaster1.xml" Id="R528e93bcde5648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d6759ad1904c3b" /><Relationship Type="http://schemas.openxmlformats.org/officeDocument/2006/relationships/notesMaster" Target="/ppt/notesMasters/notesMaster1.xml" Id="R88e58b53a60747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a3e9754c784001" /><Relationship Type="http://schemas.openxmlformats.org/officeDocument/2006/relationships/notesMaster" Target="/ppt/notesMasters/notesMaster1.xml" Id="R7462b7e51feb4f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ca4ce1441c4d4c" /><Relationship Type="http://schemas.openxmlformats.org/officeDocument/2006/relationships/notesMaster" Target="/ppt/notesMasters/notesMaster1.xml" Id="R3400d582715d4a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fdf62b598d4971" /><Relationship Type="http://schemas.openxmlformats.org/officeDocument/2006/relationships/notesMaster" Target="/ppt/notesMasters/notesMaster1.xml" Id="R37809260119041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4f23aa338643e6" /><Relationship Type="http://schemas.openxmlformats.org/officeDocument/2006/relationships/notesMaster" Target="/ppt/notesMasters/notesMaster1.xml" Id="R2271f172510b4a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research title: Guarded Preservation of Row-Wise Pipeline Behavior During Schema Migration. Scope: deterministic VeriFlow CSV pipeline, one explicit schema change, well-typed legacy rows available at migration time. Cover art generated for this project with the built-in image generation tool, using the Blue Bell scale inspired by https://uicolors.app/generate/9999cc . Font hierarchy references General Sans at https://www.fontshare.com/fonts/general-sans ; portable Segoe UI is used in this deck. Full technical source: docs/paper-draft.md.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VeriFlow has a typed CSV pipeline language with let, require, keep, and select, and an explicit evolution plan. The previous record-level evolution label is too coarse for a pipeline-specific behavior question. We define Obs to include selected typed values, filtering, validation failure and its message, and expression error. Sources: docs/paper-research-context.md and docs/impact-method.md.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decimal-to-integer conversion truncates toward zero. For positive integer threshold k, x &gt;= k and x &lt; k are invariant on finite decimals. For the atomic x &gt; k or x &lt;= k, the unsafe open interval is k &lt; x &lt; k+1. The row 40.7 changes the strict predicate, yet the analysis status is conditional because G excludes the unsafe interval. No generality is claimed for arbitrary expressions. Proof: docs/paper-draft.md; implementation: veriflow/impact.py.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papers: PRISM https://www.vldb.org/pvldb/vol1/1453939.pdf ; Fan, Geerts, Zheng https://www.pure.ed.ac.uk/ws/portalfiles/portal/17752772/paper_viewd.pdf ; Kramer, Restat, Störl https://www.vldb.org/2025/Workshops/VLDB-Workshops-2025/QDB/QDB25_4.pdf . Additional close work: Mediator https://arxiv.org/abs/1710.07660 ; Conditional Equivalence https://www.microsoft.com/en-us/research/publication/conditional-equivalence/ ; BiDEL/InVerDa https://arxiv.org/abs/1608.05564 . The comparison is a scoped research positioning, not a claim that earlier work has no pipeline awareness or conditional analysis. Independent expert review is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 claim: for every well-typed old row s in the defined forward mapping domain, if sufficient guard G(s) holds then the typed observation from P(s) equals that from P(A(F(s))). A is a partial adapter and the actual adapted execution still runs the legacy pipeline P; it is not a separately compiled new-schema pipeline. G requires the old row, so this is migration-time only. See docs/impact-method.md and docs/paper-draft.md.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follows dependencies transitively through executed let, require, keep, select. Supported sound rules include exact reconstruction and positive-integer threshold predicates under decimal-to-int truncation. Guarded evolved CSV execution checks G before lossy conversion and records rejected rows. Breaking requires a replayed pair of valid old rows mapping to the same new row with different old observations. Unknown means neither proof nor validated collision. See veriflow/impact.py, veriflow/reporting.py, docs/impact-method.md.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UCI Abalone 4,177 rows, Iris 150 rows, Red Wine Quality 1,599 rows, totaling 5,926 distinct source rows reused across ten injected migration cases. All dataset schema mappings are synthetic. Three non-strict record-lossy numeric cases are proved preserved. The Iris split case remains unknown. Strict-predicate guard admissions are 2,782/4,177, 99/150, 1,214/1,599; percentages shown are arithmetic rounded to one decimal. Eight declared negative controls and four end-to-end CSV parity cases passed. No admitted row changed typed observation in this finite pilot. Evidence: evaluation/results.json, evaluation/negative-controls.json, evaluation/csv-parity.json, evaluation/README.md. UCI pages: https://archive.ics.uci.edu/dataset/1/abalone , https://archive.ics.uci.edu/dataset/53/iris , https://archive.ics.uci.edu/dataset/186/wine+quality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proposition is a narrow executable migration-time behavior contract, not a general schema-evolution solution. The old row must be available to evaluate G. An independent domain reader has not yet reviewed the proof/novelty, and no actual organizational migration history is included. Standalone new-schema rewrite, guards for arbitrary future new-only rows, general split/merge, arbitrary expressions, and multi-version chains remain research gaps. See docs/paper-draft.md, docs/council-review-2026-10-08.md, docs/paper-research-tasks.md.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4682bee1e74a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05ffc379c34e30" /><Relationship Type="http://schemas.openxmlformats.org/officeDocument/2006/relationships/slideLayout" Target="/ppt/slideLayouts/slideLayout1.xml" Id="Ra058451269a146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58451269a146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a3f0f4880d49f4" /><Relationship Type="http://schemas.openxmlformats.org/officeDocument/2006/relationships/image" Target="/ppt/media/image.png" Id="R9f1422adae324486" /><Relationship Type="http://schemas.openxmlformats.org/officeDocument/2006/relationships/notesSlide" Target="/ppt/notesSlides/notesSlide1.xml" Id="R368c4b183ea244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0ad8dda9ac4b18" /><Relationship Type="http://schemas.openxmlformats.org/officeDocument/2006/relationships/notesSlide" Target="/ppt/notesSlides/notesSlide2.xml" Id="Rb28962a7f2854b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4852e91b564947" /><Relationship Type="http://schemas.openxmlformats.org/officeDocument/2006/relationships/notesSlide" Target="/ppt/notesSlides/notesSlide3.xml" Id="R95ed75df8f7a46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2a9cc3fa5245b8" /><Relationship Type="http://schemas.openxmlformats.org/officeDocument/2006/relationships/notesSlide" Target="/ppt/notesSlides/notesSlide4.xml" Id="Rc2559b421c6f46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55429a0e6444cb" /><Relationship Type="http://schemas.openxmlformats.org/officeDocument/2006/relationships/notesSlide" Target="/ppt/notesSlides/notesSlide5.xml" Id="Rb20c0f8ef3f64b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09d3cec4cc411b" /><Relationship Type="http://schemas.openxmlformats.org/officeDocument/2006/relationships/notesSlide" Target="/ppt/notesSlides/notesSlide6.xml" Id="R5bc378493bc945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c19514ce9646dd" /><Relationship Type="http://schemas.openxmlformats.org/officeDocument/2006/relationships/notesSlide" Target="/ppt/notesSlides/notesSlide7.xml" Id="R603a50cf45024b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6abf8da0f24a58" /><Relationship Type="http://schemas.openxmlformats.org/officeDocument/2006/relationships/notesSlide" Target="/ppt/notesSlides/notesSlide8.xml" Id="Rf25b803cdc10440b" /></Relationships>
</file>

<file path=ppt/slides/slide1.xml><?xml version="1.0" encoding="utf-8"?>
<p:sld xmlns:p="http://schemas.openxmlformats.org/presentationml/2006/main">
  <p:cSld>
    <p:bg>
      <p:bgPr>
        <a:solidFill xmlns:a="http://schemas.openxmlformats.org/drawingml/2006/main">
          <a:srgbClr val="2B293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f1422adae32448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C2AEF2-674E-4FFF-B5BA-0FFAF5CD539F}"/>
              </a:ext>
            </a:extLst>
          </p:cNvPr>
          <p:cNvSpPr>
            <a:spLocks xmlns:a="http://schemas.openxmlformats.org/drawingml/2006/main" noGrp="1"/>
          </p:cNvSpPr>
          <p:nvPr/>
        </p:nvSpPr>
        <p:spPr>
          <a:xfrm xmlns:a="http://schemas.openxmlformats.org/drawingml/2006/main">
            <a:off x="685800" y="533400"/>
            <a:ext cx="4143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8DCED"/>
                </a:solidFill>
                <a:latin typeface="Segoe UI"/>
                <a:ea typeface="Segoe UI"/>
                <a:cs typeface="Segoe UI"/>
              </a:defRPr>
            </a:pPr>
            <a:r>
              <a:rPr sz="1725" b="1">
                <a:solidFill>
                  <a:srgbClr val="D8DCED"/>
                </a:solidFill>
                <a:latin typeface="Segoe UI"/>
                <a:ea typeface="Segoe UI"/>
                <a:cs typeface="Segoe UI"/>
              </a:rPr>
              <a:t>VERIFLOW</a:t>
            </a:r>
          </a:p>
        </p:txBody>
      </p:sp>
      <p:sp>
        <p:nvSpPr>
          <p:cNvPr id="3" name="">
            <a:extLst xmlns:a="http://schemas.openxmlformats.org/drawingml/2006/main">
              <a:ext uri="{FF2B5EF4-FFF2-40B4-BE49-F238E27FC236}">
                <a16:creationId xmlns:a16="http://schemas.microsoft.com/office/drawing/2014/main" id="{C98490EF-EF9F-4743-8F40-68897F870ACC}"/>
              </a:ext>
            </a:extLst>
          </p:cNvPr>
          <p:cNvSpPr>
            <a:spLocks xmlns:a="http://schemas.openxmlformats.org/drawingml/2006/main" noGrp="1"/>
          </p:cNvSpPr>
          <p:nvPr/>
        </p:nvSpPr>
        <p:spPr>
          <a:xfrm xmlns:a="http://schemas.openxmlformats.org/drawingml/2006/main">
            <a:off x="685800" y="1695450"/>
            <a:ext cx="704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FFFFF"/>
                </a:solidFill>
                <a:latin typeface="Segoe UI"/>
                <a:ea typeface="Segoe UI"/>
                <a:cs typeface="Segoe UI"/>
              </a:defRPr>
            </a:pPr>
            <a:r>
              <a:rPr sz="4125" b="1">
                <a:solidFill>
                  <a:srgbClr val="FFFFFF"/>
                </a:solidFill>
                <a:latin typeface="Segoe UI"/>
                <a:ea typeface="Segoe UI"/>
                <a:cs typeface="Segoe UI"/>
              </a:rPr>
              <a:t>When does a lossy</a:t>
            </a:r>
          </a:p>
          <a:p xmlns:a="http://schemas.openxmlformats.org/drawingml/2006/main">
            <a:pPr>
              <a:defRPr sz="4125" b="1">
                <a:solidFill>
                  <a:srgbClr val="FFFFFF"/>
                </a:solidFill>
                <a:latin typeface="Segoe UI"/>
                <a:ea typeface="Segoe UI"/>
                <a:cs typeface="Segoe UI"/>
              </a:defRPr>
            </a:pPr>
            <a:r>
              <a:rPr sz="4125" b="1">
                <a:solidFill>
                  <a:srgbClr val="FFFFFF"/>
                </a:solidFill>
                <a:latin typeface="Segoe UI"/>
                <a:ea typeface="Segoe UI"/>
                <a:cs typeface="Segoe UI"/>
              </a:rPr>
              <a:t>schema migration</a:t>
            </a:r>
          </a:p>
          <a:p xmlns:a="http://schemas.openxmlformats.org/drawingml/2006/main">
            <a:pPr>
              <a:defRPr sz="4125" b="1">
                <a:solidFill>
                  <a:srgbClr val="FFFFFF"/>
                </a:solidFill>
                <a:latin typeface="Segoe UI"/>
                <a:ea typeface="Segoe UI"/>
                <a:cs typeface="Segoe UI"/>
              </a:defRPr>
            </a:pPr>
            <a:r>
              <a:rPr sz="4125" b="1">
                <a:solidFill>
                  <a:srgbClr val="FFFFFF"/>
                </a:solidFill>
                <a:latin typeface="Segoe UI"/>
                <a:ea typeface="Segoe UI"/>
                <a:cs typeface="Segoe UI"/>
              </a:rPr>
              <a:t>preserve pipeline</a:t>
            </a:r>
          </a:p>
          <a:p xmlns:a="http://schemas.openxmlformats.org/drawingml/2006/main">
            <a:pPr>
              <a:defRPr sz="4125" b="1">
                <a:solidFill>
                  <a:srgbClr val="FFFFFF"/>
                </a:solidFill>
                <a:latin typeface="Segoe UI"/>
                <a:ea typeface="Segoe UI"/>
                <a:cs typeface="Segoe UI"/>
              </a:defRPr>
            </a:pPr>
            <a:r>
              <a:rPr sz="4125" b="1">
                <a:solidFill>
                  <a:srgbClr val="FFFFFF"/>
                </a:solidFill>
                <a:latin typeface="Segoe UI"/>
                <a:ea typeface="Segoe UI"/>
                <a:cs typeface="Segoe UI"/>
              </a:rPr>
              <a:t>behavior?</a:t>
            </a:r>
          </a:p>
        </p:txBody>
      </p:sp>
      <p:sp>
        <p:nvSpPr>
          <p:cNvPr id="4" name="">
            <a:extLst xmlns:a="http://schemas.openxmlformats.org/drawingml/2006/main">
              <a:ext uri="{FF2B5EF4-FFF2-40B4-BE49-F238E27FC236}">
                <a16:creationId xmlns:a16="http://schemas.microsoft.com/office/drawing/2014/main" id="{AD71E3D9-0CF1-4A1B-88A4-0694529F4A89}"/>
              </a:ext>
            </a:extLst>
          </p:cNvPr>
          <p:cNvSpPr>
            <a:spLocks xmlns:a="http://schemas.openxmlformats.org/drawingml/2006/main" noGrp="1"/>
          </p:cNvSpPr>
          <p:nvPr/>
        </p:nvSpPr>
        <p:spPr>
          <a:xfrm xmlns:a="http://schemas.openxmlformats.org/drawingml/2006/main">
            <a:off x="695325" y="5362575"/>
            <a:ext cx="5124450" cy="0"/>
          </a:xfrm>
          <a:prstGeom xmlns:a="http://schemas.openxmlformats.org/drawingml/2006/main" prst="line">
            <a:avLst/>
          </a:prstGeom>
          <a:noFill xmlns:a="http://schemas.openxmlformats.org/drawingml/2006/main"/>
          <a:ln xmlns:a="http://schemas.openxmlformats.org/drawingml/2006/main" w="19050">
            <a:solidFill>
              <a:srgbClr val="9999CC"/>
            </a:solidFill>
            <a:prstDash val="solid"/>
          </a:ln>
        </p:spPr>
      </p:sp>
      <p:sp>
        <p:nvSpPr>
          <p:cNvPr id="5" name="">
            <a:extLst xmlns:a="http://schemas.openxmlformats.org/drawingml/2006/main">
              <a:ext uri="{FF2B5EF4-FFF2-40B4-BE49-F238E27FC236}">
                <a16:creationId xmlns:a16="http://schemas.microsoft.com/office/drawing/2014/main" id="{77A055CB-F26A-4AA8-87A5-F0A8820AB972}"/>
              </a:ext>
            </a:extLst>
          </p:cNvPr>
          <p:cNvSpPr>
            <a:spLocks xmlns:a="http://schemas.openxmlformats.org/drawingml/2006/main" noGrp="1"/>
          </p:cNvSpPr>
          <p:nvPr/>
        </p:nvSpPr>
        <p:spPr>
          <a:xfrm xmlns:a="http://schemas.openxmlformats.org/drawingml/2006/main">
            <a:off x="685800" y="55435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8DCED"/>
                </a:solidFill>
                <a:latin typeface="Segoe UI"/>
                <a:ea typeface="Segoe UI"/>
                <a:cs typeface="Segoe UI"/>
              </a:defRPr>
            </a:pPr>
            <a:r>
              <a:rPr sz="1800" b="0">
                <a:solidFill>
                  <a:srgbClr val="D8DCED"/>
                </a:solidFill>
                <a:latin typeface="Segoe UI"/>
                <a:ea typeface="Segoe UI"/>
                <a:cs typeface="Segoe UI"/>
              </a:rPr>
              <a:t>A guarded analysis for typed CSV pipelines</a:t>
            </a:r>
          </a:p>
        </p:txBody>
      </p:sp>
      <p:sp>
        <p:nvSpPr>
          <p:cNvPr id="6" name="">
            <a:extLst xmlns:a="http://schemas.openxmlformats.org/drawingml/2006/main">
              <a:ext uri="{FF2B5EF4-FFF2-40B4-BE49-F238E27FC236}">
                <a16:creationId xmlns:a16="http://schemas.microsoft.com/office/drawing/2014/main" id="{B636EEBF-EB6C-4F5B-8BFD-0FE53BAD307E}"/>
              </a:ext>
            </a:extLst>
          </p:cNvPr>
          <p:cNvSpPr>
            <a:spLocks xmlns:a="http://schemas.openxmlformats.org/drawingml/2006/main" noGrp="1"/>
          </p:cNvSpPr>
          <p:nvPr/>
        </p:nvSpPr>
        <p:spPr>
          <a:xfrm xmlns:a="http://schemas.openxmlformats.org/drawingml/2006/main">
            <a:off x="685800" y="62198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BFC4E2"/>
                </a:solidFill>
                <a:latin typeface="Segoe UI"/>
                <a:ea typeface="Segoe UI"/>
                <a:cs typeface="Segoe UI"/>
              </a:defRPr>
            </a:pPr>
            <a:r>
              <a:rPr sz="1050" b="1">
                <a:solidFill>
                  <a:srgbClr val="BFC4E2"/>
                </a:solidFill>
                <a:latin typeface="Segoe UI"/>
                <a:ea typeface="Segoe UI"/>
                <a:cs typeface="Segoe UI"/>
              </a:rPr>
              <a:t>RESEARCH BRIEF  •  OCTOBER 2026</a:t>
            </a:r>
          </a:p>
        </p:txBody>
      </p:sp>
    </p:spTree>
    <p:extLst>
      <p:ext uri="{BB962C8B-B14F-4D97-AF65-F5344CB8AC3E}">
        <p14:creationId xmlns:p14="http://schemas.microsoft.com/office/powerpoint/2010/main" val="383139481"/>
      </p:ext>
    </p:extLst>
  </p:cSld>
</p:sld>
</file>

<file path=ppt/slides/slide2.xml><?xml version="1.0" encoding="utf-8"?>
<p:sld xmlns:p="http://schemas.openxmlformats.org/presentationml/2006/main">
  <p:cSld>
    <p:bg>
      <p:bgPr>
        <a:solidFill xmlns:a="http://schemas.openxmlformats.org/drawingml/2006/main">
          <a:srgbClr val="F3F4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C9822B0-E35E-4D41-A831-4CD643221089}"/>
              </a:ext>
            </a:extLst>
          </p:cNvPr>
          <p:cNvSpPr>
            <a:spLocks xmlns:a="http://schemas.openxmlformats.org/drawingml/2006/main" noGrp="1"/>
          </p:cNvSpPr>
          <p:nvPr/>
        </p:nvSpPr>
        <p:spPr>
          <a:xfrm xmlns:a="http://schemas.openxmlformats.org/drawingml/2006/main">
            <a:off x="590550" y="600075"/>
            <a:ext cx="11010900" cy="0"/>
          </a:xfrm>
          <a:prstGeom xmlns:a="http://schemas.openxmlformats.org/drawingml/2006/main" prst="line">
            <a:avLst/>
          </a:prstGeom>
          <a:noFill xmlns:a="http://schemas.openxmlformats.org/drawingml/2006/main"/>
          <a:ln xmlns:a="http://schemas.openxmlformats.org/drawingml/2006/main" w="12383">
            <a:solidFill>
              <a:srgbClr val="BFC4E2"/>
            </a:solidFill>
            <a:prstDash val="solid"/>
          </a:ln>
        </p:spPr>
      </p:sp>
      <p:sp>
        <p:nvSpPr>
          <p:cNvPr id="2" name="">
            <a:extLst xmlns:a="http://schemas.openxmlformats.org/drawingml/2006/main">
              <a:ext uri="{FF2B5EF4-FFF2-40B4-BE49-F238E27FC236}">
                <a16:creationId xmlns:a16="http://schemas.microsoft.com/office/drawing/2014/main" id="{20881DF4-EC93-427F-9CBD-D377FAFA5836}"/>
              </a:ext>
            </a:extLst>
          </p:cNvPr>
          <p:cNvSpPr>
            <a:spLocks xmlns:a="http://schemas.openxmlformats.org/drawingml/2006/main" noGrp="1"/>
          </p:cNvSpPr>
          <p:nvPr/>
        </p:nvSpPr>
        <p:spPr>
          <a:xfrm xmlns:a="http://schemas.openxmlformats.org/drawingml/2006/main">
            <a:off x="609600" y="2762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6A649E"/>
                </a:solidFill>
                <a:latin typeface="Segoe UI"/>
                <a:ea typeface="Segoe UI"/>
                <a:cs typeface="Segoe UI"/>
              </a:defRPr>
            </a:pPr>
            <a:r>
              <a:rPr sz="1050" b="1">
                <a:solidFill>
                  <a:srgbClr val="6A649E"/>
                </a:solidFill>
                <a:latin typeface="Segoe UI"/>
                <a:ea typeface="Segoe UI"/>
                <a:cs typeface="Segoe UI"/>
              </a:rPr>
              <a:t>PROBLEM / WHAT CHANGES</a:t>
            </a:r>
          </a:p>
        </p:txBody>
      </p:sp>
      <p:sp>
        <p:nvSpPr>
          <p:cNvPr id="3" name="">
            <a:extLst xmlns:a="http://schemas.openxmlformats.org/drawingml/2006/main">
              <a:ext uri="{FF2B5EF4-FFF2-40B4-BE49-F238E27FC236}">
                <a16:creationId xmlns:a16="http://schemas.microsoft.com/office/drawing/2014/main" id="{0009CAB8-7E48-4A38-BE5C-555E91A6F81D}"/>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75380"/>
                </a:solidFill>
                <a:latin typeface="Segoe UI"/>
                <a:ea typeface="Segoe UI"/>
                <a:cs typeface="Segoe UI"/>
              </a:defRPr>
            </a:pPr>
            <a:r>
              <a:rPr sz="1125" b="0">
                <a:solidFill>
                  <a:srgbClr val="575380"/>
                </a:solidFill>
                <a:latin typeface="Segoe UI"/>
                <a:ea typeface="Segoe UI"/>
                <a:cs typeface="Segoe UI"/>
              </a:rPr>
              <a:t>02</a:t>
            </a:r>
          </a:p>
        </p:txBody>
      </p:sp>
      <p:sp>
        <p:nvSpPr>
          <p:cNvPr id="4" name="">
            <a:extLst xmlns:a="http://schemas.openxmlformats.org/drawingml/2006/main">
              <a:ext uri="{FF2B5EF4-FFF2-40B4-BE49-F238E27FC236}">
                <a16:creationId xmlns:a16="http://schemas.microsoft.com/office/drawing/2014/main" id="{787C5803-CA42-4DD6-810F-70B005056F22}"/>
              </a:ext>
            </a:extLst>
          </p:cNvPr>
          <p:cNvSpPr>
            <a:spLocks xmlns:a="http://schemas.openxmlformats.org/drawingml/2006/main" noGrp="1"/>
          </p:cNvSpPr>
          <p:nvPr/>
        </p:nvSpPr>
        <p:spPr>
          <a:xfrm xmlns:a="http://schemas.openxmlformats.org/drawingml/2006/main">
            <a:off x="590550" y="81915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B293D"/>
                </a:solidFill>
                <a:latin typeface="Segoe UI"/>
                <a:ea typeface="Segoe UI"/>
                <a:cs typeface="Segoe UI"/>
              </a:defRPr>
            </a:pPr>
            <a:r>
              <a:rPr sz="2925" b="1">
                <a:solidFill>
                  <a:srgbClr val="2B293D"/>
                </a:solidFill>
                <a:latin typeface="Segoe UI"/>
                <a:ea typeface="Segoe UI"/>
                <a:cs typeface="Segoe UI"/>
              </a:rPr>
              <a:t>A schema-level “lossy” label cannot answer the pipeline question</a:t>
            </a:r>
          </a:p>
        </p:txBody>
      </p:sp>
      <p:sp>
        <p:nvSpPr>
          <p:cNvPr id="5" name="">
            <a:extLst xmlns:a="http://schemas.openxmlformats.org/drawingml/2006/main">
              <a:ext uri="{FF2B5EF4-FFF2-40B4-BE49-F238E27FC236}">
                <a16:creationId xmlns:a16="http://schemas.microsoft.com/office/drawing/2014/main" id="{87103B73-E7CA-475B-81AC-60850C86E594}"/>
              </a:ext>
            </a:extLst>
          </p:cNvPr>
          <p:cNvSpPr>
            <a:spLocks xmlns:a="http://schemas.openxmlformats.org/drawingml/2006/main" noGrp="1"/>
          </p:cNvSpPr>
          <p:nvPr/>
        </p:nvSpPr>
        <p:spPr>
          <a:xfrm xmlns:a="http://schemas.openxmlformats.org/drawingml/2006/main">
            <a:off x="685800" y="1885950"/>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A649E"/>
                </a:solidFill>
                <a:latin typeface="Segoe UI"/>
                <a:ea typeface="Segoe UI"/>
                <a:cs typeface="Segoe UI"/>
              </a:defRPr>
            </a:pPr>
            <a:r>
              <a:rPr sz="1350" b="1">
                <a:solidFill>
                  <a:srgbClr val="6A649E"/>
                </a:solidFill>
                <a:latin typeface="Segoe UI"/>
                <a:ea typeface="Segoe UI"/>
                <a:cs typeface="Segoe UI"/>
              </a:rPr>
              <a:t>01 / OLD ROW</a:t>
            </a:r>
          </a:p>
        </p:txBody>
      </p:sp>
      <p:sp>
        <p:nvSpPr>
          <p:cNvPr id="6" name="">
            <a:extLst xmlns:a="http://schemas.openxmlformats.org/drawingml/2006/main">
              <a:ext uri="{FF2B5EF4-FFF2-40B4-BE49-F238E27FC236}">
                <a16:creationId xmlns:a16="http://schemas.microsoft.com/office/drawing/2014/main" id="{E9F58B5C-F1FA-4F86-8AB3-F239A36F42C5}"/>
              </a:ext>
            </a:extLst>
          </p:cNvPr>
          <p:cNvSpPr>
            <a:spLocks xmlns:a="http://schemas.openxmlformats.org/drawingml/2006/main" noGrp="1"/>
          </p:cNvSpPr>
          <p:nvPr/>
        </p:nvSpPr>
        <p:spPr>
          <a:xfrm xmlns:a="http://schemas.openxmlformats.org/drawingml/2006/main">
            <a:off x="4391025" y="1885950"/>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A649E"/>
                </a:solidFill>
                <a:latin typeface="Segoe UI"/>
                <a:ea typeface="Segoe UI"/>
                <a:cs typeface="Segoe UI"/>
              </a:defRPr>
            </a:pPr>
            <a:r>
              <a:rPr sz="1350" b="1">
                <a:solidFill>
                  <a:srgbClr val="6A649E"/>
                </a:solidFill>
                <a:latin typeface="Segoe UI"/>
                <a:ea typeface="Segoe UI"/>
                <a:cs typeface="Segoe UI"/>
              </a:rPr>
              <a:t>02 / MAPPING</a:t>
            </a:r>
          </a:p>
        </p:txBody>
      </p:sp>
      <p:sp>
        <p:nvSpPr>
          <p:cNvPr id="7" name="">
            <a:extLst xmlns:a="http://schemas.openxmlformats.org/drawingml/2006/main">
              <a:ext uri="{FF2B5EF4-FFF2-40B4-BE49-F238E27FC236}">
                <a16:creationId xmlns:a16="http://schemas.microsoft.com/office/drawing/2014/main" id="{8671C485-0ED0-41F2-A156-A0ADA14F04D8}"/>
              </a:ext>
            </a:extLst>
          </p:cNvPr>
          <p:cNvSpPr>
            <a:spLocks xmlns:a="http://schemas.openxmlformats.org/drawingml/2006/main" noGrp="1"/>
          </p:cNvSpPr>
          <p:nvPr/>
        </p:nvSpPr>
        <p:spPr>
          <a:xfrm xmlns:a="http://schemas.openxmlformats.org/drawingml/2006/main">
            <a:off x="8105775" y="1885950"/>
            <a:ext cx="2914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6A649E"/>
                </a:solidFill>
                <a:latin typeface="Segoe UI"/>
                <a:ea typeface="Segoe UI"/>
                <a:cs typeface="Segoe UI"/>
              </a:defRPr>
            </a:pPr>
            <a:r>
              <a:rPr sz="1350" b="1">
                <a:solidFill>
                  <a:srgbClr val="6A649E"/>
                </a:solidFill>
                <a:latin typeface="Segoe UI"/>
                <a:ea typeface="Segoe UI"/>
                <a:cs typeface="Segoe UI"/>
              </a:rPr>
              <a:t>03 / NEW ROW</a:t>
            </a:r>
          </a:p>
        </p:txBody>
      </p:sp>
      <p:sp>
        <p:nvSpPr>
          <p:cNvPr id="8" name="">
            <a:extLst xmlns:a="http://schemas.openxmlformats.org/drawingml/2006/main">
              <a:ext uri="{FF2B5EF4-FFF2-40B4-BE49-F238E27FC236}">
                <a16:creationId xmlns:a16="http://schemas.microsoft.com/office/drawing/2014/main" id="{B9546014-8971-474D-AA0D-1D1291C8FEAD}"/>
              </a:ext>
            </a:extLst>
          </p:cNvPr>
          <p:cNvSpPr>
            <a:spLocks xmlns:a="http://schemas.openxmlformats.org/drawingml/2006/main" noGrp="1"/>
          </p:cNvSpPr>
          <p:nvPr/>
        </p:nvSpPr>
        <p:spPr>
          <a:xfrm xmlns:a="http://schemas.openxmlformats.org/drawingml/2006/main">
            <a:off x="685800" y="234315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B293D"/>
                </a:solidFill>
                <a:latin typeface="Consolas"/>
                <a:ea typeface="Consolas"/>
                <a:cs typeface="Consolas"/>
              </a:defRPr>
            </a:pPr>
            <a:r>
              <a:rPr sz="2550" b="1">
                <a:solidFill>
                  <a:srgbClr val="2B293D"/>
                </a:solidFill>
                <a:latin typeface="Consolas"/>
                <a:ea typeface="Consolas"/>
                <a:cs typeface="Consolas"/>
              </a:rPr>
              <a:t>score  40.7</a:t>
            </a:r>
          </a:p>
        </p:txBody>
      </p:sp>
      <p:sp>
        <p:nvSpPr>
          <p:cNvPr id="9" name="">
            <a:extLst xmlns:a="http://schemas.openxmlformats.org/drawingml/2006/main">
              <a:ext uri="{FF2B5EF4-FFF2-40B4-BE49-F238E27FC236}">
                <a16:creationId xmlns:a16="http://schemas.microsoft.com/office/drawing/2014/main" id="{A7B78711-11F5-45A9-A3A4-3905AE8AA617}"/>
              </a:ext>
            </a:extLst>
          </p:cNvPr>
          <p:cNvSpPr>
            <a:spLocks xmlns:a="http://schemas.openxmlformats.org/drawingml/2006/main" noGrp="1"/>
          </p:cNvSpPr>
          <p:nvPr/>
        </p:nvSpPr>
        <p:spPr>
          <a:xfrm xmlns:a="http://schemas.openxmlformats.org/drawingml/2006/main">
            <a:off x="4400550" y="2343150"/>
            <a:ext cx="3105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B293D"/>
                </a:solidFill>
                <a:latin typeface="Segoe UI"/>
                <a:ea typeface="Segoe UI"/>
                <a:cs typeface="Segoe UI"/>
              </a:defRPr>
            </a:pPr>
            <a:r>
              <a:rPr sz="2475" b="1">
                <a:solidFill>
                  <a:srgbClr val="2B293D"/>
                </a:solidFill>
                <a:latin typeface="Segoe UI"/>
                <a:ea typeface="Segoe UI"/>
                <a:cs typeface="Segoe UI"/>
              </a:rPr>
              <a:t>truncate</a:t>
            </a:r>
          </a:p>
        </p:txBody>
      </p:sp>
      <p:sp>
        <p:nvSpPr>
          <p:cNvPr id="10" name="">
            <a:extLst xmlns:a="http://schemas.openxmlformats.org/drawingml/2006/main">
              <a:ext uri="{FF2B5EF4-FFF2-40B4-BE49-F238E27FC236}">
                <a16:creationId xmlns:a16="http://schemas.microsoft.com/office/drawing/2014/main" id="{C3722D19-CC00-469D-8508-54CEB0A79E69}"/>
              </a:ext>
            </a:extLst>
          </p:cNvPr>
          <p:cNvSpPr>
            <a:spLocks xmlns:a="http://schemas.openxmlformats.org/drawingml/2006/main" noGrp="1"/>
          </p:cNvSpPr>
          <p:nvPr/>
        </p:nvSpPr>
        <p:spPr>
          <a:xfrm xmlns:a="http://schemas.openxmlformats.org/drawingml/2006/main">
            <a:off x="8105775" y="2343150"/>
            <a:ext cx="3114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B293D"/>
                </a:solidFill>
                <a:latin typeface="Consolas"/>
                <a:ea typeface="Consolas"/>
                <a:cs typeface="Consolas"/>
              </a:defRPr>
            </a:pPr>
            <a:r>
              <a:rPr sz="2550" b="1">
                <a:solidFill>
                  <a:srgbClr val="2B293D"/>
                </a:solidFill>
                <a:latin typeface="Consolas"/>
                <a:ea typeface="Consolas"/>
                <a:cs typeface="Consolas"/>
              </a:rPr>
              <a:t>score  40</a:t>
            </a:r>
          </a:p>
        </p:txBody>
      </p:sp>
      <p:sp>
        <p:nvSpPr>
          <p:cNvPr id="11" name="">
            <a:extLst xmlns:a="http://schemas.openxmlformats.org/drawingml/2006/main">
              <a:ext uri="{FF2B5EF4-FFF2-40B4-BE49-F238E27FC236}">
                <a16:creationId xmlns:a16="http://schemas.microsoft.com/office/drawing/2014/main" id="{713E810F-C693-401F-8FFD-C369294863CF}"/>
              </a:ext>
            </a:extLst>
          </p:cNvPr>
          <p:cNvSpPr>
            <a:spLocks xmlns:a="http://schemas.openxmlformats.org/drawingml/2006/main" noGrp="1"/>
          </p:cNvSpPr>
          <p:nvPr/>
        </p:nvSpPr>
        <p:spPr>
          <a:xfrm xmlns:a="http://schemas.openxmlformats.org/drawingml/2006/main">
            <a:off x="695325" y="3038475"/>
            <a:ext cx="2800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75380"/>
                </a:solidFill>
                <a:latin typeface="Segoe UI"/>
                <a:ea typeface="Segoe UI"/>
                <a:cs typeface="Segoe UI"/>
              </a:defRPr>
            </a:pPr>
            <a:r>
              <a:rPr sz="1425" b="0">
                <a:solidFill>
                  <a:srgbClr val="575380"/>
                </a:solidFill>
                <a:latin typeface="Segoe UI"/>
                <a:ea typeface="Segoe UI"/>
                <a:cs typeface="Segoe UI"/>
              </a:rPr>
              <a:t>decimal</a:t>
            </a:r>
          </a:p>
        </p:txBody>
      </p:sp>
      <p:sp>
        <p:nvSpPr>
          <p:cNvPr id="12" name="">
            <a:extLst xmlns:a="http://schemas.openxmlformats.org/drawingml/2006/main">
              <a:ext uri="{FF2B5EF4-FFF2-40B4-BE49-F238E27FC236}">
                <a16:creationId xmlns:a16="http://schemas.microsoft.com/office/drawing/2014/main" id="{FB4A2292-AE7A-4FC5-AB13-12B789B96A75}"/>
              </a:ext>
            </a:extLst>
          </p:cNvPr>
          <p:cNvSpPr>
            <a:spLocks xmlns:a="http://schemas.openxmlformats.org/drawingml/2006/main" noGrp="1"/>
          </p:cNvSpPr>
          <p:nvPr/>
        </p:nvSpPr>
        <p:spPr>
          <a:xfrm xmlns:a="http://schemas.openxmlformats.org/drawingml/2006/main">
            <a:off x="4410075" y="3038475"/>
            <a:ext cx="304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75380"/>
                </a:solidFill>
                <a:latin typeface="Segoe UI"/>
                <a:ea typeface="Segoe UI"/>
                <a:cs typeface="Segoe UI"/>
              </a:defRPr>
            </a:pPr>
            <a:r>
              <a:rPr sz="1425" b="0">
                <a:solidFill>
                  <a:srgbClr val="575380"/>
                </a:solidFill>
                <a:latin typeface="Segoe UI"/>
                <a:ea typeface="Segoe UI"/>
                <a:cs typeface="Segoe UI"/>
              </a:rPr>
              <a:t>decimal → integer</a:t>
            </a:r>
          </a:p>
        </p:txBody>
      </p:sp>
      <p:sp>
        <p:nvSpPr>
          <p:cNvPr id="13" name="">
            <a:extLst xmlns:a="http://schemas.openxmlformats.org/drawingml/2006/main">
              <a:ext uri="{FF2B5EF4-FFF2-40B4-BE49-F238E27FC236}">
                <a16:creationId xmlns:a16="http://schemas.microsoft.com/office/drawing/2014/main" id="{114D9D7C-48EB-4713-BE21-986A569FE1F3}"/>
              </a:ext>
            </a:extLst>
          </p:cNvPr>
          <p:cNvSpPr>
            <a:spLocks xmlns:a="http://schemas.openxmlformats.org/drawingml/2006/main" noGrp="1"/>
          </p:cNvSpPr>
          <p:nvPr/>
        </p:nvSpPr>
        <p:spPr>
          <a:xfrm xmlns:a="http://schemas.openxmlformats.org/drawingml/2006/main">
            <a:off x="8115300" y="3038475"/>
            <a:ext cx="27717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75380"/>
                </a:solidFill>
                <a:latin typeface="Segoe UI"/>
                <a:ea typeface="Segoe UI"/>
                <a:cs typeface="Segoe UI"/>
              </a:defRPr>
            </a:pPr>
            <a:r>
              <a:rPr sz="1425" b="0">
                <a:solidFill>
                  <a:srgbClr val="575380"/>
                </a:solidFill>
                <a:latin typeface="Segoe UI"/>
                <a:ea typeface="Segoe UI"/>
                <a:cs typeface="Segoe UI"/>
              </a:rPr>
              <a:t>integer</a:t>
            </a:r>
          </a:p>
        </p:txBody>
      </p:sp>
      <p:sp>
        <p:nvSpPr>
          <p:cNvPr id="14" name="">
            <a:extLst xmlns:a="http://schemas.openxmlformats.org/drawingml/2006/main">
              <a:ext uri="{FF2B5EF4-FFF2-40B4-BE49-F238E27FC236}">
                <a16:creationId xmlns:a16="http://schemas.microsoft.com/office/drawing/2014/main" id="{698F2BB9-1F23-4D0D-86E8-75B4722BDF8F}"/>
              </a:ext>
            </a:extLst>
          </p:cNvPr>
          <p:cNvSpPr>
            <a:spLocks xmlns:a="http://schemas.openxmlformats.org/drawingml/2006/main" noGrp="1"/>
          </p:cNvSpPr>
          <p:nvPr/>
        </p:nvSpPr>
        <p:spPr>
          <a:xfrm xmlns:a="http://schemas.openxmlformats.org/drawingml/2006/main">
            <a:off x="685800" y="3543300"/>
            <a:ext cx="10839450" cy="0"/>
          </a:xfrm>
          <a:prstGeom xmlns:a="http://schemas.openxmlformats.org/drawingml/2006/main" prst="line">
            <a:avLst/>
          </a:prstGeom>
          <a:noFill xmlns:a="http://schemas.openxmlformats.org/drawingml/2006/main"/>
          <a:ln xmlns:a="http://schemas.openxmlformats.org/drawingml/2006/main" w="19050">
            <a:solidFill>
              <a:srgbClr val="BFC4E2"/>
            </a:solidFill>
            <a:prstDash val="solid"/>
          </a:ln>
        </p:spPr>
      </p:sp>
      <p:sp>
        <p:nvSpPr>
          <p:cNvPr id="15" name="">
            <a:extLst xmlns:a="http://schemas.openxmlformats.org/drawingml/2006/main">
              <a:ext uri="{FF2B5EF4-FFF2-40B4-BE49-F238E27FC236}">
                <a16:creationId xmlns:a16="http://schemas.microsoft.com/office/drawing/2014/main" id="{86A8CBD2-2588-421C-81F9-D2594FBD2BE0}"/>
              </a:ext>
            </a:extLst>
          </p:cNvPr>
          <p:cNvSpPr>
            <a:spLocks xmlns:a="http://schemas.openxmlformats.org/drawingml/2006/main" noGrp="1"/>
          </p:cNvSpPr>
          <p:nvPr/>
        </p:nvSpPr>
        <p:spPr>
          <a:xfrm xmlns:a="http://schemas.openxmlformats.org/drawingml/2006/main">
            <a:off x="685800" y="3905250"/>
            <a:ext cx="1062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293D"/>
                </a:solidFill>
                <a:latin typeface="Segoe UI"/>
                <a:ea typeface="Segoe UI"/>
                <a:cs typeface="Segoe UI"/>
              </a:defRPr>
            </a:pPr>
            <a:r>
              <a:rPr sz="2175" b="1">
                <a:solidFill>
                  <a:srgbClr val="2B293D"/>
                </a:solidFill>
                <a:latin typeface="Segoe UI"/>
                <a:ea typeface="Segoe UI"/>
                <a:cs typeface="Segoe UI"/>
              </a:rPr>
              <a:t>The pipeline can validate, derive, filter, and select.</a:t>
            </a:r>
          </a:p>
        </p:txBody>
      </p:sp>
      <p:sp>
        <p:nvSpPr>
          <p:cNvPr id="16" name="">
            <a:extLst xmlns:a="http://schemas.openxmlformats.org/drawingml/2006/main">
              <a:ext uri="{FF2B5EF4-FFF2-40B4-BE49-F238E27FC236}">
                <a16:creationId xmlns:a16="http://schemas.microsoft.com/office/drawing/2014/main" id="{7FCE35B1-8640-4694-8B72-4F6F1732A2DF}"/>
              </a:ext>
            </a:extLst>
          </p:cNvPr>
          <p:cNvSpPr>
            <a:spLocks xmlns:a="http://schemas.openxmlformats.org/drawingml/2006/main" noGrp="1"/>
          </p:cNvSpPr>
          <p:nvPr/>
        </p:nvSpPr>
        <p:spPr>
          <a:xfrm xmlns:a="http://schemas.openxmlformats.org/drawingml/2006/main">
            <a:off x="685800" y="4552950"/>
            <a:ext cx="1055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B293D"/>
                </a:solidFill>
                <a:latin typeface="Segoe UI"/>
                <a:ea typeface="Segoe UI"/>
                <a:cs typeface="Segoe UI"/>
              </a:defRPr>
            </a:pPr>
            <a:r>
              <a:rPr sz="1875" b="0">
                <a:solidFill>
                  <a:srgbClr val="2B293D"/>
                </a:solidFill>
                <a:latin typeface="Segoe UI"/>
                <a:ea typeface="Segoe UI"/>
                <a:cs typeface="Segoe UI"/>
              </a:rPr>
              <a:t>Its observation includes typed output, filtering, validation failure with message, and expression error.</a:t>
            </a:r>
          </a:p>
        </p:txBody>
      </p:sp>
      <p:sp>
        <p:nvSpPr>
          <p:cNvPr id="17" name="">
            <a:extLst xmlns:a="http://schemas.openxmlformats.org/drawingml/2006/main">
              <a:ext uri="{FF2B5EF4-FFF2-40B4-BE49-F238E27FC236}">
                <a16:creationId xmlns:a16="http://schemas.microsoft.com/office/drawing/2014/main" id="{DFDCFBF3-AA8C-45F5-95DB-ABBD35657A91}"/>
              </a:ext>
            </a:extLst>
          </p:cNvPr>
          <p:cNvSpPr>
            <a:spLocks xmlns:a="http://schemas.openxmlformats.org/drawingml/2006/main" noGrp="1"/>
          </p:cNvSpPr>
          <p:nvPr/>
        </p:nvSpPr>
        <p:spPr>
          <a:xfrm xmlns:a="http://schemas.openxmlformats.org/drawingml/2006/main">
            <a:off x="676275" y="5610225"/>
            <a:ext cx="66675" cy="581025"/>
          </a:xfrm>
          <a:prstGeom xmlns:a="http://schemas.openxmlformats.org/drawingml/2006/main" prst="rect">
            <a:avLst/>
          </a:prstGeom>
          <a:solidFill xmlns:a="http://schemas.openxmlformats.org/drawingml/2006/main">
            <a:srgbClr val="6A649E"/>
          </a:solidFill>
          <a:ln xmlns:a="http://schemas.openxmlformats.org/drawingml/2006/main" w="0">
            <a:solidFill>
              <a:srgbClr val="6A649E"/>
            </a:solidFill>
            <a:prstDash val="solid"/>
          </a:ln>
        </p:spPr>
      </p:sp>
      <p:sp>
        <p:nvSpPr>
          <p:cNvPr id="18" name="">
            <a:extLst xmlns:a="http://schemas.openxmlformats.org/drawingml/2006/main">
              <a:ext uri="{FF2B5EF4-FFF2-40B4-BE49-F238E27FC236}">
                <a16:creationId xmlns:a16="http://schemas.microsoft.com/office/drawing/2014/main" id="{93B0DF28-0D6C-4FC7-8F45-CEA27743B10F}"/>
              </a:ext>
            </a:extLst>
          </p:cNvPr>
          <p:cNvSpPr>
            <a:spLocks xmlns:a="http://schemas.openxmlformats.org/drawingml/2006/main" noGrp="1"/>
          </p:cNvSpPr>
          <p:nvPr/>
        </p:nvSpPr>
        <p:spPr>
          <a:xfrm xmlns:a="http://schemas.openxmlformats.org/drawingml/2006/main">
            <a:off x="914400" y="5581650"/>
            <a:ext cx="340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6A649E"/>
                </a:solidFill>
                <a:latin typeface="Segoe UI"/>
                <a:ea typeface="Segoe UI"/>
                <a:cs typeface="Segoe UI"/>
              </a:defRPr>
            </a:pPr>
            <a:r>
              <a:rPr sz="1200" b="1">
                <a:solidFill>
                  <a:srgbClr val="6A649E"/>
                </a:solidFill>
                <a:latin typeface="Segoe UI"/>
                <a:ea typeface="Segoe UI"/>
                <a:cs typeface="Segoe UI"/>
              </a:rPr>
              <a:t>RESEARCH QUESTION</a:t>
            </a:r>
          </a:p>
        </p:txBody>
      </p:sp>
      <p:sp>
        <p:nvSpPr>
          <p:cNvPr id="19" name="">
            <a:extLst xmlns:a="http://schemas.openxmlformats.org/drawingml/2006/main">
              <a:ext uri="{FF2B5EF4-FFF2-40B4-BE49-F238E27FC236}">
                <a16:creationId xmlns:a16="http://schemas.microsoft.com/office/drawing/2014/main" id="{30DF263F-7BEF-431D-BE00-E6EE030EF703}"/>
              </a:ext>
            </a:extLst>
          </p:cNvPr>
          <p:cNvSpPr>
            <a:spLocks xmlns:a="http://schemas.openxmlformats.org/drawingml/2006/main" noGrp="1"/>
          </p:cNvSpPr>
          <p:nvPr/>
        </p:nvSpPr>
        <p:spPr>
          <a:xfrm xmlns:a="http://schemas.openxmlformats.org/drawingml/2006/main">
            <a:off x="914400" y="5876925"/>
            <a:ext cx="10039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B293D"/>
                </a:solidFill>
                <a:latin typeface="Segoe UI"/>
                <a:ea typeface="Segoe UI"/>
                <a:cs typeface="Segoe UI"/>
              </a:defRPr>
            </a:pPr>
            <a:r>
              <a:rPr sz="1875" b="1">
                <a:solidFill>
                  <a:srgbClr val="2B293D"/>
                </a:solidFill>
                <a:latin typeface="Segoe UI"/>
                <a:ea typeface="Segoe UI"/>
                <a:cs typeface="Segoe UI"/>
              </a:rPr>
              <a:t>Which old rows keep the same observation after migration?</a:t>
            </a:r>
          </a:p>
        </p:txBody>
      </p:sp>
      <p:sp>
        <p:nvSpPr>
          <p:cNvPr id="20" name="">
            <a:extLst xmlns:a="http://schemas.openxmlformats.org/drawingml/2006/main">
              <a:ext uri="{FF2B5EF4-FFF2-40B4-BE49-F238E27FC236}">
                <a16:creationId xmlns:a16="http://schemas.microsoft.com/office/drawing/2014/main" id="{4E83606F-E4E8-47F2-A1A2-96B7B395CB3C}"/>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5380"/>
                </a:solidFill>
                <a:latin typeface="Segoe UI"/>
                <a:ea typeface="Segoe UI"/>
                <a:cs typeface="Segoe UI"/>
              </a:defRPr>
            </a:pPr>
            <a:r>
              <a:rPr sz="1050" b="0">
                <a:solidFill>
                  <a:srgbClr val="575380"/>
                </a:solidFill>
                <a:latin typeface="Segoe UI"/>
                <a:ea typeface="Segoe UI"/>
                <a:cs typeface="Segoe UI"/>
              </a:rPr>
              <a:t>Setting: one explicit schema change; the old row is still available while migration runs.</a:t>
            </a:r>
          </a:p>
        </p:txBody>
      </p:sp>
    </p:spTree>
    <p:extLst>
      <p:ext uri="{BB962C8B-B14F-4D97-AF65-F5344CB8AC3E}">
        <p14:creationId xmlns:p14="http://schemas.microsoft.com/office/powerpoint/2010/main" val="1269500937"/>
      </p:ext>
    </p:extLst>
  </p:cSld>
</p:sld>
</file>

<file path=ppt/slides/slide3.xml><?xml version="1.0" encoding="utf-8"?>
<p:sld xmlns:p="http://schemas.openxmlformats.org/presentationml/2006/main">
  <p:cSld>
    <p:bg>
      <p:bgPr>
        <a:solidFill xmlns:a="http://schemas.openxmlformats.org/drawingml/2006/main">
          <a:srgbClr val="F3F4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2A59DF-D2A0-4D66-AC5F-43E3240C234D}"/>
              </a:ext>
            </a:extLst>
          </p:cNvPr>
          <p:cNvSpPr>
            <a:spLocks xmlns:a="http://schemas.openxmlformats.org/drawingml/2006/main" noGrp="1"/>
          </p:cNvSpPr>
          <p:nvPr/>
        </p:nvSpPr>
        <p:spPr>
          <a:xfrm xmlns:a="http://schemas.openxmlformats.org/drawingml/2006/main">
            <a:off x="590550" y="600075"/>
            <a:ext cx="11010900" cy="0"/>
          </a:xfrm>
          <a:prstGeom xmlns:a="http://schemas.openxmlformats.org/drawingml/2006/main" prst="line">
            <a:avLst/>
          </a:prstGeom>
          <a:noFill xmlns:a="http://schemas.openxmlformats.org/drawingml/2006/main"/>
          <a:ln xmlns:a="http://schemas.openxmlformats.org/drawingml/2006/main" w="12383">
            <a:solidFill>
              <a:srgbClr val="BFC4E2"/>
            </a:solidFill>
            <a:prstDash val="solid"/>
          </a:ln>
        </p:spPr>
      </p:sp>
      <p:sp>
        <p:nvSpPr>
          <p:cNvPr id="2" name="">
            <a:extLst xmlns:a="http://schemas.openxmlformats.org/drawingml/2006/main">
              <a:ext uri="{FF2B5EF4-FFF2-40B4-BE49-F238E27FC236}">
                <a16:creationId xmlns:a16="http://schemas.microsoft.com/office/drawing/2014/main" id="{692D538E-A942-4F7E-9CF1-EAE54AFA9B58}"/>
              </a:ext>
            </a:extLst>
          </p:cNvPr>
          <p:cNvSpPr>
            <a:spLocks xmlns:a="http://schemas.openxmlformats.org/drawingml/2006/main" noGrp="1"/>
          </p:cNvSpPr>
          <p:nvPr/>
        </p:nvSpPr>
        <p:spPr>
          <a:xfrm xmlns:a="http://schemas.openxmlformats.org/drawingml/2006/main">
            <a:off x="609600" y="2762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6A649E"/>
                </a:solidFill>
                <a:latin typeface="Segoe UI"/>
                <a:ea typeface="Segoe UI"/>
                <a:cs typeface="Segoe UI"/>
              </a:defRPr>
            </a:pPr>
            <a:r>
              <a:rPr sz="1050" b="1">
                <a:solidFill>
                  <a:srgbClr val="6A649E"/>
                </a:solidFill>
                <a:latin typeface="Segoe UI"/>
                <a:ea typeface="Segoe UI"/>
                <a:cs typeface="Segoe UI"/>
              </a:rPr>
              <a:t>MOTIVATING EXAMPLE</a:t>
            </a:r>
          </a:p>
        </p:txBody>
      </p:sp>
      <p:sp>
        <p:nvSpPr>
          <p:cNvPr id="3" name="">
            <a:extLst xmlns:a="http://schemas.openxmlformats.org/drawingml/2006/main">
              <a:ext uri="{FF2B5EF4-FFF2-40B4-BE49-F238E27FC236}">
                <a16:creationId xmlns:a16="http://schemas.microsoft.com/office/drawing/2014/main" id="{51A0F3E3-2C4E-4ACA-A9B7-F894CB330E90}"/>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75380"/>
                </a:solidFill>
                <a:latin typeface="Segoe UI"/>
                <a:ea typeface="Segoe UI"/>
                <a:cs typeface="Segoe UI"/>
              </a:defRPr>
            </a:pPr>
            <a:r>
              <a:rPr sz="1125" b="0">
                <a:solidFill>
                  <a:srgbClr val="575380"/>
                </a:solidFill>
                <a:latin typeface="Segoe UI"/>
                <a:ea typeface="Segoe UI"/>
                <a:cs typeface="Segoe UI"/>
              </a:rPr>
              <a:t>03</a:t>
            </a:r>
          </a:p>
        </p:txBody>
      </p:sp>
      <p:sp>
        <p:nvSpPr>
          <p:cNvPr id="4" name="">
            <a:extLst xmlns:a="http://schemas.openxmlformats.org/drawingml/2006/main">
              <a:ext uri="{FF2B5EF4-FFF2-40B4-BE49-F238E27FC236}">
                <a16:creationId xmlns:a16="http://schemas.microsoft.com/office/drawing/2014/main" id="{E3AB6D55-1D29-4D64-85F0-5D090BAC6987}"/>
              </a:ext>
            </a:extLst>
          </p:cNvPr>
          <p:cNvSpPr>
            <a:spLocks xmlns:a="http://schemas.openxmlformats.org/drawingml/2006/main" noGrp="1"/>
          </p:cNvSpPr>
          <p:nvPr/>
        </p:nvSpPr>
        <p:spPr>
          <a:xfrm xmlns:a="http://schemas.openxmlformats.org/drawingml/2006/main">
            <a:off x="590550" y="81915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B293D"/>
                </a:solidFill>
                <a:latin typeface="Segoe UI"/>
                <a:ea typeface="Segoe UI"/>
                <a:cs typeface="Segoe UI"/>
              </a:defRPr>
            </a:pPr>
            <a:r>
              <a:rPr sz="2925" b="1">
                <a:solidFill>
                  <a:srgbClr val="2B293D"/>
                </a:solidFill>
                <a:latin typeface="Segoe UI"/>
                <a:ea typeface="Segoe UI"/>
                <a:cs typeface="Segoe UI"/>
              </a:rPr>
              <a:t>One migration preserves ≥ 40 but changes &gt; 40 at 40.7</a:t>
            </a:r>
          </a:p>
        </p:txBody>
      </p:sp>
      <p:sp>
        <p:nvSpPr>
          <p:cNvPr id="5" name="">
            <a:extLst xmlns:a="http://schemas.openxmlformats.org/drawingml/2006/main">
              <a:ext uri="{FF2B5EF4-FFF2-40B4-BE49-F238E27FC236}">
                <a16:creationId xmlns:a16="http://schemas.microsoft.com/office/drawing/2014/main" id="{4268B2C2-4617-4DBC-B8FF-5A87644B7D5C}"/>
              </a:ext>
            </a:extLst>
          </p:cNvPr>
          <p:cNvSpPr>
            <a:spLocks xmlns:a="http://schemas.openxmlformats.org/drawingml/2006/main" noGrp="1"/>
          </p:cNvSpPr>
          <p:nvPr/>
        </p:nvSpPr>
        <p:spPr>
          <a:xfrm xmlns:a="http://schemas.openxmlformats.org/drawingml/2006/main">
            <a:off x="695325" y="17526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B293D"/>
                </a:solidFill>
                <a:latin typeface="Consolas"/>
                <a:ea typeface="Consolas"/>
                <a:cs typeface="Consolas"/>
              </a:defRPr>
            </a:pPr>
            <a:r>
              <a:rPr sz="2625" b="1">
                <a:solidFill>
                  <a:srgbClr val="2B293D"/>
                </a:solidFill>
                <a:latin typeface="Consolas"/>
                <a:ea typeface="Consolas"/>
                <a:cs typeface="Consolas"/>
              </a:rPr>
              <a:t>Decimal 40.7</a:t>
            </a:r>
          </a:p>
        </p:txBody>
      </p:sp>
      <p:sp>
        <p:nvSpPr>
          <p:cNvPr id="6" name="">
            <a:extLst xmlns:a="http://schemas.openxmlformats.org/drawingml/2006/main">
              <a:ext uri="{FF2B5EF4-FFF2-40B4-BE49-F238E27FC236}">
                <a16:creationId xmlns:a16="http://schemas.microsoft.com/office/drawing/2014/main" id="{3DDD604E-DCCE-4709-821E-44D2500B8C34}"/>
              </a:ext>
            </a:extLst>
          </p:cNvPr>
          <p:cNvSpPr>
            <a:spLocks xmlns:a="http://schemas.openxmlformats.org/drawingml/2006/main" noGrp="1"/>
          </p:cNvSpPr>
          <p:nvPr/>
        </p:nvSpPr>
        <p:spPr>
          <a:xfrm xmlns:a="http://schemas.openxmlformats.org/drawingml/2006/main">
            <a:off x="4324350" y="175260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A45339"/>
                </a:solidFill>
                <a:latin typeface="Segoe UI"/>
                <a:ea typeface="Segoe UI"/>
                <a:cs typeface="Segoe UI"/>
              </a:defRPr>
            </a:pPr>
            <a:r>
              <a:rPr sz="2925" b="1">
                <a:solidFill>
                  <a:srgbClr val="A45339"/>
                </a:solidFill>
                <a:latin typeface="Segoe UI"/>
                <a:ea typeface="Segoe UI"/>
                <a:cs typeface="Segoe UI"/>
              </a:rPr>
              <a:t>→</a:t>
            </a:r>
          </a:p>
        </p:txBody>
      </p:sp>
      <p:sp>
        <p:nvSpPr>
          <p:cNvPr id="7" name="">
            <a:extLst xmlns:a="http://schemas.openxmlformats.org/drawingml/2006/main">
              <a:ext uri="{FF2B5EF4-FFF2-40B4-BE49-F238E27FC236}">
                <a16:creationId xmlns:a16="http://schemas.microsoft.com/office/drawing/2014/main" id="{3C291151-B2DE-4B51-90C2-8659320CD143}"/>
              </a:ext>
            </a:extLst>
          </p:cNvPr>
          <p:cNvSpPr>
            <a:spLocks xmlns:a="http://schemas.openxmlformats.org/drawingml/2006/main" noGrp="1"/>
          </p:cNvSpPr>
          <p:nvPr/>
        </p:nvSpPr>
        <p:spPr>
          <a:xfrm xmlns:a="http://schemas.openxmlformats.org/drawingml/2006/main">
            <a:off x="5019675" y="17526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B293D"/>
                </a:solidFill>
                <a:latin typeface="Consolas"/>
                <a:ea typeface="Consolas"/>
                <a:cs typeface="Consolas"/>
              </a:defRPr>
            </a:pPr>
            <a:r>
              <a:rPr sz="2625" b="1">
                <a:solidFill>
                  <a:srgbClr val="2B293D"/>
                </a:solidFill>
                <a:latin typeface="Consolas"/>
                <a:ea typeface="Consolas"/>
                <a:cs typeface="Consolas"/>
              </a:rPr>
              <a:t>Integer 40</a:t>
            </a:r>
          </a:p>
        </p:txBody>
      </p:sp>
      <p:sp>
        <p:nvSpPr>
          <p:cNvPr id="8" name="">
            <a:extLst xmlns:a="http://schemas.openxmlformats.org/drawingml/2006/main">
              <a:ext uri="{FF2B5EF4-FFF2-40B4-BE49-F238E27FC236}">
                <a16:creationId xmlns:a16="http://schemas.microsoft.com/office/drawing/2014/main" id="{68D78736-B8DF-44E9-BCDE-59CA7A83E165}"/>
              </a:ext>
            </a:extLst>
          </p:cNvPr>
          <p:cNvSpPr>
            <a:spLocks xmlns:a="http://schemas.openxmlformats.org/drawingml/2006/main" noGrp="1"/>
          </p:cNvSpPr>
          <p:nvPr/>
        </p:nvSpPr>
        <p:spPr>
          <a:xfrm xmlns:a="http://schemas.openxmlformats.org/drawingml/2006/main">
            <a:off x="8724900" y="1847850"/>
            <a:ext cx="2533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75380"/>
                </a:solidFill>
                <a:latin typeface="Segoe UI"/>
                <a:ea typeface="Segoe UI"/>
                <a:cs typeface="Segoe UI"/>
              </a:defRPr>
            </a:pPr>
            <a:r>
              <a:rPr sz="1650" b="0">
                <a:solidFill>
                  <a:srgbClr val="575380"/>
                </a:solidFill>
                <a:latin typeface="Segoe UI"/>
                <a:ea typeface="Segoe UI"/>
                <a:cs typeface="Segoe UI"/>
              </a:rPr>
              <a:t>truncation</a:t>
            </a:r>
          </a:p>
        </p:txBody>
      </p:sp>
      <p:sp>
        <p:nvSpPr>
          <p:cNvPr id="9" name="">
            <a:extLst xmlns:a="http://schemas.openxmlformats.org/drawingml/2006/main">
              <a:ext uri="{FF2B5EF4-FFF2-40B4-BE49-F238E27FC236}">
                <a16:creationId xmlns:a16="http://schemas.microsoft.com/office/drawing/2014/main" id="{6EBDAC96-0526-4767-B5D8-AB115423B188}"/>
              </a:ext>
            </a:extLst>
          </p:cNvPr>
          <p:cNvSpPr>
            <a:spLocks xmlns:a="http://schemas.openxmlformats.org/drawingml/2006/main" noGrp="1"/>
          </p:cNvSpPr>
          <p:nvPr/>
        </p:nvSpPr>
        <p:spPr>
          <a:xfrm xmlns:a="http://schemas.openxmlformats.org/drawingml/2006/main">
            <a:off x="695325" y="2609850"/>
            <a:ext cx="10648950" cy="0"/>
          </a:xfrm>
          <a:prstGeom xmlns:a="http://schemas.openxmlformats.org/drawingml/2006/main" prst="line">
            <a:avLst/>
          </a:prstGeom>
          <a:noFill xmlns:a="http://schemas.openxmlformats.org/drawingml/2006/main"/>
          <a:ln xmlns:a="http://schemas.openxmlformats.org/drawingml/2006/main" w="19050">
            <a:solidFill>
              <a:srgbClr val="BFC4E2"/>
            </a:solidFill>
            <a:prstDash val="solid"/>
          </a:ln>
        </p:spPr>
      </p:sp>
      <p:sp>
        <p:nvSpPr>
          <p:cNvPr id="10" name="">
            <a:extLst xmlns:a="http://schemas.openxmlformats.org/drawingml/2006/main">
              <a:ext uri="{FF2B5EF4-FFF2-40B4-BE49-F238E27FC236}">
                <a16:creationId xmlns:a16="http://schemas.microsoft.com/office/drawing/2014/main" id="{12094AC2-9149-43FB-8C1E-7BCB327F3383}"/>
              </a:ext>
            </a:extLst>
          </p:cNvPr>
          <p:cNvSpPr>
            <a:spLocks xmlns:a="http://schemas.openxmlformats.org/drawingml/2006/main" noGrp="1"/>
          </p:cNvSpPr>
          <p:nvPr/>
        </p:nvSpPr>
        <p:spPr>
          <a:xfrm xmlns:a="http://schemas.openxmlformats.org/drawingml/2006/main">
            <a:off x="790575" y="290512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293D"/>
                </a:solidFill>
                <a:latin typeface="Consolas"/>
                <a:ea typeface="Consolas"/>
                <a:cs typeface="Consolas"/>
              </a:defRPr>
            </a:pPr>
            <a:r>
              <a:rPr sz="1950" b="1">
                <a:solidFill>
                  <a:srgbClr val="2B293D"/>
                </a:solidFill>
                <a:latin typeface="Consolas"/>
                <a:ea typeface="Consolas"/>
                <a:cs typeface="Consolas"/>
              </a:rPr>
              <a:t>keep score ≥ 40</a:t>
            </a:r>
          </a:p>
        </p:txBody>
      </p:sp>
      <p:sp>
        <p:nvSpPr>
          <p:cNvPr id="11" name="">
            <a:extLst xmlns:a="http://schemas.openxmlformats.org/drawingml/2006/main">
              <a:ext uri="{FF2B5EF4-FFF2-40B4-BE49-F238E27FC236}">
                <a16:creationId xmlns:a16="http://schemas.microsoft.com/office/drawing/2014/main" id="{7E0F8B90-2755-48D0-B229-2FB937180C10}"/>
              </a:ext>
            </a:extLst>
          </p:cNvPr>
          <p:cNvSpPr>
            <a:spLocks xmlns:a="http://schemas.openxmlformats.org/drawingml/2006/main" noGrp="1"/>
          </p:cNvSpPr>
          <p:nvPr/>
        </p:nvSpPr>
        <p:spPr>
          <a:xfrm xmlns:a="http://schemas.openxmlformats.org/drawingml/2006/main">
            <a:off x="5086350" y="2905125"/>
            <a:ext cx="280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A649E"/>
                </a:solidFill>
                <a:latin typeface="Consolas"/>
                <a:ea typeface="Consolas"/>
                <a:cs typeface="Consolas"/>
              </a:defRPr>
            </a:pPr>
            <a:r>
              <a:rPr sz="2025" b="1">
                <a:solidFill>
                  <a:srgbClr val="6A649E"/>
                </a:solidFill>
                <a:latin typeface="Consolas"/>
                <a:ea typeface="Consolas"/>
                <a:cs typeface="Consolas"/>
              </a:rPr>
              <a:t>true → true</a:t>
            </a:r>
          </a:p>
        </p:txBody>
      </p:sp>
      <p:sp>
        <p:nvSpPr>
          <p:cNvPr id="12" name="">
            <a:extLst xmlns:a="http://schemas.openxmlformats.org/drawingml/2006/main">
              <a:ext uri="{FF2B5EF4-FFF2-40B4-BE49-F238E27FC236}">
                <a16:creationId xmlns:a16="http://schemas.microsoft.com/office/drawing/2014/main" id="{581882DC-EA2F-4969-925D-9D7041D10276}"/>
              </a:ext>
            </a:extLst>
          </p:cNvPr>
          <p:cNvSpPr>
            <a:spLocks xmlns:a="http://schemas.openxmlformats.org/drawingml/2006/main" noGrp="1"/>
          </p:cNvSpPr>
          <p:nvPr/>
        </p:nvSpPr>
        <p:spPr>
          <a:xfrm xmlns:a="http://schemas.openxmlformats.org/drawingml/2006/main">
            <a:off x="8982075" y="2924175"/>
            <a:ext cx="2352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56B55"/>
                </a:solidFill>
                <a:latin typeface="Segoe UI"/>
                <a:ea typeface="Segoe UI"/>
                <a:cs typeface="Segoe UI"/>
              </a:defRPr>
            </a:pPr>
            <a:r>
              <a:rPr sz="1650" b="1">
                <a:solidFill>
                  <a:srgbClr val="256B55"/>
                </a:solidFill>
                <a:latin typeface="Segoe UI"/>
                <a:ea typeface="Segoe UI"/>
                <a:cs typeface="Segoe UI"/>
              </a:rPr>
              <a:t>PRESERVED</a:t>
            </a:r>
          </a:p>
        </p:txBody>
      </p:sp>
      <p:sp>
        <p:nvSpPr>
          <p:cNvPr id="13" name="">
            <a:extLst xmlns:a="http://schemas.openxmlformats.org/drawingml/2006/main">
              <a:ext uri="{FF2B5EF4-FFF2-40B4-BE49-F238E27FC236}">
                <a16:creationId xmlns:a16="http://schemas.microsoft.com/office/drawing/2014/main" id="{4EE1AEA4-AE0B-4484-85B3-7348592BDD4C}"/>
              </a:ext>
            </a:extLst>
          </p:cNvPr>
          <p:cNvSpPr>
            <a:spLocks xmlns:a="http://schemas.openxmlformats.org/drawingml/2006/main" noGrp="1"/>
          </p:cNvSpPr>
          <p:nvPr/>
        </p:nvSpPr>
        <p:spPr>
          <a:xfrm xmlns:a="http://schemas.openxmlformats.org/drawingml/2006/main">
            <a:off x="695325" y="3552825"/>
            <a:ext cx="10648950" cy="0"/>
          </a:xfrm>
          <a:prstGeom xmlns:a="http://schemas.openxmlformats.org/drawingml/2006/main" prst="line">
            <a:avLst/>
          </a:prstGeom>
          <a:noFill xmlns:a="http://schemas.openxmlformats.org/drawingml/2006/main"/>
          <a:ln xmlns:a="http://schemas.openxmlformats.org/drawingml/2006/main" w="9525">
            <a:solidFill>
              <a:srgbClr val="BFC4E2"/>
            </a:solidFill>
            <a:prstDash val="solid"/>
          </a:ln>
        </p:spPr>
      </p:sp>
      <p:sp>
        <p:nvSpPr>
          <p:cNvPr id="14" name="">
            <a:extLst xmlns:a="http://schemas.openxmlformats.org/drawingml/2006/main">
              <a:ext uri="{FF2B5EF4-FFF2-40B4-BE49-F238E27FC236}">
                <a16:creationId xmlns:a16="http://schemas.microsoft.com/office/drawing/2014/main" id="{6C1BDF3F-E87F-4937-8B65-9D45526632DE}"/>
              </a:ext>
            </a:extLst>
          </p:cNvPr>
          <p:cNvSpPr>
            <a:spLocks xmlns:a="http://schemas.openxmlformats.org/drawingml/2006/main" noGrp="1"/>
          </p:cNvSpPr>
          <p:nvPr/>
        </p:nvSpPr>
        <p:spPr>
          <a:xfrm xmlns:a="http://schemas.openxmlformats.org/drawingml/2006/main">
            <a:off x="790575" y="380047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B293D"/>
                </a:solidFill>
                <a:latin typeface="Consolas"/>
                <a:ea typeface="Consolas"/>
                <a:cs typeface="Consolas"/>
              </a:defRPr>
            </a:pPr>
            <a:r>
              <a:rPr sz="1950" b="1">
                <a:solidFill>
                  <a:srgbClr val="2B293D"/>
                </a:solidFill>
                <a:latin typeface="Consolas"/>
                <a:ea typeface="Consolas"/>
                <a:cs typeface="Consolas"/>
              </a:rPr>
              <a:t>keep score &gt; 40</a:t>
            </a:r>
          </a:p>
        </p:txBody>
      </p:sp>
      <p:sp>
        <p:nvSpPr>
          <p:cNvPr id="15" name="">
            <a:extLst xmlns:a="http://schemas.openxmlformats.org/drawingml/2006/main">
              <a:ext uri="{FF2B5EF4-FFF2-40B4-BE49-F238E27FC236}">
                <a16:creationId xmlns:a16="http://schemas.microsoft.com/office/drawing/2014/main" id="{EA04F909-96AB-4C22-9520-C7605D9EBBB9}"/>
              </a:ext>
            </a:extLst>
          </p:cNvPr>
          <p:cNvSpPr>
            <a:spLocks xmlns:a="http://schemas.openxmlformats.org/drawingml/2006/main" noGrp="1"/>
          </p:cNvSpPr>
          <p:nvPr/>
        </p:nvSpPr>
        <p:spPr>
          <a:xfrm xmlns:a="http://schemas.openxmlformats.org/drawingml/2006/main">
            <a:off x="5086350" y="3800475"/>
            <a:ext cx="3009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45339"/>
                </a:solidFill>
                <a:latin typeface="Consolas"/>
                <a:ea typeface="Consolas"/>
                <a:cs typeface="Consolas"/>
              </a:defRPr>
            </a:pPr>
            <a:r>
              <a:rPr sz="2025" b="1">
                <a:solidFill>
                  <a:srgbClr val="A45339"/>
                </a:solidFill>
                <a:latin typeface="Consolas"/>
                <a:ea typeface="Consolas"/>
                <a:cs typeface="Consolas"/>
              </a:rPr>
              <a:t>true → false</a:t>
            </a:r>
          </a:p>
        </p:txBody>
      </p:sp>
      <p:sp>
        <p:nvSpPr>
          <p:cNvPr id="16" name="">
            <a:extLst xmlns:a="http://schemas.openxmlformats.org/drawingml/2006/main">
              <a:ext uri="{FF2B5EF4-FFF2-40B4-BE49-F238E27FC236}">
                <a16:creationId xmlns:a16="http://schemas.microsoft.com/office/drawing/2014/main" id="{D25448B0-A5B9-41EB-90E2-8A2B7DD649B4}"/>
              </a:ext>
            </a:extLst>
          </p:cNvPr>
          <p:cNvSpPr>
            <a:spLocks xmlns:a="http://schemas.openxmlformats.org/drawingml/2006/main" noGrp="1"/>
          </p:cNvSpPr>
          <p:nvPr/>
        </p:nvSpPr>
        <p:spPr>
          <a:xfrm xmlns:a="http://schemas.openxmlformats.org/drawingml/2006/main">
            <a:off x="8982075" y="38290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A45339"/>
                </a:solidFill>
                <a:latin typeface="Segoe UI"/>
                <a:ea typeface="Segoe UI"/>
                <a:cs typeface="Segoe UI"/>
              </a:defRPr>
            </a:pPr>
            <a:r>
              <a:rPr sz="1650" b="1">
                <a:solidFill>
                  <a:srgbClr val="A45339"/>
                </a:solidFill>
                <a:latin typeface="Segoe UI"/>
                <a:ea typeface="Segoe UI"/>
                <a:cs typeface="Segoe UI"/>
              </a:rPr>
              <a:t>CONDITIONAL</a:t>
            </a:r>
          </a:p>
        </p:txBody>
      </p:sp>
      <p:sp>
        <p:nvSpPr>
          <p:cNvPr id="17" name="">
            <a:extLst xmlns:a="http://schemas.openxmlformats.org/drawingml/2006/main">
              <a:ext uri="{FF2B5EF4-FFF2-40B4-BE49-F238E27FC236}">
                <a16:creationId xmlns:a16="http://schemas.microsoft.com/office/drawing/2014/main" id="{1444103F-5449-424C-9454-53D96A69D29F}"/>
              </a:ext>
            </a:extLst>
          </p:cNvPr>
          <p:cNvSpPr>
            <a:spLocks xmlns:a="http://schemas.openxmlformats.org/drawingml/2006/main" noGrp="1"/>
          </p:cNvSpPr>
          <p:nvPr/>
        </p:nvSpPr>
        <p:spPr>
          <a:xfrm xmlns:a="http://schemas.openxmlformats.org/drawingml/2006/main">
            <a:off x="695325" y="4505325"/>
            <a:ext cx="10648950" cy="0"/>
          </a:xfrm>
          <a:prstGeom xmlns:a="http://schemas.openxmlformats.org/drawingml/2006/main" prst="line">
            <a:avLst/>
          </a:prstGeom>
          <a:noFill xmlns:a="http://schemas.openxmlformats.org/drawingml/2006/main"/>
          <a:ln xmlns:a="http://schemas.openxmlformats.org/drawingml/2006/main" w="19050">
            <a:solidFill>
              <a:srgbClr val="BFC4E2"/>
            </a:solidFill>
            <a:prstDash val="solid"/>
          </a:ln>
        </p:spPr>
      </p:sp>
      <p:sp>
        <p:nvSpPr>
          <p:cNvPr id="18" name="">
            <a:extLst xmlns:a="http://schemas.openxmlformats.org/drawingml/2006/main">
              <a:ext uri="{FF2B5EF4-FFF2-40B4-BE49-F238E27FC236}">
                <a16:creationId xmlns:a16="http://schemas.microsoft.com/office/drawing/2014/main" id="{6164C436-DA9B-4268-9D82-73B17FFCB87A}"/>
              </a:ext>
            </a:extLst>
          </p:cNvPr>
          <p:cNvSpPr>
            <a:spLocks xmlns:a="http://schemas.openxmlformats.org/drawingml/2006/main" noGrp="1"/>
          </p:cNvSpPr>
          <p:nvPr/>
        </p:nvSpPr>
        <p:spPr>
          <a:xfrm xmlns:a="http://schemas.openxmlformats.org/drawingml/2006/main">
            <a:off x="771525" y="48863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75380"/>
                </a:solidFill>
                <a:latin typeface="Segoe UI"/>
                <a:ea typeface="Segoe UI"/>
                <a:cs typeface="Segoe UI"/>
              </a:defRPr>
            </a:pPr>
            <a:r>
              <a:rPr sz="1425" b="1">
                <a:solidFill>
                  <a:srgbClr val="575380"/>
                </a:solidFill>
                <a:latin typeface="Segoe UI"/>
                <a:ea typeface="Segoe UI"/>
                <a:cs typeface="Segoe UI"/>
              </a:rPr>
              <a:t>Guard for the strict condition</a:t>
            </a:r>
          </a:p>
        </p:txBody>
      </p:sp>
      <p:sp>
        <p:nvSpPr>
          <p:cNvPr id="19" name="">
            <a:extLst xmlns:a="http://schemas.openxmlformats.org/drawingml/2006/main">
              <a:ext uri="{FF2B5EF4-FFF2-40B4-BE49-F238E27FC236}">
                <a16:creationId xmlns:a16="http://schemas.microsoft.com/office/drawing/2014/main" id="{55DC4EED-8ABF-4C27-A5C6-CB31631E2686}"/>
              </a:ext>
            </a:extLst>
          </p:cNvPr>
          <p:cNvSpPr>
            <a:spLocks xmlns:a="http://schemas.openxmlformats.org/drawingml/2006/main" noGrp="1"/>
          </p:cNvSpPr>
          <p:nvPr/>
        </p:nvSpPr>
        <p:spPr>
          <a:xfrm xmlns:a="http://schemas.openxmlformats.org/drawingml/2006/main">
            <a:off x="771525" y="5276850"/>
            <a:ext cx="9572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B293D"/>
                </a:solidFill>
                <a:latin typeface="Consolas"/>
                <a:ea typeface="Consolas"/>
                <a:cs typeface="Consolas"/>
              </a:defRPr>
            </a:pPr>
            <a:r>
              <a:rPr sz="2175" b="1">
                <a:solidFill>
                  <a:srgbClr val="2B293D"/>
                </a:solidFill>
                <a:latin typeface="Consolas"/>
                <a:ea typeface="Consolas"/>
                <a:cs typeface="Consolas"/>
              </a:rPr>
              <a:t>G(s): score ≤ 40  OR  score ≥ 41</a:t>
            </a:r>
          </a:p>
        </p:txBody>
      </p:sp>
      <p:sp>
        <p:nvSpPr>
          <p:cNvPr id="20" name="">
            <a:extLst xmlns:a="http://schemas.openxmlformats.org/drawingml/2006/main">
              <a:ext uri="{FF2B5EF4-FFF2-40B4-BE49-F238E27FC236}">
                <a16:creationId xmlns:a16="http://schemas.microsoft.com/office/drawing/2014/main" id="{1CFC8A1E-F6AE-4748-B6A3-66F119C2C29E}"/>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5380"/>
                </a:solidFill>
                <a:latin typeface="Segoe UI"/>
                <a:ea typeface="Segoe UI"/>
                <a:cs typeface="Segoe UI"/>
              </a:defRPr>
            </a:pPr>
            <a:r>
              <a:rPr sz="1050" b="0">
                <a:solidFill>
                  <a:srgbClr val="575380"/>
                </a:solidFill>
                <a:latin typeface="Segoe UI"/>
                <a:ea typeface="Segoe UI"/>
                <a:cs typeface="Segoe UI"/>
              </a:rPr>
              <a:t>The row 40.7 changes; the checker’s overall result is conditional because the guard excludes 40 &lt; score &lt; 41.</a:t>
            </a:r>
          </a:p>
        </p:txBody>
      </p:sp>
    </p:spTree>
    <p:extLst>
      <p:ext uri="{BB962C8B-B14F-4D97-AF65-F5344CB8AC3E}">
        <p14:creationId xmlns:p14="http://schemas.microsoft.com/office/powerpoint/2010/main" val="1381287709"/>
      </p:ext>
    </p:extLst>
  </p:cSld>
</p:sld>
</file>

<file path=ppt/slides/slide4.xml><?xml version="1.0" encoding="utf-8"?>
<p:sld xmlns:p="http://schemas.openxmlformats.org/presentationml/2006/main">
  <p:cSld>
    <p:bg>
      <p:bgPr>
        <a:solidFill xmlns:a="http://schemas.openxmlformats.org/drawingml/2006/main">
          <a:srgbClr val="F3F4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F6E3913-FC0E-4DDD-A5BC-17BA99FB4ABF}"/>
              </a:ext>
            </a:extLst>
          </p:cNvPr>
          <p:cNvSpPr>
            <a:spLocks xmlns:a="http://schemas.openxmlformats.org/drawingml/2006/main" noGrp="1"/>
          </p:cNvSpPr>
          <p:nvPr/>
        </p:nvSpPr>
        <p:spPr>
          <a:xfrm xmlns:a="http://schemas.openxmlformats.org/drawingml/2006/main">
            <a:off x="590550" y="600075"/>
            <a:ext cx="11010900" cy="0"/>
          </a:xfrm>
          <a:prstGeom xmlns:a="http://schemas.openxmlformats.org/drawingml/2006/main" prst="line">
            <a:avLst/>
          </a:prstGeom>
          <a:noFill xmlns:a="http://schemas.openxmlformats.org/drawingml/2006/main"/>
          <a:ln xmlns:a="http://schemas.openxmlformats.org/drawingml/2006/main" w="12383">
            <a:solidFill>
              <a:srgbClr val="BFC4E2"/>
            </a:solidFill>
            <a:prstDash val="solid"/>
          </a:ln>
        </p:spPr>
      </p:sp>
      <p:sp>
        <p:nvSpPr>
          <p:cNvPr id="2" name="">
            <a:extLst xmlns:a="http://schemas.openxmlformats.org/drawingml/2006/main">
              <a:ext uri="{FF2B5EF4-FFF2-40B4-BE49-F238E27FC236}">
                <a16:creationId xmlns:a16="http://schemas.microsoft.com/office/drawing/2014/main" id="{E9DAF5CD-0997-4CCB-BA2D-8D7C93E7EF3F}"/>
              </a:ext>
            </a:extLst>
          </p:cNvPr>
          <p:cNvSpPr>
            <a:spLocks xmlns:a="http://schemas.openxmlformats.org/drawingml/2006/main" noGrp="1"/>
          </p:cNvSpPr>
          <p:nvPr/>
        </p:nvSpPr>
        <p:spPr>
          <a:xfrm xmlns:a="http://schemas.openxmlformats.org/drawingml/2006/main">
            <a:off x="609600" y="2762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6A649E"/>
                </a:solidFill>
                <a:latin typeface="Segoe UI"/>
                <a:ea typeface="Segoe UI"/>
                <a:cs typeface="Segoe UI"/>
              </a:defRPr>
            </a:pPr>
            <a:r>
              <a:rPr sz="1050" b="1">
                <a:solidFill>
                  <a:srgbClr val="6A649E"/>
                </a:solidFill>
                <a:latin typeface="Segoe UI"/>
                <a:ea typeface="Segoe UI"/>
                <a:cs typeface="Segoe UI"/>
              </a:rPr>
              <a:t>RELATED WORK / PRECISE OPENING</a:t>
            </a:r>
          </a:p>
        </p:txBody>
      </p:sp>
      <p:sp>
        <p:nvSpPr>
          <p:cNvPr id="3" name="">
            <a:extLst xmlns:a="http://schemas.openxmlformats.org/drawingml/2006/main">
              <a:ext uri="{FF2B5EF4-FFF2-40B4-BE49-F238E27FC236}">
                <a16:creationId xmlns:a16="http://schemas.microsoft.com/office/drawing/2014/main" id="{9384FD08-7155-4683-A36E-E3AA4D4F538B}"/>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75380"/>
                </a:solidFill>
                <a:latin typeface="Segoe UI"/>
                <a:ea typeface="Segoe UI"/>
                <a:cs typeface="Segoe UI"/>
              </a:defRPr>
            </a:pPr>
            <a:r>
              <a:rPr sz="1125" b="0">
                <a:solidFill>
                  <a:srgbClr val="575380"/>
                </a:solidFill>
                <a:latin typeface="Segoe UI"/>
                <a:ea typeface="Segoe UI"/>
                <a:cs typeface="Segoe UI"/>
              </a:rPr>
              <a:t>04</a:t>
            </a:r>
          </a:p>
        </p:txBody>
      </p:sp>
      <p:sp>
        <p:nvSpPr>
          <p:cNvPr id="4" name="">
            <a:extLst xmlns:a="http://schemas.openxmlformats.org/drawingml/2006/main">
              <a:ext uri="{FF2B5EF4-FFF2-40B4-BE49-F238E27FC236}">
                <a16:creationId xmlns:a16="http://schemas.microsoft.com/office/drawing/2014/main" id="{D663B257-33D7-4099-92B0-60F893E226A3}"/>
              </a:ext>
            </a:extLst>
          </p:cNvPr>
          <p:cNvSpPr>
            <a:spLocks xmlns:a="http://schemas.openxmlformats.org/drawingml/2006/main" noGrp="1"/>
          </p:cNvSpPr>
          <p:nvPr/>
        </p:nvSpPr>
        <p:spPr>
          <a:xfrm xmlns:a="http://schemas.openxmlformats.org/drawingml/2006/main">
            <a:off x="590550" y="81915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B293D"/>
                </a:solidFill>
                <a:latin typeface="Segoe UI"/>
                <a:ea typeface="Segoe UI"/>
                <a:cs typeface="Segoe UI"/>
              </a:defRPr>
            </a:pPr>
            <a:r>
              <a:rPr sz="2925" b="1">
                <a:solidFill>
                  <a:srgbClr val="2B293D"/>
                </a:solidFill>
                <a:latin typeface="Segoe UI"/>
                <a:ea typeface="Segoe UI"/>
                <a:cs typeface="Segoe UI"/>
              </a:rPr>
              <a:t>Prior work covers schema evolution and pipeline robustness</a:t>
            </a:r>
          </a:p>
        </p:txBody>
      </p:sp>
      <p:graphicFrame>
        <p:nvGraphicFramePr>
          <p:cNvPr id="13" name=""/>
          <p:cNvGraphicFramePr/>
          <p:nvPr/>
        </p:nvGraphicFramePr>
        <p:xfrm>
          <a:off xmlns:a="http://schemas.openxmlformats.org/drawingml/2006/main" x="609600" y="1838325"/>
          <a:ext xmlns:a="http://schemas.openxmlformats.org/drawingml/2006/main" cx="10972800" cy="3181350"/>
        </p:xfrm>
        <a:graphic xmlns:a="http://schemas.openxmlformats.org/drawingml/2006/main">
          <a:graphicData uri="http://schemas.openxmlformats.org/drawingml/2006/table">
            <a:tbl>
              <a:tblPr firstRow="1" bandRow="0"/>
              <a:tblGrid>
                <a:gridCol w="2571750"/>
                <a:gridCol w="3981450"/>
                <a:gridCol w="4419600"/>
              </a:tblGrid>
              <a:tr h="795338">
                <a:tc>
                  <a:txBody>
                    <a:bodyPr>
                      <a:noAutofit/>
                    </a:bodyPr>
                    <a:lstStyle/>
                    <a:p>
                      <a:r>
                        <a:rPr sz="1425" b="1">
                          <a:solidFill>
                            <a:srgbClr val="FFFFFF"/>
                          </a:solidFill>
                          <a:latin typeface="Segoe UI"/>
                          <a:ea typeface="Segoe UI"/>
                          <a:cs typeface="Segoe UI"/>
                        </a:rPr>
                        <a:t>Work</a:t>
                      </a:r>
                    </a:p>
                  </a:txBody>
                  <a:tcPr marL="91440" marR="91440" marT="45720" marB="45720">
                    <a:solidFill>
                      <a:srgbClr val="2B293D"/>
                    </a:solidFill>
                  </a:tcPr>
                </a:tc>
                <a:tc>
                  <a:txBody>
                    <a:bodyPr>
                      <a:noAutofit/>
                    </a:bodyPr>
                    <a:lstStyle/>
                    <a:p>
                      <a:r>
                        <a:rPr sz="1425" b="1">
                          <a:solidFill>
                            <a:srgbClr val="FFFFFF"/>
                          </a:solidFill>
                          <a:latin typeface="Segoe UI"/>
                          <a:ea typeface="Segoe UI"/>
                          <a:cs typeface="Segoe UI"/>
                        </a:rPr>
                        <a:t>Established contribution</a:t>
                      </a:r>
                    </a:p>
                  </a:txBody>
                  <a:tcPr marL="91440" marR="91440" marT="45720" marB="45720">
                    <a:solidFill>
                      <a:srgbClr val="2B293D"/>
                    </a:solidFill>
                  </a:tcPr>
                </a:tc>
                <a:tc>
                  <a:txBody>
                    <a:bodyPr>
                      <a:noAutofit/>
                    </a:bodyPr>
                    <a:lstStyle/>
                    <a:p>
                      <a:r>
                        <a:rPr sz="1425" b="1">
                          <a:solidFill>
                            <a:srgbClr val="FFFFFF"/>
                          </a:solidFill>
                          <a:latin typeface="Segoe UI"/>
                          <a:ea typeface="Segoe UI"/>
                          <a:cs typeface="Segoe UI"/>
                        </a:rPr>
                        <a:t>The question evaluated in VeriFlow</a:t>
                      </a:r>
                    </a:p>
                  </a:txBody>
                  <a:tcPr marL="91440" marR="91440" marT="45720" marB="45720">
                    <a:solidFill>
                      <a:srgbClr val="2B293D"/>
                    </a:solidFill>
                  </a:tcPr>
                </a:tc>
              </a:tr>
              <a:tr h="795338">
                <a:tc>
                  <a:txBody>
                    <a:bodyPr>
                      <a:noAutofit/>
                    </a:bodyPr>
                    <a:lstStyle/>
                    <a:p>
                      <a:r>
                        <a:rPr sz="1425" b="0">
                          <a:solidFill>
                            <a:srgbClr val="2B293D"/>
                          </a:solidFill>
                          <a:latin typeface="Segoe UI"/>
                          <a:ea typeface="Segoe UI"/>
                          <a:cs typeface="Segoe UI"/>
                        </a:rPr>
                        <a:t>Curino et al., PRISM (2008)</a:t>
                      </a:r>
                    </a:p>
                  </a:txBody>
                  <a:tcPr marL="91440" marR="91440" marT="45720" marB="45720">
                    <a:solidFill>
                      <a:srgbClr val="FFFFFF"/>
                    </a:solidFill>
                  </a:tcPr>
                </a:tc>
                <a:tc>
                  <a:txBody>
                    <a:bodyPr>
                      <a:noAutofit/>
                    </a:bodyPr>
                    <a:lstStyle/>
                    <a:p>
                      <a:r>
                        <a:rPr sz="1425" b="0">
                          <a:solidFill>
                            <a:srgbClr val="2B293D"/>
                          </a:solidFill>
                          <a:latin typeface="Segoe UI"/>
                          <a:ea typeface="Segoe UI"/>
                          <a:cs typeface="Segoe UI"/>
                        </a:rPr>
                        <a:t>Schema impact, migration, query rewriting</a:t>
                      </a:r>
                    </a:p>
                  </a:txBody>
                  <a:tcPr marL="91440" marR="91440" marT="45720" marB="45720">
                    <a:solidFill>
                      <a:srgbClr val="FFFFFF"/>
                    </a:solidFill>
                  </a:tcPr>
                </a:tc>
                <a:tc>
                  <a:txBody>
                    <a:bodyPr>
                      <a:noAutofit/>
                    </a:bodyPr>
                    <a:lstStyle/>
                    <a:p>
                      <a:r>
                        <a:rPr sz="1425" b="0">
                          <a:solidFill>
                            <a:srgbClr val="2B293D"/>
                          </a:solidFill>
                          <a:latin typeface="Segoe UI"/>
                          <a:ea typeface="Segoe UI"/>
                          <a:cs typeface="Segoe UI"/>
                        </a:rPr>
                        <a:t>Value-dependent row-pipeline behavior</a:t>
                      </a:r>
                    </a:p>
                  </a:txBody>
                  <a:tcPr marL="91440" marR="91440" marT="45720" marB="45720">
                    <a:solidFill>
                      <a:srgbClr val="FFFFFF"/>
                    </a:solidFill>
                  </a:tcPr>
                </a:tc>
              </a:tr>
              <a:tr h="795338">
                <a:tc>
                  <a:txBody>
                    <a:bodyPr>
                      <a:noAutofit/>
                    </a:bodyPr>
                    <a:lstStyle/>
                    <a:p>
                      <a:r>
                        <a:rPr sz="1425" b="0">
                          <a:solidFill>
                            <a:srgbClr val="2B293D"/>
                          </a:solidFill>
                          <a:latin typeface="Segoe UI"/>
                          <a:ea typeface="Segoe UI"/>
                          <a:cs typeface="Segoe UI"/>
                        </a:rPr>
                        <a:t>Fan et al. (2012)</a:t>
                      </a:r>
                    </a:p>
                  </a:txBody>
                  <a:tcPr marL="91440" marR="91440" marT="45720" marB="45720">
                    <a:solidFill>
                      <a:srgbClr val="E9ECF6"/>
                    </a:solidFill>
                  </a:tcPr>
                </a:tc>
                <a:tc>
                  <a:txBody>
                    <a:bodyPr>
                      <a:noAutofit/>
                    </a:bodyPr>
                    <a:lstStyle/>
                    <a:p>
                      <a:r>
                        <a:rPr sz="1425" b="0">
                          <a:solidFill>
                            <a:srgbClr val="2B293D"/>
                          </a:solidFill>
                          <a:latin typeface="Segoe UI"/>
                          <a:ea typeface="Segoe UI"/>
                          <a:cs typeface="Segoe UI"/>
                        </a:rPr>
                        <a:t>Selected-information preservation</a:t>
                      </a:r>
                    </a:p>
                  </a:txBody>
                  <a:tcPr marL="91440" marR="91440" marT="45720" marB="45720">
                    <a:solidFill>
                      <a:srgbClr val="E9ECF6"/>
                    </a:solidFill>
                  </a:tcPr>
                </a:tc>
                <a:tc>
                  <a:txBody>
                    <a:bodyPr>
                      <a:noAutofit/>
                    </a:bodyPr>
                    <a:lstStyle/>
                    <a:p>
                      <a:r>
                        <a:rPr sz="1425" b="0">
                          <a:solidFill>
                            <a:srgbClr val="2B293D"/>
                          </a:solidFill>
                          <a:latin typeface="Segoe UI"/>
                          <a:ea typeface="Segoe UI"/>
                          <a:cs typeface="Segoe UI"/>
                        </a:rPr>
                        <a:t>Executable guards for validation and filtering</a:t>
                      </a:r>
                    </a:p>
                  </a:txBody>
                  <a:tcPr marL="91440" marR="91440" marT="45720" marB="45720">
                    <a:solidFill>
                      <a:srgbClr val="E9ECF6"/>
                    </a:solidFill>
                  </a:tcPr>
                </a:tc>
              </a:tr>
              <a:tr h="795338">
                <a:tc>
                  <a:txBody>
                    <a:bodyPr>
                      <a:noAutofit/>
                    </a:bodyPr>
                    <a:lstStyle/>
                    <a:p>
                      <a:r>
                        <a:rPr sz="1425" b="0">
                          <a:solidFill>
                            <a:srgbClr val="2B293D"/>
                          </a:solidFill>
                          <a:latin typeface="Segoe UI"/>
                          <a:ea typeface="Segoe UI"/>
                          <a:cs typeface="Segoe UI"/>
                        </a:rPr>
                        <a:t>Kramer et al. (2025)</a:t>
                      </a:r>
                    </a:p>
                  </a:txBody>
                  <a:tcPr marL="91440" marR="91440" marT="45720" marB="45720">
                    <a:solidFill>
                      <a:srgbClr val="FFFFFF"/>
                    </a:solidFill>
                  </a:tcPr>
                </a:tc>
                <a:tc>
                  <a:txBody>
                    <a:bodyPr>
                      <a:noAutofit/>
                    </a:bodyPr>
                    <a:lstStyle/>
                    <a:p>
                      <a:r>
                        <a:rPr sz="1425" b="0">
                          <a:solidFill>
                            <a:srgbClr val="2B293D"/>
                          </a:solidFill>
                          <a:latin typeface="Segoe UI"/>
                          <a:ea typeface="Segoe UI"/>
                          <a:cs typeface="Segoe UI"/>
                        </a:rPr>
                        <a:t>Operator robustness under schema edits</a:t>
                      </a:r>
                    </a:p>
                  </a:txBody>
                  <a:tcPr marL="91440" marR="91440" marT="45720" marB="45720">
                    <a:solidFill>
                      <a:srgbClr val="FFFFFF"/>
                    </a:solidFill>
                  </a:tcPr>
                </a:tc>
                <a:tc>
                  <a:txBody>
                    <a:bodyPr>
                      <a:noAutofit/>
                    </a:bodyPr>
                    <a:lstStyle/>
                    <a:p>
                      <a:r>
                        <a:rPr sz="1425" b="0">
                          <a:solidFill>
                            <a:srgbClr val="2B293D"/>
                          </a:solidFill>
                          <a:latin typeface="Segoe UI"/>
                          <a:ea typeface="Segoe UI"/>
                          <a:cs typeface="Segoe UI"/>
                        </a:rPr>
                        <a:t>Typed conversion rules with replay and CSV guard coverage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58C9C1B-F75E-4E7F-B07A-EF2AE25A82FF}"/>
              </a:ext>
            </a:extLst>
          </p:cNvPr>
          <p:cNvSpPr>
            <a:spLocks xmlns:a="http://schemas.openxmlformats.org/drawingml/2006/main" noGrp="1"/>
          </p:cNvSpPr>
          <p:nvPr/>
        </p:nvSpPr>
        <p:spPr>
          <a:xfrm xmlns:a="http://schemas.openxmlformats.org/drawingml/2006/main">
            <a:off x="647700" y="52578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6A649E"/>
                </a:solidFill>
                <a:latin typeface="Segoe UI"/>
                <a:ea typeface="Segoe UI"/>
                <a:cs typeface="Segoe UI"/>
              </a:defRPr>
            </a:pPr>
            <a:r>
              <a:rPr sz="1575" b="1">
                <a:solidFill>
                  <a:srgbClr val="6A649E"/>
                </a:solidFill>
                <a:latin typeface="Segoe UI"/>
                <a:ea typeface="Segoe UI"/>
                <a:cs typeface="Segoe UI"/>
              </a:rPr>
              <a:t>Candidate novelty</a:t>
            </a:r>
          </a:p>
        </p:txBody>
      </p:sp>
      <p:sp>
        <p:nvSpPr>
          <p:cNvPr id="7" name="">
            <a:extLst xmlns:a="http://schemas.openxmlformats.org/drawingml/2006/main">
              <a:ext uri="{FF2B5EF4-FFF2-40B4-BE49-F238E27FC236}">
                <a16:creationId xmlns:a16="http://schemas.microsoft.com/office/drawing/2014/main" id="{CA6BC5FD-064E-48E0-B058-313D8E23221B}"/>
              </a:ext>
            </a:extLst>
          </p:cNvPr>
          <p:cNvSpPr>
            <a:spLocks xmlns:a="http://schemas.openxmlformats.org/drawingml/2006/main" noGrp="1"/>
          </p:cNvSpPr>
          <p:nvPr/>
        </p:nvSpPr>
        <p:spPr>
          <a:xfrm xmlns:a="http://schemas.openxmlformats.org/drawingml/2006/main">
            <a:off x="647700" y="5610225"/>
            <a:ext cx="1064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B293D"/>
                </a:solidFill>
                <a:latin typeface="Segoe UI"/>
                <a:ea typeface="Segoe UI"/>
                <a:cs typeface="Segoe UI"/>
              </a:defRPr>
            </a:pPr>
            <a:r>
              <a:rPr sz="1875" b="1">
                <a:solidFill>
                  <a:srgbClr val="2B293D"/>
                </a:solidFill>
                <a:latin typeface="Segoe UI"/>
                <a:ea typeface="Segoe UI"/>
                <a:cs typeface="Segoe UI"/>
              </a:rPr>
              <a:t>A scoped executable contract: sufficient guard + replayed witness + measured admission on legacy CSV.</a:t>
            </a:r>
          </a:p>
        </p:txBody>
      </p:sp>
      <p:sp>
        <p:nvSpPr>
          <p:cNvPr id="8" name="">
            <a:extLst xmlns:a="http://schemas.openxmlformats.org/drawingml/2006/main">
              <a:ext uri="{FF2B5EF4-FFF2-40B4-BE49-F238E27FC236}">
                <a16:creationId xmlns:a16="http://schemas.microsoft.com/office/drawing/2014/main" id="{B584387B-52EC-4B53-92BA-7E215F482DE8}"/>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5380"/>
                </a:solidFill>
                <a:latin typeface="Segoe UI"/>
                <a:ea typeface="Segoe UI"/>
                <a:cs typeface="Segoe UI"/>
              </a:defRPr>
            </a:pPr>
            <a:r>
              <a:rPr sz="1050" b="0">
                <a:solidFill>
                  <a:srgbClr val="575380"/>
                </a:solidFill>
                <a:latin typeface="Segoe UI"/>
                <a:ea typeface="Segoe UI"/>
                <a:cs typeface="Segoe UI"/>
              </a:rPr>
              <a:t>Sources: Curino et al. 2008; Fan et al. 2012; Kramer et al. 2025. Full links in speaker notes.</a:t>
            </a:r>
          </a:p>
        </p:txBody>
      </p:sp>
    </p:spTree>
    <p:extLst>
      <p:ext uri="{BB962C8B-B14F-4D97-AF65-F5344CB8AC3E}">
        <p14:creationId xmlns:p14="http://schemas.microsoft.com/office/powerpoint/2010/main" val="1309307055"/>
      </p:ext>
    </p:extLst>
  </p:cSld>
</p:sld>
</file>

<file path=ppt/slides/slide5.xml><?xml version="1.0" encoding="utf-8"?>
<p:sld xmlns:p="http://schemas.openxmlformats.org/presentationml/2006/main">
  <p:cSld>
    <p:bg>
      <p:bgPr>
        <a:solidFill xmlns:a="http://schemas.openxmlformats.org/drawingml/2006/main">
          <a:srgbClr val="F3F4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00BDE9-E850-4788-B971-3E466B625E3B}"/>
              </a:ext>
            </a:extLst>
          </p:cNvPr>
          <p:cNvSpPr>
            <a:spLocks xmlns:a="http://schemas.openxmlformats.org/drawingml/2006/main" noGrp="1"/>
          </p:cNvSpPr>
          <p:nvPr/>
        </p:nvSpPr>
        <p:spPr>
          <a:xfrm xmlns:a="http://schemas.openxmlformats.org/drawingml/2006/main">
            <a:off x="590550" y="600075"/>
            <a:ext cx="11010900" cy="0"/>
          </a:xfrm>
          <a:prstGeom xmlns:a="http://schemas.openxmlformats.org/drawingml/2006/main" prst="line">
            <a:avLst/>
          </a:prstGeom>
          <a:noFill xmlns:a="http://schemas.openxmlformats.org/drawingml/2006/main"/>
          <a:ln xmlns:a="http://schemas.openxmlformats.org/drawingml/2006/main" w="12383">
            <a:solidFill>
              <a:srgbClr val="BFC4E2"/>
            </a:solidFill>
            <a:prstDash val="solid"/>
          </a:ln>
        </p:spPr>
      </p:sp>
      <p:sp>
        <p:nvSpPr>
          <p:cNvPr id="2" name="">
            <a:extLst xmlns:a="http://schemas.openxmlformats.org/drawingml/2006/main">
              <a:ext uri="{FF2B5EF4-FFF2-40B4-BE49-F238E27FC236}">
                <a16:creationId xmlns:a16="http://schemas.microsoft.com/office/drawing/2014/main" id="{C8BB4373-CDD3-4E83-901C-137CBD90AE83}"/>
              </a:ext>
            </a:extLst>
          </p:cNvPr>
          <p:cNvSpPr>
            <a:spLocks xmlns:a="http://schemas.openxmlformats.org/drawingml/2006/main" noGrp="1"/>
          </p:cNvSpPr>
          <p:nvPr/>
        </p:nvSpPr>
        <p:spPr>
          <a:xfrm xmlns:a="http://schemas.openxmlformats.org/drawingml/2006/main">
            <a:off x="609600" y="2762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6A649E"/>
                </a:solidFill>
                <a:latin typeface="Segoe UI"/>
                <a:ea typeface="Segoe UI"/>
                <a:cs typeface="Segoe UI"/>
              </a:defRPr>
            </a:pPr>
            <a:r>
              <a:rPr sz="1050" b="1">
                <a:solidFill>
                  <a:srgbClr val="6A649E"/>
                </a:solidFill>
                <a:latin typeface="Segoe UI"/>
                <a:ea typeface="Segoe UI"/>
                <a:cs typeface="Segoe UI"/>
              </a:rPr>
              <a:t>GUARANTEE / TWO EXECUTIONS</a:t>
            </a:r>
          </a:p>
        </p:txBody>
      </p:sp>
      <p:sp>
        <p:nvSpPr>
          <p:cNvPr id="3" name="">
            <a:extLst xmlns:a="http://schemas.openxmlformats.org/drawingml/2006/main">
              <a:ext uri="{FF2B5EF4-FFF2-40B4-BE49-F238E27FC236}">
                <a16:creationId xmlns:a16="http://schemas.microsoft.com/office/drawing/2014/main" id="{0391A716-C703-4053-B968-94F36BBDED58}"/>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75380"/>
                </a:solidFill>
                <a:latin typeface="Segoe UI"/>
                <a:ea typeface="Segoe UI"/>
                <a:cs typeface="Segoe UI"/>
              </a:defRPr>
            </a:pPr>
            <a:r>
              <a:rPr sz="1125" b="0">
                <a:solidFill>
                  <a:srgbClr val="575380"/>
                </a:solidFill>
                <a:latin typeface="Segoe UI"/>
                <a:ea typeface="Segoe UI"/>
                <a:cs typeface="Segoe UI"/>
              </a:rPr>
              <a:t>05</a:t>
            </a:r>
          </a:p>
        </p:txBody>
      </p:sp>
      <p:sp>
        <p:nvSpPr>
          <p:cNvPr id="4" name="">
            <a:extLst xmlns:a="http://schemas.openxmlformats.org/drawingml/2006/main">
              <a:ext uri="{FF2B5EF4-FFF2-40B4-BE49-F238E27FC236}">
                <a16:creationId xmlns:a16="http://schemas.microsoft.com/office/drawing/2014/main" id="{4696E8BA-0D78-49B8-8D33-201820321B00}"/>
              </a:ext>
            </a:extLst>
          </p:cNvPr>
          <p:cNvSpPr>
            <a:spLocks xmlns:a="http://schemas.openxmlformats.org/drawingml/2006/main" noGrp="1"/>
          </p:cNvSpPr>
          <p:nvPr/>
        </p:nvSpPr>
        <p:spPr>
          <a:xfrm xmlns:a="http://schemas.openxmlformats.org/drawingml/2006/main">
            <a:off x="590550" y="81915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B293D"/>
                </a:solidFill>
                <a:latin typeface="Segoe UI"/>
                <a:ea typeface="Segoe UI"/>
                <a:cs typeface="Segoe UI"/>
              </a:defRPr>
            </a:pPr>
            <a:r>
              <a:rPr sz="2925" b="1">
                <a:solidFill>
                  <a:srgbClr val="2B293D"/>
                </a:solidFill>
                <a:latin typeface="Segoe UI"/>
                <a:ea typeface="Segoe UI"/>
                <a:cs typeface="Segoe UI"/>
              </a:rPr>
              <a:t>A proved guard makes the two observations equal</a:t>
            </a:r>
          </a:p>
        </p:txBody>
      </p:sp>
      <p:sp>
        <p:nvSpPr>
          <p:cNvPr id="5" name="">
            <a:extLst xmlns:a="http://schemas.openxmlformats.org/drawingml/2006/main">
              <a:ext uri="{FF2B5EF4-FFF2-40B4-BE49-F238E27FC236}">
                <a16:creationId xmlns:a16="http://schemas.microsoft.com/office/drawing/2014/main" id="{C225AB74-8039-452C-A845-14DF2DBE62E4}"/>
              </a:ext>
            </a:extLst>
          </p:cNvPr>
          <p:cNvSpPr>
            <a:spLocks xmlns:a="http://schemas.openxmlformats.org/drawingml/2006/main" noGrp="1"/>
          </p:cNvSpPr>
          <p:nvPr/>
        </p:nvSpPr>
        <p:spPr>
          <a:xfrm xmlns:a="http://schemas.openxmlformats.org/drawingml/2006/main">
            <a:off x="685800" y="1771650"/>
            <a:ext cx="3371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5380"/>
                </a:solidFill>
                <a:latin typeface="Segoe UI"/>
                <a:ea typeface="Segoe UI"/>
                <a:cs typeface="Segoe UI"/>
              </a:defRPr>
            </a:pPr>
            <a:r>
              <a:rPr sz="1500" b="1">
                <a:solidFill>
                  <a:srgbClr val="575380"/>
                </a:solidFill>
                <a:latin typeface="Segoe UI"/>
                <a:ea typeface="Segoe UI"/>
                <a:cs typeface="Segoe UI"/>
              </a:rPr>
              <a:t>Original execution</a:t>
            </a:r>
          </a:p>
        </p:txBody>
      </p:sp>
      <p:sp>
        <p:nvSpPr>
          <p:cNvPr id="6" name="">
            <a:extLst xmlns:a="http://schemas.openxmlformats.org/drawingml/2006/main">
              <a:ext uri="{FF2B5EF4-FFF2-40B4-BE49-F238E27FC236}">
                <a16:creationId xmlns:a16="http://schemas.microsoft.com/office/drawing/2014/main" id="{C2965AB7-BF96-45A5-B8F2-F20501A011B7}"/>
              </a:ext>
            </a:extLst>
          </p:cNvPr>
          <p:cNvSpPr>
            <a:spLocks xmlns:a="http://schemas.openxmlformats.org/drawingml/2006/main" noGrp="1"/>
          </p:cNvSpPr>
          <p:nvPr/>
        </p:nvSpPr>
        <p:spPr>
          <a:xfrm xmlns:a="http://schemas.openxmlformats.org/drawingml/2006/main">
            <a:off x="685800" y="2247900"/>
            <a:ext cx="22193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6A649E"/>
            </a:solidFill>
            <a:prstDash val="solid"/>
          </a:ln>
        </p:spPr>
      </p:sp>
      <p:sp>
        <p:nvSpPr>
          <p:cNvPr id="7" name="">
            <a:extLst xmlns:a="http://schemas.openxmlformats.org/drawingml/2006/main">
              <a:ext uri="{FF2B5EF4-FFF2-40B4-BE49-F238E27FC236}">
                <a16:creationId xmlns:a16="http://schemas.microsoft.com/office/drawing/2014/main" id="{20869BEC-EDCF-4ECF-9451-6E7A00C0AFAC}"/>
              </a:ext>
            </a:extLst>
          </p:cNvPr>
          <p:cNvSpPr>
            <a:spLocks xmlns:a="http://schemas.openxmlformats.org/drawingml/2006/main" noGrp="1"/>
          </p:cNvSpPr>
          <p:nvPr/>
        </p:nvSpPr>
        <p:spPr>
          <a:xfrm xmlns:a="http://schemas.openxmlformats.org/drawingml/2006/main">
            <a:off x="828675" y="2362200"/>
            <a:ext cx="1933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B293D"/>
                </a:solidFill>
                <a:latin typeface="Consolas"/>
                <a:ea typeface="Consolas"/>
                <a:cs typeface="Consolas"/>
              </a:defRPr>
            </a:pPr>
            <a:r>
              <a:rPr sz="1575" b="1">
                <a:solidFill>
                  <a:srgbClr val="2B293D"/>
                </a:solidFill>
                <a:latin typeface="Consolas"/>
                <a:ea typeface="Consolas"/>
                <a:cs typeface="Consolas"/>
              </a:rPr>
              <a:t>old row s</a:t>
            </a:r>
          </a:p>
        </p:txBody>
      </p:sp>
      <p:sp>
        <p:nvSpPr>
          <p:cNvPr id="8" name="">
            <a:extLst xmlns:a="http://schemas.openxmlformats.org/drawingml/2006/main">
              <a:ext uri="{FF2B5EF4-FFF2-40B4-BE49-F238E27FC236}">
                <a16:creationId xmlns:a16="http://schemas.microsoft.com/office/drawing/2014/main" id="{D26A21C2-282D-4216-8E07-C8BE31FB0CC5}"/>
              </a:ext>
            </a:extLst>
          </p:cNvPr>
          <p:cNvSpPr>
            <a:spLocks xmlns:a="http://schemas.openxmlformats.org/drawingml/2006/main" noGrp="1"/>
          </p:cNvSpPr>
          <p:nvPr/>
        </p:nvSpPr>
        <p:spPr>
          <a:xfrm xmlns:a="http://schemas.openxmlformats.org/drawingml/2006/main">
            <a:off x="4324350" y="2247900"/>
            <a:ext cx="269557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6A649E"/>
            </a:solidFill>
            <a:prstDash val="solid"/>
          </a:ln>
        </p:spPr>
      </p:sp>
      <p:sp>
        <p:nvSpPr>
          <p:cNvPr id="9" name="">
            <a:extLst xmlns:a="http://schemas.openxmlformats.org/drawingml/2006/main">
              <a:ext uri="{FF2B5EF4-FFF2-40B4-BE49-F238E27FC236}">
                <a16:creationId xmlns:a16="http://schemas.microsoft.com/office/drawing/2014/main" id="{F81CD755-EC8B-4B13-914A-0E3B56B95068}"/>
              </a:ext>
            </a:extLst>
          </p:cNvPr>
          <p:cNvSpPr>
            <a:spLocks xmlns:a="http://schemas.openxmlformats.org/drawingml/2006/main" noGrp="1"/>
          </p:cNvSpPr>
          <p:nvPr/>
        </p:nvSpPr>
        <p:spPr>
          <a:xfrm xmlns:a="http://schemas.openxmlformats.org/drawingml/2006/main">
            <a:off x="4467225" y="2362200"/>
            <a:ext cx="2409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B293D"/>
                </a:solidFill>
                <a:latin typeface="Segoe UI"/>
                <a:ea typeface="Segoe UI"/>
                <a:cs typeface="Segoe UI"/>
              </a:defRPr>
            </a:pPr>
            <a:r>
              <a:rPr sz="1575" b="1">
                <a:solidFill>
                  <a:srgbClr val="2B293D"/>
                </a:solidFill>
                <a:latin typeface="Segoe UI"/>
                <a:ea typeface="Segoe UI"/>
                <a:cs typeface="Segoe UI"/>
              </a:rPr>
              <a:t>legacy pipeline P</a:t>
            </a:r>
          </a:p>
        </p:txBody>
      </p:sp>
      <p:sp>
        <p:nvSpPr>
          <p:cNvPr id="10" name="">
            <a:extLst xmlns:a="http://schemas.openxmlformats.org/drawingml/2006/main">
              <a:ext uri="{FF2B5EF4-FFF2-40B4-BE49-F238E27FC236}">
                <a16:creationId xmlns:a16="http://schemas.microsoft.com/office/drawing/2014/main" id="{D772D56C-8C08-474E-AE42-918D97916BD0}"/>
              </a:ext>
            </a:extLst>
          </p:cNvPr>
          <p:cNvSpPr>
            <a:spLocks xmlns:a="http://schemas.openxmlformats.org/drawingml/2006/main" noGrp="1"/>
          </p:cNvSpPr>
          <p:nvPr/>
        </p:nvSpPr>
        <p:spPr>
          <a:xfrm xmlns:a="http://schemas.openxmlformats.org/drawingml/2006/main">
            <a:off x="8782050" y="2247900"/>
            <a:ext cx="20764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6A649E"/>
            </a:solidFill>
            <a:prstDash val="solid"/>
          </a:ln>
        </p:spPr>
      </p:sp>
      <p:sp>
        <p:nvSpPr>
          <p:cNvPr id="11" name="">
            <a:extLst xmlns:a="http://schemas.openxmlformats.org/drawingml/2006/main">
              <a:ext uri="{FF2B5EF4-FFF2-40B4-BE49-F238E27FC236}">
                <a16:creationId xmlns:a16="http://schemas.microsoft.com/office/drawing/2014/main" id="{08B3490F-C08B-4244-BFC3-1F05780B68A1}"/>
              </a:ext>
            </a:extLst>
          </p:cNvPr>
          <p:cNvSpPr>
            <a:spLocks xmlns:a="http://schemas.openxmlformats.org/drawingml/2006/main" noGrp="1"/>
          </p:cNvSpPr>
          <p:nvPr/>
        </p:nvSpPr>
        <p:spPr>
          <a:xfrm xmlns:a="http://schemas.openxmlformats.org/drawingml/2006/main">
            <a:off x="8924925" y="23622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B293D"/>
                </a:solidFill>
                <a:latin typeface="Consolas"/>
                <a:ea typeface="Consolas"/>
                <a:cs typeface="Consolas"/>
              </a:defRPr>
            </a:pPr>
            <a:r>
              <a:rPr sz="1800" b="1">
                <a:solidFill>
                  <a:srgbClr val="2B293D"/>
                </a:solidFill>
                <a:latin typeface="Consolas"/>
                <a:ea typeface="Consolas"/>
                <a:cs typeface="Consolas"/>
              </a:rPr>
              <a:t>Obs₁</a:t>
            </a:r>
          </a:p>
        </p:txBody>
      </p:sp>
      <p:cxnSp>
        <p:nvCxnSpPr>
          <p:cNvPr id="40" name=""/>
          <p:cNvCxnSpPr>
            <a:stCxn xmlns:a="http://schemas.openxmlformats.org/drawingml/2006/main" id="6" idx="3"/>
            <a:endCxn xmlns:a="http://schemas.openxmlformats.org/drawingml/2006/main" id="8" idx="1"/>
          </p:cNvCxnSpPr>
          <p:nvPr/>
        </p:nvCxnSpPr>
        <p:spPr>
          <a:xfrm xmlns:a="http://schemas.openxmlformats.org/drawingml/2006/main">
            <a:off x="2905125" y="2590800"/>
            <a:ext cx="1419225" cy="0"/>
          </a:xfrm>
          <a:prstGeom xmlns:a="http://schemas.openxmlformats.org/drawingml/2006/main" prst="straightConnector1">
            <a:avLst/>
          </a:prstGeom>
          <a:ln xmlns:a="http://schemas.openxmlformats.org/drawingml/2006/main" w="23813">
            <a:solidFill>
              <a:srgbClr val="6A649E"/>
            </a:solidFill>
            <a:prstDash val="solid"/>
          </a:ln>
        </p:spPr>
      </p:cxnSp>
      <p:cxnSp>
        <p:nvCxnSpPr>
          <p:cNvPr id="41" name=""/>
          <p:cNvCxnSpPr>
            <a:stCxn xmlns:a="http://schemas.openxmlformats.org/drawingml/2006/main" id="8" idx="3"/>
            <a:endCxn xmlns:a="http://schemas.openxmlformats.org/drawingml/2006/main" id="10" idx="1"/>
          </p:cNvCxnSpPr>
          <p:nvPr/>
        </p:nvCxnSpPr>
        <p:spPr>
          <a:xfrm xmlns:a="http://schemas.openxmlformats.org/drawingml/2006/main">
            <a:off x="7019925" y="2590800"/>
            <a:ext cx="1762125" cy="0"/>
          </a:xfrm>
          <a:prstGeom xmlns:a="http://schemas.openxmlformats.org/drawingml/2006/main" prst="straightConnector1">
            <a:avLst/>
          </a:prstGeom>
          <a:ln xmlns:a="http://schemas.openxmlformats.org/drawingml/2006/main" w="23813">
            <a:solidFill>
              <a:srgbClr val="6A649E"/>
            </a:solidFill>
            <a:prstDash val="solid"/>
          </a:ln>
        </p:spPr>
      </p:cxnSp>
      <p:sp>
        <p:nvSpPr>
          <p:cNvPr id="14" name="">
            <a:extLst xmlns:a="http://schemas.openxmlformats.org/drawingml/2006/main">
              <a:ext uri="{FF2B5EF4-FFF2-40B4-BE49-F238E27FC236}">
                <a16:creationId xmlns:a16="http://schemas.microsoft.com/office/drawing/2014/main" id="{56FD0761-9C91-440F-98B1-89AE07B27F27}"/>
              </a:ext>
            </a:extLst>
          </p:cNvPr>
          <p:cNvSpPr>
            <a:spLocks xmlns:a="http://schemas.openxmlformats.org/drawingml/2006/main" noGrp="1"/>
          </p:cNvSpPr>
          <p:nvPr/>
        </p:nvSpPr>
        <p:spPr>
          <a:xfrm xmlns:a="http://schemas.openxmlformats.org/drawingml/2006/main">
            <a:off x="685800" y="3286125"/>
            <a:ext cx="3371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5380"/>
                </a:solidFill>
                <a:latin typeface="Segoe UI"/>
                <a:ea typeface="Segoe UI"/>
                <a:cs typeface="Segoe UI"/>
              </a:defRPr>
            </a:pPr>
            <a:r>
              <a:rPr sz="1500" b="1">
                <a:solidFill>
                  <a:srgbClr val="575380"/>
                </a:solidFill>
                <a:latin typeface="Segoe UI"/>
                <a:ea typeface="Segoe UI"/>
                <a:cs typeface="Segoe UI"/>
              </a:rPr>
              <a:t>Migrated execution</a:t>
            </a:r>
          </a:p>
        </p:txBody>
      </p:sp>
      <p:sp>
        <p:nvSpPr>
          <p:cNvPr id="15" name="">
            <a:extLst xmlns:a="http://schemas.openxmlformats.org/drawingml/2006/main">
              <a:ext uri="{FF2B5EF4-FFF2-40B4-BE49-F238E27FC236}">
                <a16:creationId xmlns:a16="http://schemas.microsoft.com/office/drawing/2014/main" id="{57EE3DD4-D281-4FA3-B805-E96C4C87CA1D}"/>
              </a:ext>
            </a:extLst>
          </p:cNvPr>
          <p:cNvSpPr>
            <a:spLocks xmlns:a="http://schemas.openxmlformats.org/drawingml/2006/main" noGrp="1"/>
          </p:cNvSpPr>
          <p:nvPr/>
        </p:nvSpPr>
        <p:spPr>
          <a:xfrm xmlns:a="http://schemas.openxmlformats.org/drawingml/2006/main">
            <a:off x="685800" y="3762375"/>
            <a:ext cx="22193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45339"/>
            </a:solidFill>
            <a:prstDash val="solid"/>
          </a:ln>
        </p:spPr>
      </p:sp>
      <p:sp>
        <p:nvSpPr>
          <p:cNvPr id="16" name="">
            <a:extLst xmlns:a="http://schemas.openxmlformats.org/drawingml/2006/main">
              <a:ext uri="{FF2B5EF4-FFF2-40B4-BE49-F238E27FC236}">
                <a16:creationId xmlns:a16="http://schemas.microsoft.com/office/drawing/2014/main" id="{BF1AF897-8B51-4A96-A5CE-A5BC230B3A82}"/>
              </a:ext>
            </a:extLst>
          </p:cNvPr>
          <p:cNvSpPr>
            <a:spLocks xmlns:a="http://schemas.openxmlformats.org/drawingml/2006/main" noGrp="1"/>
          </p:cNvSpPr>
          <p:nvPr/>
        </p:nvSpPr>
        <p:spPr>
          <a:xfrm xmlns:a="http://schemas.openxmlformats.org/drawingml/2006/main">
            <a:off x="828675" y="3876675"/>
            <a:ext cx="19335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B293D"/>
                </a:solidFill>
                <a:latin typeface="Consolas"/>
                <a:ea typeface="Consolas"/>
                <a:cs typeface="Consolas"/>
              </a:defRPr>
            </a:pPr>
            <a:r>
              <a:rPr sz="1575" b="1">
                <a:solidFill>
                  <a:srgbClr val="2B293D"/>
                </a:solidFill>
                <a:latin typeface="Consolas"/>
                <a:ea typeface="Consolas"/>
                <a:cs typeface="Consolas"/>
              </a:rPr>
              <a:t>old row s</a:t>
            </a:r>
          </a:p>
        </p:txBody>
      </p:sp>
      <p:sp>
        <p:nvSpPr>
          <p:cNvPr id="17" name="">
            <a:extLst xmlns:a="http://schemas.openxmlformats.org/drawingml/2006/main">
              <a:ext uri="{FF2B5EF4-FFF2-40B4-BE49-F238E27FC236}">
                <a16:creationId xmlns:a16="http://schemas.microsoft.com/office/drawing/2014/main" id="{F8FF8D95-35D4-4F1F-BA64-9CEFF7B59784}"/>
              </a:ext>
            </a:extLst>
          </p:cNvPr>
          <p:cNvSpPr>
            <a:spLocks xmlns:a="http://schemas.openxmlformats.org/drawingml/2006/main" noGrp="1"/>
          </p:cNvSpPr>
          <p:nvPr/>
        </p:nvSpPr>
        <p:spPr>
          <a:xfrm xmlns:a="http://schemas.openxmlformats.org/drawingml/2006/main">
            <a:off x="3524250" y="3762375"/>
            <a:ext cx="285750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45339"/>
            </a:solidFill>
            <a:prstDash val="solid"/>
          </a:ln>
        </p:spPr>
      </p:sp>
      <p:sp>
        <p:nvSpPr>
          <p:cNvPr id="18" name="">
            <a:extLst xmlns:a="http://schemas.openxmlformats.org/drawingml/2006/main">
              <a:ext uri="{FF2B5EF4-FFF2-40B4-BE49-F238E27FC236}">
                <a16:creationId xmlns:a16="http://schemas.microsoft.com/office/drawing/2014/main" id="{1C8A8705-494B-41A7-A887-0D2CE5FE4029}"/>
              </a:ext>
            </a:extLst>
          </p:cNvPr>
          <p:cNvSpPr>
            <a:spLocks xmlns:a="http://schemas.openxmlformats.org/drawingml/2006/main" noGrp="1"/>
          </p:cNvSpPr>
          <p:nvPr/>
        </p:nvSpPr>
        <p:spPr>
          <a:xfrm xmlns:a="http://schemas.openxmlformats.org/drawingml/2006/main">
            <a:off x="3667125" y="3876675"/>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B293D"/>
                </a:solidFill>
                <a:latin typeface="Segoe UI"/>
                <a:ea typeface="Segoe UI"/>
                <a:cs typeface="Segoe UI"/>
              </a:defRPr>
            </a:pPr>
            <a:r>
              <a:rPr sz="1575" b="1">
                <a:solidFill>
                  <a:srgbClr val="2B293D"/>
                </a:solidFill>
                <a:latin typeface="Segoe UI"/>
                <a:ea typeface="Segoe UI"/>
                <a:cs typeface="Segoe UI"/>
              </a:rPr>
              <a:t>F then adapter A</a:t>
            </a:r>
          </a:p>
        </p:txBody>
      </p:sp>
      <p:sp>
        <p:nvSpPr>
          <p:cNvPr id="19" name="">
            <a:extLst xmlns:a="http://schemas.openxmlformats.org/drawingml/2006/main">
              <a:ext uri="{FF2B5EF4-FFF2-40B4-BE49-F238E27FC236}">
                <a16:creationId xmlns:a16="http://schemas.microsoft.com/office/drawing/2014/main" id="{83E2F3F8-4DF0-4839-97DF-019F11E48B6E}"/>
              </a:ext>
            </a:extLst>
          </p:cNvPr>
          <p:cNvSpPr>
            <a:spLocks xmlns:a="http://schemas.openxmlformats.org/drawingml/2006/main" noGrp="1"/>
          </p:cNvSpPr>
          <p:nvPr/>
        </p:nvSpPr>
        <p:spPr>
          <a:xfrm xmlns:a="http://schemas.openxmlformats.org/drawingml/2006/main">
            <a:off x="7000875" y="3762375"/>
            <a:ext cx="24955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45339"/>
            </a:solidFill>
            <a:prstDash val="solid"/>
          </a:ln>
        </p:spPr>
      </p:sp>
      <p:sp>
        <p:nvSpPr>
          <p:cNvPr id="20" name="">
            <a:extLst xmlns:a="http://schemas.openxmlformats.org/drawingml/2006/main">
              <a:ext uri="{FF2B5EF4-FFF2-40B4-BE49-F238E27FC236}">
                <a16:creationId xmlns:a16="http://schemas.microsoft.com/office/drawing/2014/main" id="{90AA0EE2-C62A-433F-889D-0454D2B04286}"/>
              </a:ext>
            </a:extLst>
          </p:cNvPr>
          <p:cNvSpPr>
            <a:spLocks xmlns:a="http://schemas.openxmlformats.org/drawingml/2006/main" noGrp="1"/>
          </p:cNvSpPr>
          <p:nvPr/>
        </p:nvSpPr>
        <p:spPr>
          <a:xfrm xmlns:a="http://schemas.openxmlformats.org/drawingml/2006/main">
            <a:off x="7143750" y="3876675"/>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B293D"/>
                </a:solidFill>
                <a:latin typeface="Segoe UI"/>
                <a:ea typeface="Segoe UI"/>
                <a:cs typeface="Segoe UI"/>
              </a:defRPr>
            </a:pPr>
            <a:r>
              <a:rPr sz="1575" b="1">
                <a:solidFill>
                  <a:srgbClr val="2B293D"/>
                </a:solidFill>
                <a:latin typeface="Segoe UI"/>
                <a:ea typeface="Segoe UI"/>
                <a:cs typeface="Segoe UI"/>
              </a:rPr>
              <a:t>legacy pipeline P</a:t>
            </a:r>
          </a:p>
        </p:txBody>
      </p:sp>
      <p:sp>
        <p:nvSpPr>
          <p:cNvPr id="21" name="">
            <a:extLst xmlns:a="http://schemas.openxmlformats.org/drawingml/2006/main">
              <a:ext uri="{FF2B5EF4-FFF2-40B4-BE49-F238E27FC236}">
                <a16:creationId xmlns:a16="http://schemas.microsoft.com/office/drawing/2014/main" id="{CDC81CB1-7642-4F2B-A33F-A83C85F05176}"/>
              </a:ext>
            </a:extLst>
          </p:cNvPr>
          <p:cNvSpPr>
            <a:spLocks xmlns:a="http://schemas.openxmlformats.org/drawingml/2006/main" noGrp="1"/>
          </p:cNvSpPr>
          <p:nvPr/>
        </p:nvSpPr>
        <p:spPr>
          <a:xfrm xmlns:a="http://schemas.openxmlformats.org/drawingml/2006/main">
            <a:off x="10096500" y="3762375"/>
            <a:ext cx="138112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A45339"/>
            </a:solidFill>
            <a:prstDash val="solid"/>
          </a:ln>
        </p:spPr>
      </p:sp>
      <p:sp>
        <p:nvSpPr>
          <p:cNvPr id="22" name="">
            <a:extLst xmlns:a="http://schemas.openxmlformats.org/drawingml/2006/main">
              <a:ext uri="{FF2B5EF4-FFF2-40B4-BE49-F238E27FC236}">
                <a16:creationId xmlns:a16="http://schemas.microsoft.com/office/drawing/2014/main" id="{0E9A1B15-E8CD-485A-9AC1-57FE941C4CB0}"/>
              </a:ext>
            </a:extLst>
          </p:cNvPr>
          <p:cNvSpPr>
            <a:spLocks xmlns:a="http://schemas.openxmlformats.org/drawingml/2006/main" noGrp="1"/>
          </p:cNvSpPr>
          <p:nvPr/>
        </p:nvSpPr>
        <p:spPr>
          <a:xfrm xmlns:a="http://schemas.openxmlformats.org/drawingml/2006/main">
            <a:off x="10239375" y="3876675"/>
            <a:ext cx="109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B293D"/>
                </a:solidFill>
                <a:latin typeface="Consolas"/>
                <a:ea typeface="Consolas"/>
                <a:cs typeface="Consolas"/>
              </a:defRPr>
            </a:pPr>
            <a:r>
              <a:rPr sz="1500" b="1">
                <a:solidFill>
                  <a:srgbClr val="2B293D"/>
                </a:solidFill>
                <a:latin typeface="Consolas"/>
                <a:ea typeface="Consolas"/>
                <a:cs typeface="Consolas"/>
              </a:rPr>
              <a:t>Obs₂</a:t>
            </a:r>
          </a:p>
        </p:txBody>
      </p:sp>
      <p:cxnSp>
        <p:nvCxnSpPr>
          <p:cNvPr id="51" name=""/>
          <p:cNvCxnSpPr>
            <a:stCxn xmlns:a="http://schemas.openxmlformats.org/drawingml/2006/main" id="15" idx="3"/>
            <a:endCxn xmlns:a="http://schemas.openxmlformats.org/drawingml/2006/main" id="17" idx="1"/>
          </p:cNvCxnSpPr>
          <p:nvPr/>
        </p:nvCxnSpPr>
        <p:spPr>
          <a:xfrm xmlns:a="http://schemas.openxmlformats.org/drawingml/2006/main">
            <a:off x="2905125" y="4105275"/>
            <a:ext cx="619125" cy="0"/>
          </a:xfrm>
          <a:prstGeom xmlns:a="http://schemas.openxmlformats.org/drawingml/2006/main" prst="straightConnector1">
            <a:avLst/>
          </a:prstGeom>
          <a:ln xmlns:a="http://schemas.openxmlformats.org/drawingml/2006/main" w="23813">
            <a:solidFill>
              <a:srgbClr val="A45339"/>
            </a:solidFill>
            <a:prstDash val="solid"/>
          </a:ln>
        </p:spPr>
      </p:cxnSp>
      <p:cxnSp>
        <p:nvCxnSpPr>
          <p:cNvPr id="52" name=""/>
          <p:cNvCxnSpPr>
            <a:stCxn xmlns:a="http://schemas.openxmlformats.org/drawingml/2006/main" id="17" idx="3"/>
            <a:endCxn xmlns:a="http://schemas.openxmlformats.org/drawingml/2006/main" id="19" idx="1"/>
          </p:cNvCxnSpPr>
          <p:nvPr/>
        </p:nvCxnSpPr>
        <p:spPr>
          <a:xfrm xmlns:a="http://schemas.openxmlformats.org/drawingml/2006/main">
            <a:off x="6381750" y="4105275"/>
            <a:ext cx="619125" cy="0"/>
          </a:xfrm>
          <a:prstGeom xmlns:a="http://schemas.openxmlformats.org/drawingml/2006/main" prst="straightConnector1">
            <a:avLst/>
          </a:prstGeom>
          <a:ln xmlns:a="http://schemas.openxmlformats.org/drawingml/2006/main" w="23813">
            <a:solidFill>
              <a:srgbClr val="A45339"/>
            </a:solidFill>
            <a:prstDash val="solid"/>
          </a:ln>
        </p:spPr>
      </p:cxnSp>
      <p:cxnSp>
        <p:nvCxnSpPr>
          <p:cNvPr id="53" name=""/>
          <p:cNvCxnSpPr>
            <a:stCxn xmlns:a="http://schemas.openxmlformats.org/drawingml/2006/main" id="19" idx="3"/>
            <a:endCxn xmlns:a="http://schemas.openxmlformats.org/drawingml/2006/main" id="21" idx="1"/>
          </p:cNvCxnSpPr>
          <p:nvPr/>
        </p:nvCxnSpPr>
        <p:spPr>
          <a:xfrm xmlns:a="http://schemas.openxmlformats.org/drawingml/2006/main">
            <a:off x="9496425" y="4105275"/>
            <a:ext cx="600075" cy="0"/>
          </a:xfrm>
          <a:prstGeom xmlns:a="http://schemas.openxmlformats.org/drawingml/2006/main" prst="straightConnector1">
            <a:avLst/>
          </a:prstGeom>
          <a:ln xmlns:a="http://schemas.openxmlformats.org/drawingml/2006/main" w="23813">
            <a:solidFill>
              <a:srgbClr val="A45339"/>
            </a:solidFill>
            <a:prstDash val="solid"/>
          </a:ln>
        </p:spPr>
      </p:cxnSp>
      <p:sp>
        <p:nvSpPr>
          <p:cNvPr id="26" name="">
            <a:extLst xmlns:a="http://schemas.openxmlformats.org/drawingml/2006/main">
              <a:ext uri="{FF2B5EF4-FFF2-40B4-BE49-F238E27FC236}">
                <a16:creationId xmlns:a16="http://schemas.microsoft.com/office/drawing/2014/main" id="{92981F4B-2D50-4E2A-A75E-99CEFCBF027F}"/>
              </a:ext>
            </a:extLst>
          </p:cNvPr>
          <p:cNvSpPr>
            <a:spLocks xmlns:a="http://schemas.openxmlformats.org/drawingml/2006/main" noGrp="1"/>
          </p:cNvSpPr>
          <p:nvPr/>
        </p:nvSpPr>
        <p:spPr>
          <a:xfrm xmlns:a="http://schemas.openxmlformats.org/drawingml/2006/main">
            <a:off x="695325" y="4953000"/>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5380"/>
                </a:solidFill>
                <a:latin typeface="Segoe UI"/>
                <a:ea typeface="Segoe UI"/>
                <a:cs typeface="Segoe UI"/>
              </a:defRPr>
            </a:pPr>
            <a:r>
              <a:rPr sz="1575" b="1">
                <a:solidFill>
                  <a:srgbClr val="575380"/>
                </a:solidFill>
                <a:latin typeface="Segoe UI"/>
                <a:ea typeface="Segoe UI"/>
                <a:cs typeface="Segoe UI"/>
              </a:rPr>
              <a:t>If G(s) holds and F(s) is defined:</a:t>
            </a:r>
          </a:p>
        </p:txBody>
      </p:sp>
      <p:sp>
        <p:nvSpPr>
          <p:cNvPr id="27" name="">
            <a:extLst xmlns:a="http://schemas.openxmlformats.org/drawingml/2006/main">
              <a:ext uri="{FF2B5EF4-FFF2-40B4-BE49-F238E27FC236}">
                <a16:creationId xmlns:a16="http://schemas.microsoft.com/office/drawing/2014/main" id="{45AA52AA-3879-4968-82EC-927DA1E8BFBA}"/>
              </a:ext>
            </a:extLst>
          </p:cNvPr>
          <p:cNvSpPr>
            <a:spLocks xmlns:a="http://schemas.openxmlformats.org/drawingml/2006/main" noGrp="1"/>
          </p:cNvSpPr>
          <p:nvPr/>
        </p:nvSpPr>
        <p:spPr>
          <a:xfrm xmlns:a="http://schemas.openxmlformats.org/drawingml/2006/main">
            <a:off x="695325" y="5362575"/>
            <a:ext cx="9001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B293D"/>
                </a:solidFill>
                <a:latin typeface="Consolas"/>
                <a:ea typeface="Consolas"/>
                <a:cs typeface="Consolas"/>
              </a:defRPr>
            </a:pPr>
            <a:r>
              <a:rPr sz="2325" b="1">
                <a:solidFill>
                  <a:srgbClr val="2B293D"/>
                </a:solidFill>
                <a:latin typeface="Consolas"/>
                <a:ea typeface="Consolas"/>
                <a:cs typeface="Consolas"/>
              </a:rPr>
              <a:t>Obs(P,s) = Obs(P,A(F(s)))</a:t>
            </a:r>
          </a:p>
        </p:txBody>
      </p:sp>
      <p:sp>
        <p:nvSpPr>
          <p:cNvPr id="28" name="">
            <a:extLst xmlns:a="http://schemas.openxmlformats.org/drawingml/2006/main">
              <a:ext uri="{FF2B5EF4-FFF2-40B4-BE49-F238E27FC236}">
                <a16:creationId xmlns:a16="http://schemas.microsoft.com/office/drawing/2014/main" id="{143DF02F-716F-45D8-9EFA-933D0D3FE757}"/>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5380"/>
                </a:solidFill>
                <a:latin typeface="Segoe UI"/>
                <a:ea typeface="Segoe UI"/>
                <a:cs typeface="Segoe UI"/>
              </a:defRPr>
            </a:pPr>
            <a:r>
              <a:rPr sz="1050" b="0">
                <a:solidFill>
                  <a:srgbClr val="575380"/>
                </a:solidFill>
                <a:latin typeface="Segoe UI"/>
                <a:ea typeface="Segoe UI"/>
                <a:cs typeface="Segoe UI"/>
              </a:rPr>
              <a:t>G checks the old row during migration. This does not certify arbitrary new-only rows.</a:t>
            </a:r>
          </a:p>
        </p:txBody>
      </p:sp>
    </p:spTree>
    <p:extLst>
      <p:ext uri="{BB962C8B-B14F-4D97-AF65-F5344CB8AC3E}">
        <p14:creationId xmlns:p14="http://schemas.microsoft.com/office/powerpoint/2010/main" val="1141807280"/>
      </p:ext>
    </p:extLst>
  </p:cSld>
</p:sld>
</file>

<file path=ppt/slides/slide6.xml><?xml version="1.0" encoding="utf-8"?>
<p:sld xmlns:p="http://schemas.openxmlformats.org/presentationml/2006/main">
  <p:cSld>
    <p:bg>
      <p:bgPr>
        <a:solidFill xmlns:a="http://schemas.openxmlformats.org/drawingml/2006/main">
          <a:srgbClr val="F3F4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91CA294-EDA7-48F3-A46A-EF806AA6FDC7}"/>
              </a:ext>
            </a:extLst>
          </p:cNvPr>
          <p:cNvSpPr>
            <a:spLocks xmlns:a="http://schemas.openxmlformats.org/drawingml/2006/main" noGrp="1"/>
          </p:cNvSpPr>
          <p:nvPr/>
        </p:nvSpPr>
        <p:spPr>
          <a:xfrm xmlns:a="http://schemas.openxmlformats.org/drawingml/2006/main">
            <a:off x="590550" y="600075"/>
            <a:ext cx="11010900" cy="0"/>
          </a:xfrm>
          <a:prstGeom xmlns:a="http://schemas.openxmlformats.org/drawingml/2006/main" prst="line">
            <a:avLst/>
          </a:prstGeom>
          <a:noFill xmlns:a="http://schemas.openxmlformats.org/drawingml/2006/main"/>
          <a:ln xmlns:a="http://schemas.openxmlformats.org/drawingml/2006/main" w="12383">
            <a:solidFill>
              <a:srgbClr val="BFC4E2"/>
            </a:solidFill>
            <a:prstDash val="solid"/>
          </a:ln>
        </p:spPr>
      </p:sp>
      <p:sp>
        <p:nvSpPr>
          <p:cNvPr id="2" name="">
            <a:extLst xmlns:a="http://schemas.openxmlformats.org/drawingml/2006/main">
              <a:ext uri="{FF2B5EF4-FFF2-40B4-BE49-F238E27FC236}">
                <a16:creationId xmlns:a16="http://schemas.microsoft.com/office/drawing/2014/main" id="{035A498F-D5ED-40D9-9A7D-70D62A8F2A1E}"/>
              </a:ext>
            </a:extLst>
          </p:cNvPr>
          <p:cNvSpPr>
            <a:spLocks xmlns:a="http://schemas.openxmlformats.org/drawingml/2006/main" noGrp="1"/>
          </p:cNvSpPr>
          <p:nvPr/>
        </p:nvSpPr>
        <p:spPr>
          <a:xfrm xmlns:a="http://schemas.openxmlformats.org/drawingml/2006/main">
            <a:off x="609600" y="2762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6A649E"/>
                </a:solidFill>
                <a:latin typeface="Segoe UI"/>
                <a:ea typeface="Segoe UI"/>
                <a:cs typeface="Segoe UI"/>
              </a:defRPr>
            </a:pPr>
            <a:r>
              <a:rPr sz="1050" b="1">
                <a:solidFill>
                  <a:srgbClr val="6A649E"/>
                </a:solidFill>
                <a:latin typeface="Segoe UI"/>
                <a:ea typeface="Segoe UI"/>
                <a:cs typeface="Segoe UI"/>
              </a:rPr>
              <a:t>METHOD / ANALYSIS AND EXECUTION</a:t>
            </a:r>
          </a:p>
        </p:txBody>
      </p:sp>
      <p:sp>
        <p:nvSpPr>
          <p:cNvPr id="3" name="">
            <a:extLst xmlns:a="http://schemas.openxmlformats.org/drawingml/2006/main">
              <a:ext uri="{FF2B5EF4-FFF2-40B4-BE49-F238E27FC236}">
                <a16:creationId xmlns:a16="http://schemas.microsoft.com/office/drawing/2014/main" id="{C110DD14-EDD2-40E8-8B16-4EAEDB1B92B2}"/>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75380"/>
                </a:solidFill>
                <a:latin typeface="Segoe UI"/>
                <a:ea typeface="Segoe UI"/>
                <a:cs typeface="Segoe UI"/>
              </a:defRPr>
            </a:pPr>
            <a:r>
              <a:rPr sz="1125" b="0">
                <a:solidFill>
                  <a:srgbClr val="575380"/>
                </a:solidFill>
                <a:latin typeface="Segoe UI"/>
                <a:ea typeface="Segoe UI"/>
                <a:cs typeface="Segoe UI"/>
              </a:rPr>
              <a:t>06</a:t>
            </a:r>
          </a:p>
        </p:txBody>
      </p:sp>
      <p:sp>
        <p:nvSpPr>
          <p:cNvPr id="4" name="">
            <a:extLst xmlns:a="http://schemas.openxmlformats.org/drawingml/2006/main">
              <a:ext uri="{FF2B5EF4-FFF2-40B4-BE49-F238E27FC236}">
                <a16:creationId xmlns:a16="http://schemas.microsoft.com/office/drawing/2014/main" id="{689EA307-A836-444C-A781-7B87454FBD58}"/>
              </a:ext>
            </a:extLst>
          </p:cNvPr>
          <p:cNvSpPr>
            <a:spLocks xmlns:a="http://schemas.openxmlformats.org/drawingml/2006/main" noGrp="1"/>
          </p:cNvSpPr>
          <p:nvPr/>
        </p:nvSpPr>
        <p:spPr>
          <a:xfrm xmlns:a="http://schemas.openxmlformats.org/drawingml/2006/main">
            <a:off x="590550" y="81915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B293D"/>
                </a:solidFill>
                <a:latin typeface="Segoe UI"/>
                <a:ea typeface="Segoe UI"/>
                <a:cs typeface="Segoe UI"/>
              </a:defRPr>
            </a:pPr>
            <a:r>
              <a:rPr sz="2925" b="1">
                <a:solidFill>
                  <a:srgbClr val="2B293D"/>
                </a:solidFill>
                <a:latin typeface="Segoe UI"/>
                <a:ea typeface="Segoe UI"/>
                <a:cs typeface="Segoe UI"/>
              </a:rPr>
              <a:t>The checker returns proof, guard, replayed break, or unknown</a:t>
            </a:r>
          </a:p>
        </p:txBody>
      </p:sp>
      <p:sp>
        <p:nvSpPr>
          <p:cNvPr id="5" name="">
            <a:extLst xmlns:a="http://schemas.openxmlformats.org/drawingml/2006/main">
              <a:ext uri="{FF2B5EF4-FFF2-40B4-BE49-F238E27FC236}">
                <a16:creationId xmlns:a16="http://schemas.microsoft.com/office/drawing/2014/main" id="{6DD90E64-9C2F-4465-981B-C96987208875}"/>
              </a:ext>
            </a:extLst>
          </p:cNvPr>
          <p:cNvSpPr>
            <a:spLocks xmlns:a="http://schemas.openxmlformats.org/drawingml/2006/main" noGrp="1"/>
          </p:cNvSpPr>
          <p:nvPr/>
        </p:nvSpPr>
        <p:spPr>
          <a:xfrm xmlns:a="http://schemas.openxmlformats.org/drawingml/2006/main">
            <a:off x="685800" y="1876425"/>
            <a:ext cx="1247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A649E"/>
                </a:solidFill>
                <a:latin typeface="Segoe UI"/>
                <a:ea typeface="Segoe UI"/>
                <a:cs typeface="Segoe UI"/>
              </a:defRPr>
            </a:pPr>
            <a:r>
              <a:rPr sz="3600" b="1">
                <a:solidFill>
                  <a:srgbClr val="6A649E"/>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73FCA278-85EC-43C6-B079-18A40C185DE7}"/>
              </a:ext>
            </a:extLst>
          </p:cNvPr>
          <p:cNvSpPr>
            <a:spLocks xmlns:a="http://schemas.openxmlformats.org/drawingml/2006/main" noGrp="1"/>
          </p:cNvSpPr>
          <p:nvPr/>
        </p:nvSpPr>
        <p:spPr>
          <a:xfrm xmlns:a="http://schemas.openxmlformats.org/drawingml/2006/main">
            <a:off x="1514475" y="1952625"/>
            <a:ext cx="2552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B293D"/>
                </a:solidFill>
                <a:latin typeface="Segoe UI"/>
                <a:ea typeface="Segoe UI"/>
                <a:cs typeface="Segoe UI"/>
              </a:defRPr>
            </a:pPr>
            <a:r>
              <a:rPr sz="1800" b="1">
                <a:solidFill>
                  <a:srgbClr val="2B293D"/>
                </a:solidFill>
                <a:latin typeface="Segoe UI"/>
                <a:ea typeface="Segoe UI"/>
                <a:cs typeface="Segoe UI"/>
              </a:rPr>
              <a:t>Trace used fields</a:t>
            </a:r>
          </a:p>
        </p:txBody>
      </p:sp>
      <p:sp>
        <p:nvSpPr>
          <p:cNvPr id="7" name="">
            <a:extLst xmlns:a="http://schemas.openxmlformats.org/drawingml/2006/main">
              <a:ext uri="{FF2B5EF4-FFF2-40B4-BE49-F238E27FC236}">
                <a16:creationId xmlns:a16="http://schemas.microsoft.com/office/drawing/2014/main" id="{29FFD5C3-D413-4041-B940-089EAABDEBBA}"/>
              </a:ext>
            </a:extLst>
          </p:cNvPr>
          <p:cNvSpPr>
            <a:spLocks xmlns:a="http://schemas.openxmlformats.org/drawingml/2006/main" noGrp="1"/>
          </p:cNvSpPr>
          <p:nvPr/>
        </p:nvSpPr>
        <p:spPr>
          <a:xfrm xmlns:a="http://schemas.openxmlformats.org/drawingml/2006/main">
            <a:off x="1514475" y="2381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75380"/>
                </a:solidFill>
                <a:latin typeface="Segoe UI"/>
                <a:ea typeface="Segoe UI"/>
                <a:cs typeface="Segoe UI"/>
              </a:defRPr>
            </a:pPr>
            <a:r>
              <a:rPr sz="1425" b="0">
                <a:solidFill>
                  <a:srgbClr val="575380"/>
                </a:solidFill>
                <a:latin typeface="Segoe UI"/>
                <a:ea typeface="Segoe UI"/>
                <a:cs typeface="Segoe UI"/>
              </a:rPr>
              <a:t>let · require · keep · select</a:t>
            </a:r>
          </a:p>
        </p:txBody>
      </p:sp>
      <p:sp>
        <p:nvSpPr>
          <p:cNvPr id="8" name="">
            <a:extLst xmlns:a="http://schemas.openxmlformats.org/drawingml/2006/main">
              <a:ext uri="{FF2B5EF4-FFF2-40B4-BE49-F238E27FC236}">
                <a16:creationId xmlns:a16="http://schemas.microsoft.com/office/drawing/2014/main" id="{30FAFA37-73B3-43EF-85F9-55A5D3F663F7}"/>
              </a:ext>
            </a:extLst>
          </p:cNvPr>
          <p:cNvSpPr>
            <a:spLocks xmlns:a="http://schemas.openxmlformats.org/drawingml/2006/main" noGrp="1"/>
          </p:cNvSpPr>
          <p:nvPr/>
        </p:nvSpPr>
        <p:spPr>
          <a:xfrm xmlns:a="http://schemas.openxmlformats.org/drawingml/2006/main">
            <a:off x="4095750" y="2314575"/>
            <a:ext cx="400050" cy="0"/>
          </a:xfrm>
          <a:prstGeom xmlns:a="http://schemas.openxmlformats.org/drawingml/2006/main" prst="line">
            <a:avLst/>
          </a:prstGeom>
          <a:noFill xmlns:a="http://schemas.openxmlformats.org/drawingml/2006/main"/>
          <a:ln xmlns:a="http://schemas.openxmlformats.org/drawingml/2006/main" w="19050">
            <a:solidFill>
              <a:srgbClr val="BFC4E2"/>
            </a:solidFill>
            <a:prstDash val="solid"/>
          </a:ln>
        </p:spPr>
      </p:sp>
      <p:sp>
        <p:nvSpPr>
          <p:cNvPr id="9" name="">
            <a:extLst xmlns:a="http://schemas.openxmlformats.org/drawingml/2006/main">
              <a:ext uri="{FF2B5EF4-FFF2-40B4-BE49-F238E27FC236}">
                <a16:creationId xmlns:a16="http://schemas.microsoft.com/office/drawing/2014/main" id="{A3C68D0E-269F-4AEE-90AD-548C37CA842C}"/>
              </a:ext>
            </a:extLst>
          </p:cNvPr>
          <p:cNvSpPr>
            <a:spLocks xmlns:a="http://schemas.openxmlformats.org/drawingml/2006/main" noGrp="1"/>
          </p:cNvSpPr>
          <p:nvPr/>
        </p:nvSpPr>
        <p:spPr>
          <a:xfrm xmlns:a="http://schemas.openxmlformats.org/drawingml/2006/main">
            <a:off x="4648200" y="1876425"/>
            <a:ext cx="1257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6A649E"/>
                </a:solidFill>
                <a:latin typeface="Segoe UI"/>
                <a:ea typeface="Segoe UI"/>
                <a:cs typeface="Segoe UI"/>
              </a:defRPr>
            </a:pPr>
            <a:r>
              <a:rPr sz="3600" b="1">
                <a:solidFill>
                  <a:srgbClr val="6A649E"/>
                </a:solidFill>
                <a:latin typeface="Segoe UI"/>
                <a:ea typeface="Segoe UI"/>
                <a:cs typeface="Segoe UI"/>
              </a:rPr>
              <a:t>02</a:t>
            </a:r>
          </a:p>
        </p:txBody>
      </p:sp>
      <p:sp>
        <p:nvSpPr>
          <p:cNvPr id="10" name="">
            <a:extLst xmlns:a="http://schemas.openxmlformats.org/drawingml/2006/main">
              <a:ext uri="{FF2B5EF4-FFF2-40B4-BE49-F238E27FC236}">
                <a16:creationId xmlns:a16="http://schemas.microsoft.com/office/drawing/2014/main" id="{08364FDC-3AAD-4268-8AB1-49F4668B8FB9}"/>
              </a:ext>
            </a:extLst>
          </p:cNvPr>
          <p:cNvSpPr>
            <a:spLocks xmlns:a="http://schemas.openxmlformats.org/drawingml/2006/main" noGrp="1"/>
          </p:cNvSpPr>
          <p:nvPr/>
        </p:nvSpPr>
        <p:spPr>
          <a:xfrm xmlns:a="http://schemas.openxmlformats.org/drawingml/2006/main">
            <a:off x="5457825" y="1952625"/>
            <a:ext cx="266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B293D"/>
                </a:solidFill>
                <a:latin typeface="Segoe UI"/>
                <a:ea typeface="Segoe UI"/>
                <a:cs typeface="Segoe UI"/>
              </a:defRPr>
            </a:pPr>
            <a:r>
              <a:rPr sz="1800" b="1">
                <a:solidFill>
                  <a:srgbClr val="2B293D"/>
                </a:solidFill>
                <a:latin typeface="Segoe UI"/>
                <a:ea typeface="Segoe UI"/>
                <a:cs typeface="Segoe UI"/>
              </a:rPr>
              <a:t>Apply proof rules</a:t>
            </a:r>
          </a:p>
        </p:txBody>
      </p:sp>
      <p:sp>
        <p:nvSpPr>
          <p:cNvPr id="11" name="">
            <a:extLst xmlns:a="http://schemas.openxmlformats.org/drawingml/2006/main">
              <a:ext uri="{FF2B5EF4-FFF2-40B4-BE49-F238E27FC236}">
                <a16:creationId xmlns:a16="http://schemas.microsoft.com/office/drawing/2014/main" id="{EB37159C-6891-4DDA-A3BB-1282A058044A}"/>
              </a:ext>
            </a:extLst>
          </p:cNvPr>
          <p:cNvSpPr>
            <a:spLocks xmlns:a="http://schemas.openxmlformats.org/drawingml/2006/main" noGrp="1"/>
          </p:cNvSpPr>
          <p:nvPr/>
        </p:nvSpPr>
        <p:spPr>
          <a:xfrm xmlns:a="http://schemas.openxmlformats.org/drawingml/2006/main">
            <a:off x="5457825" y="2381250"/>
            <a:ext cx="2590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75380"/>
                </a:solidFill>
                <a:latin typeface="Segoe UI"/>
                <a:ea typeface="Segoe UI"/>
                <a:cs typeface="Segoe UI"/>
              </a:defRPr>
            </a:pPr>
            <a:r>
              <a:rPr sz="1425" b="0">
                <a:solidFill>
                  <a:srgbClr val="575380"/>
                </a:solidFill>
                <a:latin typeface="Segoe UI"/>
                <a:ea typeface="Segoe UI"/>
                <a:cs typeface="Segoe UI"/>
              </a:rPr>
              <a:t>exact values · thresholds</a:t>
            </a:r>
          </a:p>
        </p:txBody>
      </p:sp>
      <p:sp>
        <p:nvSpPr>
          <p:cNvPr id="12" name="">
            <a:extLst xmlns:a="http://schemas.openxmlformats.org/drawingml/2006/main">
              <a:ext uri="{FF2B5EF4-FFF2-40B4-BE49-F238E27FC236}">
                <a16:creationId xmlns:a16="http://schemas.microsoft.com/office/drawing/2014/main" id="{4693C1EA-D7F1-4840-8A6B-67A4198A860F}"/>
              </a:ext>
            </a:extLst>
          </p:cNvPr>
          <p:cNvSpPr>
            <a:spLocks xmlns:a="http://schemas.openxmlformats.org/drawingml/2006/main" noGrp="1"/>
          </p:cNvSpPr>
          <p:nvPr/>
        </p:nvSpPr>
        <p:spPr>
          <a:xfrm xmlns:a="http://schemas.openxmlformats.org/drawingml/2006/main">
            <a:off x="7991475" y="2314575"/>
            <a:ext cx="400050" cy="0"/>
          </a:xfrm>
          <a:prstGeom xmlns:a="http://schemas.openxmlformats.org/drawingml/2006/main" prst="line">
            <a:avLst/>
          </a:prstGeom>
          <a:noFill xmlns:a="http://schemas.openxmlformats.org/drawingml/2006/main"/>
          <a:ln xmlns:a="http://schemas.openxmlformats.org/drawingml/2006/main" w="19050">
            <a:solidFill>
              <a:srgbClr val="BFC4E2"/>
            </a:solidFill>
            <a:prstDash val="solid"/>
          </a:ln>
        </p:spPr>
      </p:sp>
      <p:sp>
        <p:nvSpPr>
          <p:cNvPr id="13" name="">
            <a:extLst xmlns:a="http://schemas.openxmlformats.org/drawingml/2006/main">
              <a:ext uri="{FF2B5EF4-FFF2-40B4-BE49-F238E27FC236}">
                <a16:creationId xmlns:a16="http://schemas.microsoft.com/office/drawing/2014/main" id="{64844F3D-C8A9-41CD-B041-C3B5D84AE760}"/>
              </a:ext>
            </a:extLst>
          </p:cNvPr>
          <p:cNvSpPr>
            <a:spLocks xmlns:a="http://schemas.openxmlformats.org/drawingml/2006/main" noGrp="1"/>
          </p:cNvSpPr>
          <p:nvPr/>
        </p:nvSpPr>
        <p:spPr>
          <a:xfrm xmlns:a="http://schemas.openxmlformats.org/drawingml/2006/main">
            <a:off x="8524875" y="1876425"/>
            <a:ext cx="1228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A45339"/>
                </a:solidFill>
                <a:latin typeface="Segoe UI"/>
                <a:ea typeface="Segoe UI"/>
                <a:cs typeface="Segoe UI"/>
              </a:defRPr>
            </a:pPr>
            <a:r>
              <a:rPr sz="3600" b="1">
                <a:solidFill>
                  <a:srgbClr val="A45339"/>
                </a:solidFill>
                <a:latin typeface="Segoe UI"/>
                <a:ea typeface="Segoe UI"/>
                <a:cs typeface="Segoe UI"/>
              </a:rPr>
              <a:t>03</a:t>
            </a:r>
          </a:p>
        </p:txBody>
      </p:sp>
      <p:sp>
        <p:nvSpPr>
          <p:cNvPr id="14" name="">
            <a:extLst xmlns:a="http://schemas.openxmlformats.org/drawingml/2006/main">
              <a:ext uri="{FF2B5EF4-FFF2-40B4-BE49-F238E27FC236}">
                <a16:creationId xmlns:a16="http://schemas.microsoft.com/office/drawing/2014/main" id="{7CD56DB1-6FEF-4DE8-B834-C27A21C293B0}"/>
              </a:ext>
            </a:extLst>
          </p:cNvPr>
          <p:cNvSpPr>
            <a:spLocks xmlns:a="http://schemas.openxmlformats.org/drawingml/2006/main" noGrp="1"/>
          </p:cNvSpPr>
          <p:nvPr/>
        </p:nvSpPr>
        <p:spPr>
          <a:xfrm xmlns:a="http://schemas.openxmlformats.org/drawingml/2006/main">
            <a:off x="9296400" y="1952625"/>
            <a:ext cx="24574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B293D"/>
                </a:solidFill>
                <a:latin typeface="Segoe UI"/>
                <a:ea typeface="Segoe UI"/>
                <a:cs typeface="Segoe UI"/>
              </a:defRPr>
            </a:pPr>
            <a:r>
              <a:rPr sz="1800" b="1">
                <a:solidFill>
                  <a:srgbClr val="2B293D"/>
                </a:solidFill>
                <a:latin typeface="Segoe UI"/>
                <a:ea typeface="Segoe UI"/>
                <a:cs typeface="Segoe UI"/>
              </a:rPr>
              <a:t>Replay candidates</a:t>
            </a:r>
          </a:p>
        </p:txBody>
      </p:sp>
      <p:sp>
        <p:nvSpPr>
          <p:cNvPr id="15" name="">
            <a:extLst xmlns:a="http://schemas.openxmlformats.org/drawingml/2006/main">
              <a:ext uri="{FF2B5EF4-FFF2-40B4-BE49-F238E27FC236}">
                <a16:creationId xmlns:a16="http://schemas.microsoft.com/office/drawing/2014/main" id="{1B4EA63F-D7F4-44CE-BB6E-8AB5D733BE29}"/>
              </a:ext>
            </a:extLst>
          </p:cNvPr>
          <p:cNvSpPr>
            <a:spLocks xmlns:a="http://schemas.openxmlformats.org/drawingml/2006/main" noGrp="1"/>
          </p:cNvSpPr>
          <p:nvPr/>
        </p:nvSpPr>
        <p:spPr>
          <a:xfrm xmlns:a="http://schemas.openxmlformats.org/drawingml/2006/main">
            <a:off x="9296400" y="2381250"/>
            <a:ext cx="2028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75380"/>
                </a:solidFill>
                <a:latin typeface="Segoe UI"/>
                <a:ea typeface="Segoe UI"/>
                <a:cs typeface="Segoe UI"/>
              </a:defRPr>
            </a:pPr>
            <a:r>
              <a:rPr sz="1425" b="0">
                <a:solidFill>
                  <a:srgbClr val="575380"/>
                </a:solidFill>
                <a:latin typeface="Segoe UI"/>
                <a:ea typeface="Segoe UI"/>
                <a:cs typeface="Segoe UI"/>
              </a:rPr>
              <a:t>both VM paths</a:t>
            </a:r>
          </a:p>
        </p:txBody>
      </p:sp>
      <p:sp>
        <p:nvSpPr>
          <p:cNvPr id="16" name="">
            <a:extLst xmlns:a="http://schemas.openxmlformats.org/drawingml/2006/main">
              <a:ext uri="{FF2B5EF4-FFF2-40B4-BE49-F238E27FC236}">
                <a16:creationId xmlns:a16="http://schemas.microsoft.com/office/drawing/2014/main" id="{1204049D-4FAB-48F7-A6C0-0E785C290AD8}"/>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19050">
            <a:solidFill>
              <a:srgbClr val="BFC4E2"/>
            </a:solidFill>
            <a:prstDash val="solid"/>
          </a:ln>
        </p:spPr>
      </p:sp>
      <p:sp>
        <p:nvSpPr>
          <p:cNvPr id="17" name="">
            <a:extLst xmlns:a="http://schemas.openxmlformats.org/drawingml/2006/main">
              <a:ext uri="{FF2B5EF4-FFF2-40B4-BE49-F238E27FC236}">
                <a16:creationId xmlns:a16="http://schemas.microsoft.com/office/drawing/2014/main" id="{77B9FA8E-6490-4ACF-8B35-7E3F7C2586F1}"/>
              </a:ext>
            </a:extLst>
          </p:cNvPr>
          <p:cNvSpPr>
            <a:spLocks xmlns:a="http://schemas.openxmlformats.org/drawingml/2006/main" noGrp="1"/>
          </p:cNvSpPr>
          <p:nvPr/>
        </p:nvSpPr>
        <p:spPr>
          <a:xfrm xmlns:a="http://schemas.openxmlformats.org/drawingml/2006/main">
            <a:off x="695325" y="3619500"/>
            <a:ext cx="24479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56B55"/>
                </a:solidFill>
                <a:latin typeface="Segoe UI"/>
                <a:ea typeface="Segoe UI"/>
                <a:cs typeface="Segoe UI"/>
              </a:defRPr>
            </a:pPr>
            <a:r>
              <a:rPr sz="1500" b="1">
                <a:solidFill>
                  <a:srgbClr val="256B55"/>
                </a:solidFill>
                <a:latin typeface="Segoe UI"/>
                <a:ea typeface="Segoe UI"/>
                <a:cs typeface="Segoe UI"/>
              </a:rPr>
              <a:t>PRESERVED</a:t>
            </a:r>
          </a:p>
        </p:txBody>
      </p:sp>
      <p:sp>
        <p:nvSpPr>
          <p:cNvPr id="18" name="">
            <a:extLst xmlns:a="http://schemas.openxmlformats.org/drawingml/2006/main">
              <a:ext uri="{FF2B5EF4-FFF2-40B4-BE49-F238E27FC236}">
                <a16:creationId xmlns:a16="http://schemas.microsoft.com/office/drawing/2014/main" id="{64FF356C-9EBC-4D8D-8431-8CB5B92D014A}"/>
              </a:ext>
            </a:extLst>
          </p:cNvPr>
          <p:cNvSpPr>
            <a:spLocks xmlns:a="http://schemas.openxmlformats.org/drawingml/2006/main" noGrp="1"/>
          </p:cNvSpPr>
          <p:nvPr/>
        </p:nvSpPr>
        <p:spPr>
          <a:xfrm xmlns:a="http://schemas.openxmlformats.org/drawingml/2006/main">
            <a:off x="695325" y="4019550"/>
            <a:ext cx="2362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B293D"/>
                </a:solidFill>
                <a:latin typeface="Segoe UI"/>
                <a:ea typeface="Segoe UI"/>
                <a:cs typeface="Segoe UI"/>
              </a:defRPr>
            </a:pPr>
            <a:r>
              <a:rPr sz="1425" b="0">
                <a:solidFill>
                  <a:srgbClr val="2B293D"/>
                </a:solidFill>
                <a:latin typeface="Segoe UI"/>
                <a:ea typeface="Segoe UI"/>
                <a:cs typeface="Segoe UI"/>
              </a:rPr>
              <a:t>G = true for the supported domain</a:t>
            </a:r>
          </a:p>
        </p:txBody>
      </p:sp>
      <p:sp>
        <p:nvSpPr>
          <p:cNvPr id="19" name="">
            <a:extLst xmlns:a="http://schemas.openxmlformats.org/drawingml/2006/main">
              <a:ext uri="{FF2B5EF4-FFF2-40B4-BE49-F238E27FC236}">
                <a16:creationId xmlns:a16="http://schemas.microsoft.com/office/drawing/2014/main" id="{C03565D8-8B40-4496-BE3E-EDADB6C9315E}"/>
              </a:ext>
            </a:extLst>
          </p:cNvPr>
          <p:cNvSpPr>
            <a:spLocks xmlns:a="http://schemas.openxmlformats.org/drawingml/2006/main" noGrp="1"/>
          </p:cNvSpPr>
          <p:nvPr/>
        </p:nvSpPr>
        <p:spPr>
          <a:xfrm xmlns:a="http://schemas.openxmlformats.org/drawingml/2006/main">
            <a:off x="3409950" y="361950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45339"/>
                </a:solidFill>
                <a:latin typeface="Segoe UI"/>
                <a:ea typeface="Segoe UI"/>
                <a:cs typeface="Segoe UI"/>
              </a:defRPr>
            </a:pPr>
            <a:r>
              <a:rPr sz="1500" b="1">
                <a:solidFill>
                  <a:srgbClr val="A45339"/>
                </a:solidFill>
                <a:latin typeface="Segoe UI"/>
                <a:ea typeface="Segoe UI"/>
                <a:cs typeface="Segoe UI"/>
              </a:rPr>
              <a:t>CONDITIONAL</a:t>
            </a:r>
          </a:p>
        </p:txBody>
      </p:sp>
      <p:sp>
        <p:nvSpPr>
          <p:cNvPr id="20" name="">
            <a:extLst xmlns:a="http://schemas.openxmlformats.org/drawingml/2006/main">
              <a:ext uri="{FF2B5EF4-FFF2-40B4-BE49-F238E27FC236}">
                <a16:creationId xmlns:a16="http://schemas.microsoft.com/office/drawing/2014/main" id="{9CA69F6C-37C1-442B-A1CA-DA031FDAD809}"/>
              </a:ext>
            </a:extLst>
          </p:cNvPr>
          <p:cNvSpPr>
            <a:spLocks xmlns:a="http://schemas.openxmlformats.org/drawingml/2006/main" noGrp="1"/>
          </p:cNvSpPr>
          <p:nvPr/>
        </p:nvSpPr>
        <p:spPr>
          <a:xfrm xmlns:a="http://schemas.openxmlformats.org/drawingml/2006/main">
            <a:off x="3409950" y="4019550"/>
            <a:ext cx="23241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B293D"/>
                </a:solidFill>
                <a:latin typeface="Segoe UI"/>
                <a:ea typeface="Segoe UI"/>
                <a:cs typeface="Segoe UI"/>
              </a:defRPr>
            </a:pPr>
            <a:r>
              <a:rPr sz="1425" b="0">
                <a:solidFill>
                  <a:srgbClr val="2B293D"/>
                </a:solidFill>
                <a:latin typeface="Segoe UI"/>
                <a:ea typeface="Segoe UI"/>
                <a:cs typeface="Segoe UI"/>
              </a:rPr>
              <a:t>Executable G guarantees equality</a:t>
            </a:r>
          </a:p>
        </p:txBody>
      </p:sp>
      <p:sp>
        <p:nvSpPr>
          <p:cNvPr id="21" name="">
            <a:extLst xmlns:a="http://schemas.openxmlformats.org/drawingml/2006/main">
              <a:ext uri="{FF2B5EF4-FFF2-40B4-BE49-F238E27FC236}">
                <a16:creationId xmlns:a16="http://schemas.microsoft.com/office/drawing/2014/main" id="{5ED929CF-5BDD-4F10-8E0D-C732091FBE6F}"/>
              </a:ext>
            </a:extLst>
          </p:cNvPr>
          <p:cNvSpPr>
            <a:spLocks xmlns:a="http://schemas.openxmlformats.org/drawingml/2006/main" noGrp="1"/>
          </p:cNvSpPr>
          <p:nvPr/>
        </p:nvSpPr>
        <p:spPr>
          <a:xfrm xmlns:a="http://schemas.openxmlformats.org/drawingml/2006/main">
            <a:off x="6181725" y="3619500"/>
            <a:ext cx="2419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45339"/>
                </a:solidFill>
                <a:latin typeface="Segoe UI"/>
                <a:ea typeface="Segoe UI"/>
                <a:cs typeface="Segoe UI"/>
              </a:defRPr>
            </a:pPr>
            <a:r>
              <a:rPr sz="1500" b="1">
                <a:solidFill>
                  <a:srgbClr val="A45339"/>
                </a:solidFill>
                <a:latin typeface="Segoe UI"/>
                <a:ea typeface="Segoe UI"/>
                <a:cs typeface="Segoe UI"/>
              </a:rPr>
              <a:t>BREAKING</a:t>
            </a:r>
          </a:p>
        </p:txBody>
      </p:sp>
      <p:sp>
        <p:nvSpPr>
          <p:cNvPr id="22" name="">
            <a:extLst xmlns:a="http://schemas.openxmlformats.org/drawingml/2006/main">
              <a:ext uri="{FF2B5EF4-FFF2-40B4-BE49-F238E27FC236}">
                <a16:creationId xmlns:a16="http://schemas.microsoft.com/office/drawing/2014/main" id="{22AE1D20-7927-4A30-AD79-C55DDF7CB906}"/>
              </a:ext>
            </a:extLst>
          </p:cNvPr>
          <p:cNvSpPr>
            <a:spLocks xmlns:a="http://schemas.openxmlformats.org/drawingml/2006/main" noGrp="1"/>
          </p:cNvSpPr>
          <p:nvPr/>
        </p:nvSpPr>
        <p:spPr>
          <a:xfrm xmlns:a="http://schemas.openxmlformats.org/drawingml/2006/main">
            <a:off x="6181725" y="4019550"/>
            <a:ext cx="228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B293D"/>
                </a:solidFill>
                <a:latin typeface="Segoe UI"/>
                <a:ea typeface="Segoe UI"/>
                <a:cs typeface="Segoe UI"/>
              </a:defRPr>
            </a:pPr>
            <a:r>
              <a:rPr sz="1425" b="0">
                <a:solidFill>
                  <a:srgbClr val="2B293D"/>
                </a:solidFill>
                <a:latin typeface="Segoe UI"/>
                <a:ea typeface="Segoe UI"/>
                <a:cs typeface="Segoe UI"/>
              </a:rPr>
              <a:t>Valid collision replays a change</a:t>
            </a:r>
          </a:p>
        </p:txBody>
      </p:sp>
      <p:sp>
        <p:nvSpPr>
          <p:cNvPr id="23" name="">
            <a:extLst xmlns:a="http://schemas.openxmlformats.org/drawingml/2006/main">
              <a:ext uri="{FF2B5EF4-FFF2-40B4-BE49-F238E27FC236}">
                <a16:creationId xmlns:a16="http://schemas.microsoft.com/office/drawing/2014/main" id="{DBDA54A1-479F-459D-A568-F6C36E1A4870}"/>
              </a:ext>
            </a:extLst>
          </p:cNvPr>
          <p:cNvSpPr>
            <a:spLocks xmlns:a="http://schemas.openxmlformats.org/drawingml/2006/main" noGrp="1"/>
          </p:cNvSpPr>
          <p:nvPr/>
        </p:nvSpPr>
        <p:spPr>
          <a:xfrm xmlns:a="http://schemas.openxmlformats.org/drawingml/2006/main">
            <a:off x="8943975" y="361950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75380"/>
                </a:solidFill>
                <a:latin typeface="Segoe UI"/>
                <a:ea typeface="Segoe UI"/>
                <a:cs typeface="Segoe UI"/>
              </a:defRPr>
            </a:pPr>
            <a:r>
              <a:rPr sz="1500" b="1">
                <a:solidFill>
                  <a:srgbClr val="575380"/>
                </a:solidFill>
                <a:latin typeface="Segoe UI"/>
                <a:ea typeface="Segoe UI"/>
                <a:cs typeface="Segoe UI"/>
              </a:rPr>
              <a:t>UNKNOWN</a:t>
            </a:r>
          </a:p>
        </p:txBody>
      </p:sp>
      <p:sp>
        <p:nvSpPr>
          <p:cNvPr id="24" name="">
            <a:extLst xmlns:a="http://schemas.openxmlformats.org/drawingml/2006/main">
              <a:ext uri="{FF2B5EF4-FFF2-40B4-BE49-F238E27FC236}">
                <a16:creationId xmlns:a16="http://schemas.microsoft.com/office/drawing/2014/main" id="{BA6CD618-29D7-440F-B00A-7CD7B853A93E}"/>
              </a:ext>
            </a:extLst>
          </p:cNvPr>
          <p:cNvSpPr>
            <a:spLocks xmlns:a="http://schemas.openxmlformats.org/drawingml/2006/main" noGrp="1"/>
          </p:cNvSpPr>
          <p:nvPr/>
        </p:nvSpPr>
        <p:spPr>
          <a:xfrm xmlns:a="http://schemas.openxmlformats.org/drawingml/2006/main">
            <a:off x="8943975" y="4019550"/>
            <a:ext cx="23241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B293D"/>
                </a:solidFill>
                <a:latin typeface="Segoe UI"/>
                <a:ea typeface="Segoe UI"/>
                <a:cs typeface="Segoe UI"/>
              </a:defRPr>
            </a:pPr>
            <a:r>
              <a:rPr sz="1425" b="0">
                <a:solidFill>
                  <a:srgbClr val="2B293D"/>
                </a:solidFill>
                <a:latin typeface="Segoe UI"/>
                <a:ea typeface="Segoe UI"/>
                <a:cs typeface="Segoe UI"/>
              </a:rPr>
              <a:t>No proof or replayed collision</a:t>
            </a:r>
          </a:p>
        </p:txBody>
      </p:sp>
      <p:sp>
        <p:nvSpPr>
          <p:cNvPr id="25" name="">
            <a:extLst xmlns:a="http://schemas.openxmlformats.org/drawingml/2006/main">
              <a:ext uri="{FF2B5EF4-FFF2-40B4-BE49-F238E27FC236}">
                <a16:creationId xmlns:a16="http://schemas.microsoft.com/office/drawing/2014/main" id="{500292F0-6117-463E-AF54-C57276B33E69}"/>
              </a:ext>
            </a:extLst>
          </p:cNvPr>
          <p:cNvSpPr>
            <a:spLocks xmlns:a="http://schemas.openxmlformats.org/drawingml/2006/main" noGrp="1"/>
          </p:cNvSpPr>
          <p:nvPr/>
        </p:nvSpPr>
        <p:spPr>
          <a:xfrm xmlns:a="http://schemas.openxmlformats.org/drawingml/2006/main">
            <a:off x="685800" y="5181600"/>
            <a:ext cx="10820400" cy="0"/>
          </a:xfrm>
          <a:prstGeom xmlns:a="http://schemas.openxmlformats.org/drawingml/2006/main" prst="line">
            <a:avLst/>
          </a:prstGeom>
          <a:noFill xmlns:a="http://schemas.openxmlformats.org/drawingml/2006/main"/>
          <a:ln xmlns:a="http://schemas.openxmlformats.org/drawingml/2006/main" w="14288">
            <a:solidFill>
              <a:srgbClr val="BFC4E2"/>
            </a:solidFill>
            <a:prstDash val="solid"/>
          </a:ln>
        </p:spPr>
      </p:sp>
      <p:sp>
        <p:nvSpPr>
          <p:cNvPr id="26" name="">
            <a:extLst xmlns:a="http://schemas.openxmlformats.org/drawingml/2006/main">
              <a:ext uri="{FF2B5EF4-FFF2-40B4-BE49-F238E27FC236}">
                <a16:creationId xmlns:a16="http://schemas.microsoft.com/office/drawing/2014/main" id="{690C0429-5059-4B1D-B3FC-818C4A970510}"/>
              </a:ext>
            </a:extLst>
          </p:cNvPr>
          <p:cNvSpPr>
            <a:spLocks xmlns:a="http://schemas.openxmlformats.org/drawingml/2006/main" noGrp="1"/>
          </p:cNvSpPr>
          <p:nvPr/>
        </p:nvSpPr>
        <p:spPr>
          <a:xfrm xmlns:a="http://schemas.openxmlformats.org/drawingml/2006/main">
            <a:off x="685800" y="5448300"/>
            <a:ext cx="2305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A649E"/>
                </a:solidFill>
                <a:latin typeface="Segoe UI"/>
                <a:ea typeface="Segoe UI"/>
                <a:cs typeface="Segoe UI"/>
              </a:defRPr>
            </a:pPr>
            <a:r>
              <a:rPr sz="1275" b="1">
                <a:solidFill>
                  <a:srgbClr val="6A649E"/>
                </a:solidFill>
                <a:latin typeface="Segoe UI"/>
                <a:ea typeface="Segoe UI"/>
                <a:cs typeface="Segoe UI"/>
              </a:rPr>
              <a:t>READINESS</a:t>
            </a:r>
          </a:p>
        </p:txBody>
      </p:sp>
      <p:sp>
        <p:nvSpPr>
          <p:cNvPr id="27" name="">
            <a:extLst xmlns:a="http://schemas.openxmlformats.org/drawingml/2006/main">
              <a:ext uri="{FF2B5EF4-FFF2-40B4-BE49-F238E27FC236}">
                <a16:creationId xmlns:a16="http://schemas.microsoft.com/office/drawing/2014/main" id="{FBADF6C0-C840-4F76-AE7E-42295FEDC8BC}"/>
              </a:ext>
            </a:extLst>
          </p:cNvPr>
          <p:cNvSpPr>
            <a:spLocks xmlns:a="http://schemas.openxmlformats.org/drawingml/2006/main" noGrp="1"/>
          </p:cNvSpPr>
          <p:nvPr/>
        </p:nvSpPr>
        <p:spPr>
          <a:xfrm xmlns:a="http://schemas.openxmlformats.org/drawingml/2006/main">
            <a:off x="685800" y="5772150"/>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B293D"/>
                </a:solidFill>
                <a:latin typeface="Segoe UI"/>
                <a:ea typeface="Segoe UI"/>
                <a:cs typeface="Segoe UI"/>
              </a:defRPr>
            </a:pPr>
            <a:r>
              <a:rPr sz="1650" b="1">
                <a:solidFill>
                  <a:srgbClr val="2B293D"/>
                </a:solidFill>
                <a:latin typeface="Segoe UI"/>
                <a:ea typeface="Segoe UI"/>
                <a:cs typeface="Segoe UI"/>
              </a:rPr>
              <a:t>Guard-admitted rows / well-typed input rows, before migrated CSV execution.</a:t>
            </a:r>
          </a:p>
        </p:txBody>
      </p:sp>
      <p:sp>
        <p:nvSpPr>
          <p:cNvPr id="28" name="">
            <a:extLst xmlns:a="http://schemas.openxmlformats.org/drawingml/2006/main">
              <a:ext uri="{FF2B5EF4-FFF2-40B4-BE49-F238E27FC236}">
                <a16:creationId xmlns:a16="http://schemas.microsoft.com/office/drawing/2014/main" id="{493A8BD1-6A40-45DB-A8B5-76B1C77C9AE2}"/>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5380"/>
                </a:solidFill>
                <a:latin typeface="Segoe UI"/>
                <a:ea typeface="Segoe UI"/>
                <a:cs typeface="Segoe UI"/>
              </a:defRPr>
            </a:pPr>
            <a:r>
              <a:rPr sz="1050" b="0">
                <a:solidFill>
                  <a:srgbClr val="575380"/>
                </a:solidFill>
                <a:latin typeface="Segoe UI"/>
                <a:ea typeface="Segoe UI"/>
                <a:cs typeface="Segoe UI"/>
              </a:rPr>
              <a:t>A witness search is bounded; finding none is never reported as proof.</a:t>
            </a:r>
          </a:p>
        </p:txBody>
      </p:sp>
    </p:spTree>
    <p:extLst>
      <p:ext uri="{BB962C8B-B14F-4D97-AF65-F5344CB8AC3E}">
        <p14:creationId xmlns:p14="http://schemas.microsoft.com/office/powerpoint/2010/main" val="913992568"/>
      </p:ext>
    </p:extLst>
  </p:cSld>
</p:sld>
</file>

<file path=ppt/slides/slide7.xml><?xml version="1.0" encoding="utf-8"?>
<p:sld xmlns:p="http://schemas.openxmlformats.org/presentationml/2006/main">
  <p:cSld>
    <p:bg>
      <p:bgPr>
        <a:solidFill xmlns:a="http://schemas.openxmlformats.org/drawingml/2006/main">
          <a:srgbClr val="F3F4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6C76321-E07C-4A52-85F0-AA994491F476}"/>
              </a:ext>
            </a:extLst>
          </p:cNvPr>
          <p:cNvSpPr>
            <a:spLocks xmlns:a="http://schemas.openxmlformats.org/drawingml/2006/main" noGrp="1"/>
          </p:cNvSpPr>
          <p:nvPr/>
        </p:nvSpPr>
        <p:spPr>
          <a:xfrm xmlns:a="http://schemas.openxmlformats.org/drawingml/2006/main">
            <a:off x="590550" y="600075"/>
            <a:ext cx="11010900" cy="0"/>
          </a:xfrm>
          <a:prstGeom xmlns:a="http://schemas.openxmlformats.org/drawingml/2006/main" prst="line">
            <a:avLst/>
          </a:prstGeom>
          <a:noFill xmlns:a="http://schemas.openxmlformats.org/drawingml/2006/main"/>
          <a:ln xmlns:a="http://schemas.openxmlformats.org/drawingml/2006/main" w="12383">
            <a:solidFill>
              <a:srgbClr val="BFC4E2"/>
            </a:solidFill>
            <a:prstDash val="solid"/>
          </a:ln>
        </p:spPr>
      </p:sp>
      <p:sp>
        <p:nvSpPr>
          <p:cNvPr id="2" name="">
            <a:extLst xmlns:a="http://schemas.openxmlformats.org/drawingml/2006/main">
              <a:ext uri="{FF2B5EF4-FFF2-40B4-BE49-F238E27FC236}">
                <a16:creationId xmlns:a16="http://schemas.microsoft.com/office/drawing/2014/main" id="{ACFC7335-AA19-4806-8C28-0E82F1FC5469}"/>
              </a:ext>
            </a:extLst>
          </p:cNvPr>
          <p:cNvSpPr>
            <a:spLocks xmlns:a="http://schemas.openxmlformats.org/drawingml/2006/main" noGrp="1"/>
          </p:cNvSpPr>
          <p:nvPr/>
        </p:nvSpPr>
        <p:spPr>
          <a:xfrm xmlns:a="http://schemas.openxmlformats.org/drawingml/2006/main">
            <a:off x="609600" y="276225"/>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6A649E"/>
                </a:solidFill>
                <a:latin typeface="Segoe UI"/>
                <a:ea typeface="Segoe UI"/>
                <a:cs typeface="Segoe UI"/>
              </a:defRPr>
            </a:pPr>
            <a:r>
              <a:rPr sz="1050" b="1">
                <a:solidFill>
                  <a:srgbClr val="6A649E"/>
                </a:solidFill>
                <a:latin typeface="Segoe UI"/>
                <a:ea typeface="Segoe UI"/>
                <a:cs typeface="Segoe UI"/>
              </a:rPr>
              <a:t>EVIDENCE / REPRODUCIBLE PILOT</a:t>
            </a:r>
          </a:p>
        </p:txBody>
      </p:sp>
      <p:sp>
        <p:nvSpPr>
          <p:cNvPr id="3" name="">
            <a:extLst xmlns:a="http://schemas.openxmlformats.org/drawingml/2006/main">
              <a:ext uri="{FF2B5EF4-FFF2-40B4-BE49-F238E27FC236}">
                <a16:creationId xmlns:a16="http://schemas.microsoft.com/office/drawing/2014/main" id="{2498CE06-C8B3-43F4-ABBA-9482F02E98FD}"/>
              </a:ext>
            </a:extLst>
          </p:cNvPr>
          <p:cNvSpPr>
            <a:spLocks xmlns:a="http://schemas.openxmlformats.org/drawingml/2006/main" noGrp="1"/>
          </p:cNvSpPr>
          <p:nvPr/>
        </p:nvSpPr>
        <p:spPr>
          <a:xfrm xmlns:a="http://schemas.openxmlformats.org/drawingml/2006/main">
            <a:off x="11087100" y="2667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75380"/>
                </a:solidFill>
                <a:latin typeface="Segoe UI"/>
                <a:ea typeface="Segoe UI"/>
                <a:cs typeface="Segoe UI"/>
              </a:defRPr>
            </a:pPr>
            <a:r>
              <a:rPr sz="1125" b="0">
                <a:solidFill>
                  <a:srgbClr val="575380"/>
                </a:solidFill>
                <a:latin typeface="Segoe UI"/>
                <a:ea typeface="Segoe UI"/>
                <a:cs typeface="Segoe UI"/>
              </a:rPr>
              <a:t>07</a:t>
            </a:r>
          </a:p>
        </p:txBody>
      </p:sp>
      <p:sp>
        <p:nvSpPr>
          <p:cNvPr id="4" name="">
            <a:extLst xmlns:a="http://schemas.openxmlformats.org/drawingml/2006/main">
              <a:ext uri="{FF2B5EF4-FFF2-40B4-BE49-F238E27FC236}">
                <a16:creationId xmlns:a16="http://schemas.microsoft.com/office/drawing/2014/main" id="{1F9A0E68-7E27-46E1-8BE0-59030080F6B3}"/>
              </a:ext>
            </a:extLst>
          </p:cNvPr>
          <p:cNvSpPr>
            <a:spLocks xmlns:a="http://schemas.openxmlformats.org/drawingml/2006/main" noGrp="1"/>
          </p:cNvSpPr>
          <p:nvPr/>
        </p:nvSpPr>
        <p:spPr>
          <a:xfrm xmlns:a="http://schemas.openxmlformats.org/drawingml/2006/main">
            <a:off x="590550" y="81915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2B293D"/>
                </a:solidFill>
                <a:latin typeface="Segoe UI"/>
                <a:ea typeface="Segoe UI"/>
                <a:cs typeface="Segoe UI"/>
              </a:defRPr>
            </a:pPr>
            <a:r>
              <a:rPr sz="2925" b="1">
                <a:solidFill>
                  <a:srgbClr val="2B293D"/>
                </a:solidFill>
                <a:latin typeface="Segoe UI"/>
                <a:ea typeface="Segoe UI"/>
                <a:cs typeface="Segoe UI"/>
              </a:rPr>
              <a:t>Three record-lossy pipelines are proved preserved</a:t>
            </a:r>
          </a:p>
        </p:txBody>
      </p:sp>
      <p:sp>
        <p:nvSpPr>
          <p:cNvPr id="5" name="">
            <a:extLst xmlns:a="http://schemas.openxmlformats.org/drawingml/2006/main">
              <a:ext uri="{FF2B5EF4-FFF2-40B4-BE49-F238E27FC236}">
                <a16:creationId xmlns:a16="http://schemas.microsoft.com/office/drawing/2014/main" id="{17A02434-9AEF-470F-A2F1-CFC9783A6964}"/>
              </a:ext>
            </a:extLst>
          </p:cNvPr>
          <p:cNvSpPr>
            <a:spLocks xmlns:a="http://schemas.openxmlformats.org/drawingml/2006/main" noGrp="1"/>
          </p:cNvSpPr>
          <p:nvPr/>
        </p:nvSpPr>
        <p:spPr>
          <a:xfrm xmlns:a="http://schemas.openxmlformats.org/drawingml/2006/main">
            <a:off x="685800" y="16954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45339"/>
                </a:solidFill>
                <a:latin typeface="Segoe UI"/>
                <a:ea typeface="Segoe UI"/>
                <a:cs typeface="Segoe UI"/>
              </a:defRPr>
            </a:pPr>
            <a:r>
              <a:rPr sz="1800" b="1">
                <a:solidFill>
                  <a:srgbClr val="A45339"/>
                </a:solidFill>
                <a:latin typeface="Segoe UI"/>
                <a:ea typeface="Segoe UI"/>
                <a:cs typeface="Segoe UI"/>
              </a:rPr>
              <a:t>3 public datasets  ·  5,926 distinct source rows  ·  10 injected cases</a:t>
            </a:r>
          </a:p>
        </p:txBody>
      </p:sp>
      <p:sp>
        <p:nvSpPr>
          <p:cNvPr id="6" name="">
            <a:extLst xmlns:a="http://schemas.openxmlformats.org/drawingml/2006/main">
              <a:ext uri="{FF2B5EF4-FFF2-40B4-BE49-F238E27FC236}">
                <a16:creationId xmlns:a16="http://schemas.microsoft.com/office/drawing/2014/main" id="{36A9CD7B-8A0D-41E0-A991-52E77F29B0FA}"/>
              </a:ext>
            </a:extLst>
          </p:cNvPr>
          <p:cNvSpPr>
            <a:spLocks xmlns:a="http://schemas.openxmlformats.org/drawingml/2006/main" noGrp="1"/>
          </p:cNvSpPr>
          <p:nvPr/>
        </p:nvSpPr>
        <p:spPr>
          <a:xfrm xmlns:a="http://schemas.openxmlformats.org/drawingml/2006/main">
            <a:off x="695325" y="2362200"/>
            <a:ext cx="714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75380"/>
                </a:solidFill>
                <a:latin typeface="Segoe UI"/>
                <a:ea typeface="Segoe UI"/>
                <a:cs typeface="Segoe UI"/>
              </a:defRPr>
            </a:pPr>
            <a:r>
              <a:rPr sz="1575" b="1">
                <a:solidFill>
                  <a:srgbClr val="575380"/>
                </a:solidFill>
                <a:latin typeface="Segoe UI"/>
                <a:ea typeface="Segoe UI"/>
                <a:cs typeface="Segoe UI"/>
              </a:rPr>
              <a:t>Strict-predicate guard admission on each dataset</a:t>
            </a:r>
          </a:p>
        </p:txBody>
      </p:sp>
      <p:sp>
        <p:nvSpPr>
          <p:cNvPr id="7" name="">
            <a:extLst xmlns:a="http://schemas.openxmlformats.org/drawingml/2006/main">
              <a:ext uri="{FF2B5EF4-FFF2-40B4-BE49-F238E27FC236}">
                <a16:creationId xmlns:a16="http://schemas.microsoft.com/office/drawing/2014/main" id="{E1DE4810-4F07-4B98-9874-D2C2F1D2F0D2}"/>
              </a:ext>
            </a:extLst>
          </p:cNvPr>
          <p:cNvSpPr>
            <a:spLocks xmlns:a="http://schemas.openxmlformats.org/drawingml/2006/main" noGrp="1"/>
          </p:cNvSpPr>
          <p:nvPr/>
        </p:nvSpPr>
        <p:spPr>
          <a:xfrm xmlns:a="http://schemas.openxmlformats.org/drawingml/2006/main">
            <a:off x="695325" y="295275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B293D"/>
                </a:solidFill>
                <a:latin typeface="Segoe UI"/>
                <a:ea typeface="Segoe UI"/>
                <a:cs typeface="Segoe UI"/>
              </a:defRPr>
            </a:pPr>
            <a:r>
              <a:rPr sz="1650" b="1">
                <a:solidFill>
                  <a:srgbClr val="2B293D"/>
                </a:solidFill>
                <a:latin typeface="Segoe UI"/>
                <a:ea typeface="Segoe UI"/>
                <a:cs typeface="Segoe UI"/>
              </a:rPr>
              <a:t>Abalone</a:t>
            </a:r>
          </a:p>
        </p:txBody>
      </p:sp>
      <p:sp>
        <p:nvSpPr>
          <p:cNvPr id="8" name="">
            <a:extLst xmlns:a="http://schemas.openxmlformats.org/drawingml/2006/main">
              <a:ext uri="{FF2B5EF4-FFF2-40B4-BE49-F238E27FC236}">
                <a16:creationId xmlns:a16="http://schemas.microsoft.com/office/drawing/2014/main" id="{B097E6B8-44D5-4FE1-B7C5-E6D5AD5AEE5D}"/>
              </a:ext>
            </a:extLst>
          </p:cNvPr>
          <p:cNvSpPr>
            <a:spLocks xmlns:a="http://schemas.openxmlformats.org/drawingml/2006/main" noGrp="1"/>
          </p:cNvSpPr>
          <p:nvPr/>
        </p:nvSpPr>
        <p:spPr>
          <a:xfrm xmlns:a="http://schemas.openxmlformats.org/drawingml/2006/main">
            <a:off x="3333750" y="3019425"/>
            <a:ext cx="5524500" cy="238125"/>
          </a:xfrm>
          <a:prstGeom xmlns:a="http://schemas.openxmlformats.org/drawingml/2006/main" prst="rect">
            <a:avLst/>
          </a:prstGeom>
          <a:solidFill xmlns:a="http://schemas.openxmlformats.org/drawingml/2006/main">
            <a:srgbClr val="E9ECF6"/>
          </a:solidFill>
          <a:ln xmlns:a="http://schemas.openxmlformats.org/drawingml/2006/main" w="0">
            <a:solidFill>
              <a:srgbClr val="E9ECF6"/>
            </a:solidFill>
            <a:prstDash val="solid"/>
          </a:ln>
        </p:spPr>
      </p:sp>
      <p:sp>
        <p:nvSpPr>
          <p:cNvPr id="9" name="">
            <a:extLst xmlns:a="http://schemas.openxmlformats.org/drawingml/2006/main">
              <a:ext uri="{FF2B5EF4-FFF2-40B4-BE49-F238E27FC236}">
                <a16:creationId xmlns:a16="http://schemas.microsoft.com/office/drawing/2014/main" id="{45A64B00-706B-4BFD-A79B-57112D480123}"/>
              </a:ext>
            </a:extLst>
          </p:cNvPr>
          <p:cNvSpPr>
            <a:spLocks xmlns:a="http://schemas.openxmlformats.org/drawingml/2006/main" noGrp="1"/>
          </p:cNvSpPr>
          <p:nvPr/>
        </p:nvSpPr>
        <p:spPr>
          <a:xfrm xmlns:a="http://schemas.openxmlformats.org/drawingml/2006/main">
            <a:off x="3333750" y="3019425"/>
            <a:ext cx="3679473" cy="238125"/>
          </a:xfrm>
          <a:prstGeom xmlns:a="http://schemas.openxmlformats.org/drawingml/2006/main" prst="rect">
            <a:avLst/>
          </a:prstGeom>
          <a:solidFill xmlns:a="http://schemas.openxmlformats.org/drawingml/2006/main">
            <a:srgbClr val="6A649E"/>
          </a:solidFill>
          <a:ln xmlns:a="http://schemas.openxmlformats.org/drawingml/2006/main" w="0">
            <a:solidFill>
              <a:srgbClr val="6A649E"/>
            </a:solidFill>
            <a:prstDash val="solid"/>
          </a:ln>
        </p:spPr>
      </p:sp>
      <p:sp>
        <p:nvSpPr>
          <p:cNvPr id="10" name="">
            <a:extLst xmlns:a="http://schemas.openxmlformats.org/drawingml/2006/main">
              <a:ext uri="{FF2B5EF4-FFF2-40B4-BE49-F238E27FC236}">
                <a16:creationId xmlns:a16="http://schemas.microsoft.com/office/drawing/2014/main" id="{2CDBAF18-DA13-45BB-906A-4396B45695BB}"/>
              </a:ext>
            </a:extLst>
          </p:cNvPr>
          <p:cNvSpPr>
            <a:spLocks xmlns:a="http://schemas.openxmlformats.org/drawingml/2006/main" noGrp="1"/>
          </p:cNvSpPr>
          <p:nvPr/>
        </p:nvSpPr>
        <p:spPr>
          <a:xfrm xmlns:a="http://schemas.openxmlformats.org/drawingml/2006/main">
            <a:off x="9144000" y="29527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B293D"/>
                </a:solidFill>
                <a:latin typeface="Segoe UI"/>
                <a:ea typeface="Segoe UI"/>
                <a:cs typeface="Segoe UI"/>
              </a:defRPr>
            </a:pPr>
            <a:r>
              <a:rPr sz="1425" b="1">
                <a:solidFill>
                  <a:srgbClr val="2B293D"/>
                </a:solidFill>
                <a:latin typeface="Segoe UI"/>
                <a:ea typeface="Segoe UI"/>
                <a:cs typeface="Segoe UI"/>
              </a:rPr>
              <a:t>2,782 / 4,177  (66.6%)</a:t>
            </a:r>
          </a:p>
        </p:txBody>
      </p:sp>
      <p:sp>
        <p:nvSpPr>
          <p:cNvPr id="11" name="">
            <a:extLst xmlns:a="http://schemas.openxmlformats.org/drawingml/2006/main">
              <a:ext uri="{FF2B5EF4-FFF2-40B4-BE49-F238E27FC236}">
                <a16:creationId xmlns:a16="http://schemas.microsoft.com/office/drawing/2014/main" id="{154DBED0-B559-4D38-9D9E-09199BA50A58}"/>
              </a:ext>
            </a:extLst>
          </p:cNvPr>
          <p:cNvSpPr>
            <a:spLocks xmlns:a="http://schemas.openxmlformats.org/drawingml/2006/main" noGrp="1"/>
          </p:cNvSpPr>
          <p:nvPr/>
        </p:nvSpPr>
        <p:spPr>
          <a:xfrm xmlns:a="http://schemas.openxmlformats.org/drawingml/2006/main">
            <a:off x="695325" y="3705225"/>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B293D"/>
                </a:solidFill>
                <a:latin typeface="Segoe UI"/>
                <a:ea typeface="Segoe UI"/>
                <a:cs typeface="Segoe UI"/>
              </a:defRPr>
            </a:pPr>
            <a:r>
              <a:rPr sz="1650" b="1">
                <a:solidFill>
                  <a:srgbClr val="2B293D"/>
                </a:solidFill>
                <a:latin typeface="Segoe UI"/>
                <a:ea typeface="Segoe UI"/>
                <a:cs typeface="Segoe UI"/>
              </a:rPr>
              <a:t>Iris</a:t>
            </a:r>
          </a:p>
        </p:txBody>
      </p:sp>
      <p:sp>
        <p:nvSpPr>
          <p:cNvPr id="12" name="">
            <a:extLst xmlns:a="http://schemas.openxmlformats.org/drawingml/2006/main">
              <a:ext uri="{FF2B5EF4-FFF2-40B4-BE49-F238E27FC236}">
                <a16:creationId xmlns:a16="http://schemas.microsoft.com/office/drawing/2014/main" id="{EE345F0C-C028-46B6-A399-46224AB19BFC}"/>
              </a:ext>
            </a:extLst>
          </p:cNvPr>
          <p:cNvSpPr>
            <a:spLocks xmlns:a="http://schemas.openxmlformats.org/drawingml/2006/main" noGrp="1"/>
          </p:cNvSpPr>
          <p:nvPr/>
        </p:nvSpPr>
        <p:spPr>
          <a:xfrm xmlns:a="http://schemas.openxmlformats.org/drawingml/2006/main">
            <a:off x="3333750" y="3771900"/>
            <a:ext cx="5524500" cy="238125"/>
          </a:xfrm>
          <a:prstGeom xmlns:a="http://schemas.openxmlformats.org/drawingml/2006/main" prst="rect">
            <a:avLst/>
          </a:prstGeom>
          <a:solidFill xmlns:a="http://schemas.openxmlformats.org/drawingml/2006/main">
            <a:srgbClr val="E9ECF6"/>
          </a:solidFill>
          <a:ln xmlns:a="http://schemas.openxmlformats.org/drawingml/2006/main" w="0">
            <a:solidFill>
              <a:srgbClr val="E9ECF6"/>
            </a:solidFill>
            <a:prstDash val="solid"/>
          </a:ln>
        </p:spPr>
      </p:sp>
      <p:sp>
        <p:nvSpPr>
          <p:cNvPr id="13" name="">
            <a:extLst xmlns:a="http://schemas.openxmlformats.org/drawingml/2006/main">
              <a:ext uri="{FF2B5EF4-FFF2-40B4-BE49-F238E27FC236}">
                <a16:creationId xmlns:a16="http://schemas.microsoft.com/office/drawing/2014/main" id="{D980064B-1F18-4B1A-8472-892636834D01}"/>
              </a:ext>
            </a:extLst>
          </p:cNvPr>
          <p:cNvSpPr>
            <a:spLocks xmlns:a="http://schemas.openxmlformats.org/drawingml/2006/main" noGrp="1"/>
          </p:cNvSpPr>
          <p:nvPr/>
        </p:nvSpPr>
        <p:spPr>
          <a:xfrm xmlns:a="http://schemas.openxmlformats.org/drawingml/2006/main">
            <a:off x="3333750" y="3771900"/>
            <a:ext cx="3646170" cy="238125"/>
          </a:xfrm>
          <a:prstGeom xmlns:a="http://schemas.openxmlformats.org/drawingml/2006/main" prst="rect">
            <a:avLst/>
          </a:prstGeom>
          <a:solidFill xmlns:a="http://schemas.openxmlformats.org/drawingml/2006/main">
            <a:srgbClr val="6A649E"/>
          </a:solidFill>
          <a:ln xmlns:a="http://schemas.openxmlformats.org/drawingml/2006/main" w="0">
            <a:solidFill>
              <a:srgbClr val="6A649E"/>
            </a:solidFill>
            <a:prstDash val="solid"/>
          </a:ln>
        </p:spPr>
      </p:sp>
      <p:sp>
        <p:nvSpPr>
          <p:cNvPr id="14" name="">
            <a:extLst xmlns:a="http://schemas.openxmlformats.org/drawingml/2006/main">
              <a:ext uri="{FF2B5EF4-FFF2-40B4-BE49-F238E27FC236}">
                <a16:creationId xmlns:a16="http://schemas.microsoft.com/office/drawing/2014/main" id="{25F8676B-D3FD-4FCB-8501-9B1C16E63C8B}"/>
              </a:ext>
            </a:extLst>
          </p:cNvPr>
          <p:cNvSpPr>
            <a:spLocks xmlns:a="http://schemas.openxmlformats.org/drawingml/2006/main" noGrp="1"/>
          </p:cNvSpPr>
          <p:nvPr/>
        </p:nvSpPr>
        <p:spPr>
          <a:xfrm xmlns:a="http://schemas.openxmlformats.org/drawingml/2006/main">
            <a:off x="9144000" y="3705225"/>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B293D"/>
                </a:solidFill>
                <a:latin typeface="Segoe UI"/>
                <a:ea typeface="Segoe UI"/>
                <a:cs typeface="Segoe UI"/>
              </a:defRPr>
            </a:pPr>
            <a:r>
              <a:rPr sz="1425" b="1">
                <a:solidFill>
                  <a:srgbClr val="2B293D"/>
                </a:solidFill>
                <a:latin typeface="Segoe UI"/>
                <a:ea typeface="Segoe UI"/>
                <a:cs typeface="Segoe UI"/>
              </a:rPr>
              <a:t>99 / 150  (66.0%)</a:t>
            </a:r>
          </a:p>
        </p:txBody>
      </p:sp>
      <p:sp>
        <p:nvSpPr>
          <p:cNvPr id="15" name="">
            <a:extLst xmlns:a="http://schemas.openxmlformats.org/drawingml/2006/main">
              <a:ext uri="{FF2B5EF4-FFF2-40B4-BE49-F238E27FC236}">
                <a16:creationId xmlns:a16="http://schemas.microsoft.com/office/drawing/2014/main" id="{0151BCA6-A21B-4F8F-9FCC-B5EC8CE2CF3A}"/>
              </a:ext>
            </a:extLst>
          </p:cNvPr>
          <p:cNvSpPr>
            <a:spLocks xmlns:a="http://schemas.openxmlformats.org/drawingml/2006/main" noGrp="1"/>
          </p:cNvSpPr>
          <p:nvPr/>
        </p:nvSpPr>
        <p:spPr>
          <a:xfrm xmlns:a="http://schemas.openxmlformats.org/drawingml/2006/main">
            <a:off x="695325" y="4457700"/>
            <a:ext cx="2647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B293D"/>
                </a:solidFill>
                <a:latin typeface="Segoe UI"/>
                <a:ea typeface="Segoe UI"/>
                <a:cs typeface="Segoe UI"/>
              </a:defRPr>
            </a:pPr>
            <a:r>
              <a:rPr sz="1650" b="1">
                <a:solidFill>
                  <a:srgbClr val="2B293D"/>
                </a:solidFill>
                <a:latin typeface="Segoe UI"/>
                <a:ea typeface="Segoe UI"/>
                <a:cs typeface="Segoe UI"/>
              </a:rPr>
              <a:t>Red Wine Quality</a:t>
            </a:r>
          </a:p>
        </p:txBody>
      </p:sp>
      <p:sp>
        <p:nvSpPr>
          <p:cNvPr id="16" name="">
            <a:extLst xmlns:a="http://schemas.openxmlformats.org/drawingml/2006/main">
              <a:ext uri="{FF2B5EF4-FFF2-40B4-BE49-F238E27FC236}">
                <a16:creationId xmlns:a16="http://schemas.microsoft.com/office/drawing/2014/main" id="{BB1B565D-1F0C-4817-8BDB-6768BA564496}"/>
              </a:ext>
            </a:extLst>
          </p:cNvPr>
          <p:cNvSpPr>
            <a:spLocks xmlns:a="http://schemas.openxmlformats.org/drawingml/2006/main" noGrp="1"/>
          </p:cNvSpPr>
          <p:nvPr/>
        </p:nvSpPr>
        <p:spPr>
          <a:xfrm xmlns:a="http://schemas.openxmlformats.org/drawingml/2006/main">
            <a:off x="3333750" y="4524375"/>
            <a:ext cx="5524500" cy="238125"/>
          </a:xfrm>
          <a:prstGeom xmlns:a="http://schemas.openxmlformats.org/drawingml/2006/main" prst="rect">
            <a:avLst/>
          </a:prstGeom>
          <a:solidFill xmlns:a="http://schemas.openxmlformats.org/drawingml/2006/main">
            <a:srgbClr val="E9ECF6"/>
          </a:solidFill>
          <a:ln xmlns:a="http://schemas.openxmlformats.org/drawingml/2006/main" w="0">
            <a:solidFill>
              <a:srgbClr val="E9ECF6"/>
            </a:solidFill>
            <a:prstDash val="solid"/>
          </a:ln>
        </p:spPr>
      </p:sp>
      <p:sp>
        <p:nvSpPr>
          <p:cNvPr id="17" name="">
            <a:extLst xmlns:a="http://schemas.openxmlformats.org/drawingml/2006/main">
              <a:ext uri="{FF2B5EF4-FFF2-40B4-BE49-F238E27FC236}">
                <a16:creationId xmlns:a16="http://schemas.microsoft.com/office/drawing/2014/main" id="{446B4F0C-66B5-413F-94F1-41A91323688A}"/>
              </a:ext>
            </a:extLst>
          </p:cNvPr>
          <p:cNvSpPr>
            <a:spLocks xmlns:a="http://schemas.openxmlformats.org/drawingml/2006/main" noGrp="1"/>
          </p:cNvSpPr>
          <p:nvPr/>
        </p:nvSpPr>
        <p:spPr>
          <a:xfrm xmlns:a="http://schemas.openxmlformats.org/drawingml/2006/main">
            <a:off x="3333750" y="4524375"/>
            <a:ext cx="4194336" cy="238125"/>
          </a:xfrm>
          <a:prstGeom xmlns:a="http://schemas.openxmlformats.org/drawingml/2006/main" prst="rect">
            <a:avLst/>
          </a:prstGeom>
          <a:solidFill xmlns:a="http://schemas.openxmlformats.org/drawingml/2006/main">
            <a:srgbClr val="6A649E"/>
          </a:solidFill>
          <a:ln xmlns:a="http://schemas.openxmlformats.org/drawingml/2006/main" w="0">
            <a:solidFill>
              <a:srgbClr val="6A649E"/>
            </a:solidFill>
            <a:prstDash val="solid"/>
          </a:ln>
        </p:spPr>
      </p:sp>
      <p:sp>
        <p:nvSpPr>
          <p:cNvPr id="18" name="">
            <a:extLst xmlns:a="http://schemas.openxmlformats.org/drawingml/2006/main">
              <a:ext uri="{FF2B5EF4-FFF2-40B4-BE49-F238E27FC236}">
                <a16:creationId xmlns:a16="http://schemas.microsoft.com/office/drawing/2014/main" id="{AB2A4C16-6288-4D02-943D-B853B0B78A6B}"/>
              </a:ext>
            </a:extLst>
          </p:cNvPr>
          <p:cNvSpPr>
            <a:spLocks xmlns:a="http://schemas.openxmlformats.org/drawingml/2006/main" noGrp="1"/>
          </p:cNvSpPr>
          <p:nvPr/>
        </p:nvSpPr>
        <p:spPr>
          <a:xfrm xmlns:a="http://schemas.openxmlformats.org/drawingml/2006/main">
            <a:off x="9144000" y="445770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2B293D"/>
                </a:solidFill>
                <a:latin typeface="Segoe UI"/>
                <a:ea typeface="Segoe UI"/>
                <a:cs typeface="Segoe UI"/>
              </a:defRPr>
            </a:pPr>
            <a:r>
              <a:rPr sz="1425" b="1">
                <a:solidFill>
                  <a:srgbClr val="2B293D"/>
                </a:solidFill>
                <a:latin typeface="Segoe UI"/>
                <a:ea typeface="Segoe UI"/>
                <a:cs typeface="Segoe UI"/>
              </a:rPr>
              <a:t>1,214 / 1,599  (75.9%)</a:t>
            </a:r>
          </a:p>
        </p:txBody>
      </p:sp>
      <p:sp>
        <p:nvSpPr>
          <p:cNvPr id="19" name="">
            <a:extLst xmlns:a="http://schemas.openxmlformats.org/drawingml/2006/main">
              <a:ext uri="{FF2B5EF4-FFF2-40B4-BE49-F238E27FC236}">
                <a16:creationId xmlns:a16="http://schemas.microsoft.com/office/drawing/2014/main" id="{465BFA36-30F1-492A-BE15-CC0D116E8857}"/>
              </a:ext>
            </a:extLst>
          </p:cNvPr>
          <p:cNvSpPr>
            <a:spLocks xmlns:a="http://schemas.openxmlformats.org/drawingml/2006/main" noGrp="1"/>
          </p:cNvSpPr>
          <p:nvPr/>
        </p:nvSpPr>
        <p:spPr>
          <a:xfrm xmlns:a="http://schemas.openxmlformats.org/drawingml/2006/main">
            <a:off x="685800" y="5381625"/>
            <a:ext cx="10782300" cy="0"/>
          </a:xfrm>
          <a:prstGeom xmlns:a="http://schemas.openxmlformats.org/drawingml/2006/main" prst="line">
            <a:avLst/>
          </a:prstGeom>
          <a:noFill xmlns:a="http://schemas.openxmlformats.org/drawingml/2006/main"/>
          <a:ln xmlns:a="http://schemas.openxmlformats.org/drawingml/2006/main" w="14288">
            <a:solidFill>
              <a:srgbClr val="BFC4E2"/>
            </a:solidFill>
            <a:prstDash val="solid"/>
          </a:ln>
        </p:spPr>
      </p:sp>
      <p:sp>
        <p:nvSpPr>
          <p:cNvPr id="20" name="">
            <a:extLst xmlns:a="http://schemas.openxmlformats.org/drawingml/2006/main">
              <a:ext uri="{FF2B5EF4-FFF2-40B4-BE49-F238E27FC236}">
                <a16:creationId xmlns:a16="http://schemas.microsoft.com/office/drawing/2014/main" id="{438BFD7C-F44D-4951-95AA-826AE77CAA19}"/>
              </a:ext>
            </a:extLst>
          </p:cNvPr>
          <p:cNvSpPr>
            <a:spLocks xmlns:a="http://schemas.openxmlformats.org/drawingml/2006/main" noGrp="1"/>
          </p:cNvSpPr>
          <p:nvPr/>
        </p:nvSpPr>
        <p:spPr>
          <a:xfrm xmlns:a="http://schemas.openxmlformats.org/drawingml/2006/main">
            <a:off x="695325" y="5534025"/>
            <a:ext cx="2381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56B55"/>
                </a:solidFill>
                <a:latin typeface="Segoe UI"/>
                <a:ea typeface="Segoe UI"/>
                <a:cs typeface="Segoe UI"/>
              </a:defRPr>
            </a:pPr>
            <a:r>
              <a:rPr sz="1875" b="1">
                <a:solidFill>
                  <a:srgbClr val="256B55"/>
                </a:solidFill>
                <a:latin typeface="Segoe UI"/>
                <a:ea typeface="Segoe UI"/>
                <a:cs typeface="Segoe UI"/>
              </a:rPr>
              <a:t>3 preserved</a:t>
            </a:r>
          </a:p>
        </p:txBody>
      </p:sp>
      <p:sp>
        <p:nvSpPr>
          <p:cNvPr id="21" name="">
            <a:extLst xmlns:a="http://schemas.openxmlformats.org/drawingml/2006/main">
              <a:ext uri="{FF2B5EF4-FFF2-40B4-BE49-F238E27FC236}">
                <a16:creationId xmlns:a16="http://schemas.microsoft.com/office/drawing/2014/main" id="{99A6F9D7-3B80-42AE-BBC2-A0056E9DC267}"/>
              </a:ext>
            </a:extLst>
          </p:cNvPr>
          <p:cNvSpPr>
            <a:spLocks xmlns:a="http://schemas.openxmlformats.org/drawingml/2006/main" noGrp="1"/>
          </p:cNvSpPr>
          <p:nvPr/>
        </p:nvSpPr>
        <p:spPr>
          <a:xfrm xmlns:a="http://schemas.openxmlformats.org/drawingml/2006/main">
            <a:off x="3371850" y="5534025"/>
            <a:ext cx="2152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75380"/>
                </a:solidFill>
                <a:latin typeface="Segoe UI"/>
                <a:ea typeface="Segoe UI"/>
                <a:cs typeface="Segoe UI"/>
              </a:defRPr>
            </a:pPr>
            <a:r>
              <a:rPr sz="1875" b="1">
                <a:solidFill>
                  <a:srgbClr val="575380"/>
                </a:solidFill>
                <a:latin typeface="Segoe UI"/>
                <a:ea typeface="Segoe UI"/>
                <a:cs typeface="Segoe UI"/>
              </a:rPr>
              <a:t>1 unknown</a:t>
            </a:r>
          </a:p>
        </p:txBody>
      </p:sp>
      <p:sp>
        <p:nvSpPr>
          <p:cNvPr id="22" name="">
            <a:extLst xmlns:a="http://schemas.openxmlformats.org/drawingml/2006/main">
              <a:ext uri="{FF2B5EF4-FFF2-40B4-BE49-F238E27FC236}">
                <a16:creationId xmlns:a16="http://schemas.microsoft.com/office/drawing/2014/main" id="{AD888AB6-1D69-4729-9F17-C99F25561F54}"/>
              </a:ext>
            </a:extLst>
          </p:cNvPr>
          <p:cNvSpPr>
            <a:spLocks xmlns:a="http://schemas.openxmlformats.org/drawingml/2006/main" noGrp="1"/>
          </p:cNvSpPr>
          <p:nvPr/>
        </p:nvSpPr>
        <p:spPr>
          <a:xfrm xmlns:a="http://schemas.openxmlformats.org/drawingml/2006/main">
            <a:off x="5838825" y="5534025"/>
            <a:ext cx="2876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B293D"/>
                </a:solidFill>
                <a:latin typeface="Segoe UI"/>
                <a:ea typeface="Segoe UI"/>
                <a:cs typeface="Segoe UI"/>
              </a:defRPr>
            </a:pPr>
            <a:r>
              <a:rPr sz="1650" b="1">
                <a:solidFill>
                  <a:srgbClr val="2B293D"/>
                </a:solidFill>
                <a:latin typeface="Segoe UI"/>
                <a:ea typeface="Segoe UI"/>
                <a:cs typeface="Segoe UI"/>
              </a:rPr>
              <a:t>8 / 8 negative controls</a:t>
            </a:r>
          </a:p>
        </p:txBody>
      </p:sp>
      <p:sp>
        <p:nvSpPr>
          <p:cNvPr id="23" name="">
            <a:extLst xmlns:a="http://schemas.openxmlformats.org/drawingml/2006/main">
              <a:ext uri="{FF2B5EF4-FFF2-40B4-BE49-F238E27FC236}">
                <a16:creationId xmlns:a16="http://schemas.microsoft.com/office/drawing/2014/main" id="{E3B74064-7FE8-43BD-9642-430AC087DFFF}"/>
              </a:ext>
            </a:extLst>
          </p:cNvPr>
          <p:cNvSpPr>
            <a:spLocks xmlns:a="http://schemas.openxmlformats.org/drawingml/2006/main" noGrp="1"/>
          </p:cNvSpPr>
          <p:nvPr/>
        </p:nvSpPr>
        <p:spPr>
          <a:xfrm xmlns:a="http://schemas.openxmlformats.org/drawingml/2006/main">
            <a:off x="8696325" y="5534025"/>
            <a:ext cx="285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B293D"/>
                </a:solidFill>
                <a:latin typeface="Segoe UI"/>
                <a:ea typeface="Segoe UI"/>
                <a:cs typeface="Segoe UI"/>
              </a:defRPr>
            </a:pPr>
            <a:r>
              <a:rPr sz="1650" b="1">
                <a:solidFill>
                  <a:srgbClr val="2B293D"/>
                </a:solidFill>
                <a:latin typeface="Segoe UI"/>
                <a:ea typeface="Segoe UI"/>
                <a:cs typeface="Segoe UI"/>
              </a:rPr>
              <a:t>4 / 4 CSV parity checks</a:t>
            </a:r>
          </a:p>
        </p:txBody>
      </p:sp>
      <p:sp>
        <p:nvSpPr>
          <p:cNvPr id="24" name="">
            <a:extLst xmlns:a="http://schemas.openxmlformats.org/drawingml/2006/main">
              <a:ext uri="{FF2B5EF4-FFF2-40B4-BE49-F238E27FC236}">
                <a16:creationId xmlns:a16="http://schemas.microsoft.com/office/drawing/2014/main" id="{FBD3ECAC-BC20-4C81-A10A-4674A2AA232C}"/>
              </a:ext>
            </a:extLst>
          </p:cNvPr>
          <p:cNvSpPr>
            <a:spLocks xmlns:a="http://schemas.openxmlformats.org/drawingml/2006/main" noGrp="1"/>
          </p:cNvSpPr>
          <p:nvPr/>
        </p:nvSpPr>
        <p:spPr>
          <a:xfrm xmlns:a="http://schemas.openxmlformats.org/drawingml/2006/main">
            <a:off x="590550" y="63817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5380"/>
                </a:solidFill>
                <a:latin typeface="Segoe UI"/>
                <a:ea typeface="Segoe UI"/>
                <a:cs typeface="Segoe UI"/>
              </a:defRPr>
            </a:pPr>
            <a:r>
              <a:rPr sz="1050" b="0">
                <a:solidFill>
                  <a:srgbClr val="575380"/>
                </a:solidFill>
                <a:latin typeface="Segoe UI"/>
                <a:ea typeface="Segoe UI"/>
                <a:cs typeface="Segoe UI"/>
              </a:rPr>
              <a:t>No observed guard-admitted violation in this pilot. Mappings are synthetic; proof rests on the rule premises.</a:t>
            </a:r>
          </a:p>
        </p:txBody>
      </p:sp>
    </p:spTree>
    <p:extLst>
      <p:ext uri="{BB962C8B-B14F-4D97-AF65-F5344CB8AC3E}">
        <p14:creationId xmlns:p14="http://schemas.microsoft.com/office/powerpoint/2010/main" val="1786765103"/>
      </p:ext>
    </p:extLst>
  </p:cSld>
</p:sld>
</file>

<file path=ppt/slides/slide8.xml><?xml version="1.0" encoding="utf-8"?>
<p:sld xmlns:p="http://schemas.openxmlformats.org/presentationml/2006/main">
  <p:cSld>
    <p:bg>
      <p:bgPr>
        <a:solidFill xmlns:a="http://schemas.openxmlformats.org/drawingml/2006/main">
          <a:srgbClr val="2B293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9015CD-705D-4839-B412-298B09226307}"/>
              </a:ext>
            </a:extLst>
          </p:cNvPr>
          <p:cNvSpPr>
            <a:spLocks xmlns:a="http://schemas.openxmlformats.org/drawingml/2006/main" noGrp="1"/>
          </p:cNvSpPr>
          <p:nvPr/>
        </p:nvSpPr>
        <p:spPr>
          <a:xfrm xmlns:a="http://schemas.openxmlformats.org/drawingml/2006/main">
            <a:off x="600075" y="600075"/>
            <a:ext cx="10991850" cy="0"/>
          </a:xfrm>
          <a:prstGeom xmlns:a="http://schemas.openxmlformats.org/drawingml/2006/main" prst="line">
            <a:avLst/>
          </a:prstGeom>
          <a:noFill xmlns:a="http://schemas.openxmlformats.org/drawingml/2006/main"/>
          <a:ln xmlns:a="http://schemas.openxmlformats.org/drawingml/2006/main" w="14288">
            <a:solidFill>
              <a:srgbClr val="6A649E"/>
            </a:solidFill>
            <a:prstDash val="solid"/>
          </a:ln>
        </p:spPr>
      </p:sp>
      <p:sp>
        <p:nvSpPr>
          <p:cNvPr id="2" name="">
            <a:extLst xmlns:a="http://schemas.openxmlformats.org/drawingml/2006/main">
              <a:ext uri="{FF2B5EF4-FFF2-40B4-BE49-F238E27FC236}">
                <a16:creationId xmlns:a16="http://schemas.microsoft.com/office/drawing/2014/main" id="{9E9911CA-48CE-47EF-8194-7CEBC3FAFE60}"/>
              </a:ext>
            </a:extLst>
          </p:cNvPr>
          <p:cNvSpPr>
            <a:spLocks xmlns:a="http://schemas.openxmlformats.org/drawingml/2006/main" noGrp="1"/>
          </p:cNvSpPr>
          <p:nvPr/>
        </p:nvSpPr>
        <p:spPr>
          <a:xfrm xmlns:a="http://schemas.openxmlformats.org/drawingml/2006/main">
            <a:off x="609600" y="276225"/>
            <a:ext cx="762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8DCED"/>
                </a:solidFill>
                <a:latin typeface="Segoe UI"/>
                <a:ea typeface="Segoe UI"/>
                <a:cs typeface="Segoe UI"/>
              </a:defRPr>
            </a:pPr>
            <a:r>
              <a:rPr sz="1050" b="1">
                <a:solidFill>
                  <a:srgbClr val="D8DCED"/>
                </a:solidFill>
                <a:latin typeface="Segoe UI"/>
                <a:ea typeface="Segoe UI"/>
                <a:cs typeface="Segoe UI"/>
              </a:rPr>
              <a:t>CONCLUSION / CURRENT SCOPE</a:t>
            </a:r>
          </a:p>
        </p:txBody>
      </p:sp>
      <p:sp>
        <p:nvSpPr>
          <p:cNvPr id="3" name="">
            <a:extLst xmlns:a="http://schemas.openxmlformats.org/drawingml/2006/main">
              <a:ext uri="{FF2B5EF4-FFF2-40B4-BE49-F238E27FC236}">
                <a16:creationId xmlns:a16="http://schemas.microsoft.com/office/drawing/2014/main" id="{301478D5-BB8C-43F1-82D7-D11AE7797FB0}"/>
              </a:ext>
            </a:extLst>
          </p:cNvPr>
          <p:cNvSpPr>
            <a:spLocks xmlns:a="http://schemas.openxmlformats.org/drawingml/2006/main" noGrp="1"/>
          </p:cNvSpPr>
          <p:nvPr/>
        </p:nvSpPr>
        <p:spPr>
          <a:xfrm xmlns:a="http://schemas.openxmlformats.org/drawingml/2006/main">
            <a:off x="11096625" y="276225"/>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8DCED"/>
                </a:solidFill>
                <a:latin typeface="Segoe UI"/>
                <a:ea typeface="Segoe UI"/>
                <a:cs typeface="Segoe UI"/>
              </a:defRPr>
            </a:pPr>
            <a:r>
              <a:rPr sz="1125" b="0">
                <a:solidFill>
                  <a:srgbClr val="D8DCED"/>
                </a:solidFill>
                <a:latin typeface="Segoe UI"/>
                <a:ea typeface="Segoe UI"/>
                <a:cs typeface="Segoe UI"/>
              </a:rPr>
              <a:t>08</a:t>
            </a:r>
          </a:p>
        </p:txBody>
      </p:sp>
      <p:sp>
        <p:nvSpPr>
          <p:cNvPr id="4" name="">
            <a:extLst xmlns:a="http://schemas.openxmlformats.org/drawingml/2006/main">
              <a:ext uri="{FF2B5EF4-FFF2-40B4-BE49-F238E27FC236}">
                <a16:creationId xmlns:a16="http://schemas.microsoft.com/office/drawing/2014/main" id="{E8C09C66-A00A-4975-BE98-5BBB2E78E20F}"/>
              </a:ext>
            </a:extLst>
          </p:cNvPr>
          <p:cNvSpPr>
            <a:spLocks xmlns:a="http://schemas.openxmlformats.org/drawingml/2006/main" noGrp="1"/>
          </p:cNvSpPr>
          <p:nvPr/>
        </p:nvSpPr>
        <p:spPr>
          <a:xfrm xmlns:a="http://schemas.openxmlformats.org/drawingml/2006/main">
            <a:off x="600075" y="8953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A defined migration-time guarantee</a:t>
            </a:r>
          </a:p>
        </p:txBody>
      </p:sp>
      <p:sp>
        <p:nvSpPr>
          <p:cNvPr id="5" name="">
            <a:extLst xmlns:a="http://schemas.openxmlformats.org/drawingml/2006/main">
              <a:ext uri="{FF2B5EF4-FFF2-40B4-BE49-F238E27FC236}">
                <a16:creationId xmlns:a16="http://schemas.microsoft.com/office/drawing/2014/main" id="{D9DE3E50-DBDD-4DB5-A542-84CBA4AD98DD}"/>
              </a:ext>
            </a:extLst>
          </p:cNvPr>
          <p:cNvSpPr>
            <a:spLocks xmlns:a="http://schemas.openxmlformats.org/drawingml/2006/main" noGrp="1"/>
          </p:cNvSpPr>
          <p:nvPr/>
        </p:nvSpPr>
        <p:spPr>
          <a:xfrm xmlns:a="http://schemas.openxmlformats.org/drawingml/2006/main">
            <a:off x="666750" y="20383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FC4E2"/>
                </a:solidFill>
                <a:latin typeface="Segoe UI"/>
                <a:ea typeface="Segoe UI"/>
                <a:cs typeface="Segoe UI"/>
              </a:defRPr>
            </a:pPr>
            <a:r>
              <a:rPr sz="1500" b="1">
                <a:solidFill>
                  <a:srgbClr val="BFC4E2"/>
                </a:solidFill>
                <a:latin typeface="Segoe UI"/>
                <a:ea typeface="Segoe UI"/>
                <a:cs typeface="Segoe UI"/>
              </a:rPr>
              <a:t>Candidate contribution</a:t>
            </a:r>
          </a:p>
        </p:txBody>
      </p:sp>
      <p:sp>
        <p:nvSpPr>
          <p:cNvPr id="6" name="">
            <a:extLst xmlns:a="http://schemas.openxmlformats.org/drawingml/2006/main">
              <a:ext uri="{FF2B5EF4-FFF2-40B4-BE49-F238E27FC236}">
                <a16:creationId xmlns:a16="http://schemas.microsoft.com/office/drawing/2014/main" id="{5C2BC83E-F224-4160-8FF6-DD81E99E13FA}"/>
              </a:ext>
            </a:extLst>
          </p:cNvPr>
          <p:cNvSpPr>
            <a:spLocks xmlns:a="http://schemas.openxmlformats.org/drawingml/2006/main" noGrp="1"/>
          </p:cNvSpPr>
          <p:nvPr/>
        </p:nvSpPr>
        <p:spPr>
          <a:xfrm xmlns:a="http://schemas.openxmlformats.org/drawingml/2006/main">
            <a:off x="666750" y="2486025"/>
            <a:ext cx="10439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Segoe UI"/>
                <a:ea typeface="Segoe UI"/>
                <a:cs typeface="Segoe UI"/>
              </a:defRPr>
            </a:pPr>
            <a:r>
              <a:rPr sz="2475" b="1">
                <a:solidFill>
                  <a:srgbClr val="FFFFFF"/>
                </a:solidFill>
                <a:latin typeface="Segoe UI"/>
                <a:ea typeface="Segoe UI"/>
                <a:cs typeface="Segoe UI"/>
              </a:rPr>
              <a:t>Proof rules, row guards, replayed failures, and measured guard coverage</a:t>
            </a:r>
          </a:p>
        </p:txBody>
      </p:sp>
      <p:sp>
        <p:nvSpPr>
          <p:cNvPr id="7" name="">
            <a:extLst xmlns:a="http://schemas.openxmlformats.org/drawingml/2006/main">
              <a:ext uri="{FF2B5EF4-FFF2-40B4-BE49-F238E27FC236}">
                <a16:creationId xmlns:a16="http://schemas.microsoft.com/office/drawing/2014/main" id="{49148B31-1686-47C5-83D9-13CFE0A37226}"/>
              </a:ext>
            </a:extLst>
          </p:cNvPr>
          <p:cNvSpPr>
            <a:spLocks xmlns:a="http://schemas.openxmlformats.org/drawingml/2006/main" noGrp="1"/>
          </p:cNvSpPr>
          <p:nvPr/>
        </p:nvSpPr>
        <p:spPr>
          <a:xfrm xmlns:a="http://schemas.openxmlformats.org/drawingml/2006/main">
            <a:off x="666750" y="3876675"/>
            <a:ext cx="10839450" cy="0"/>
          </a:xfrm>
          <a:prstGeom xmlns:a="http://schemas.openxmlformats.org/drawingml/2006/main" prst="line">
            <a:avLst/>
          </a:prstGeom>
          <a:noFill xmlns:a="http://schemas.openxmlformats.org/drawingml/2006/main"/>
          <a:ln xmlns:a="http://schemas.openxmlformats.org/drawingml/2006/main" w="14288">
            <a:solidFill>
              <a:srgbClr val="6A649E"/>
            </a:solidFill>
            <a:prstDash val="solid"/>
          </a:ln>
        </p:spPr>
      </p:sp>
      <p:sp>
        <p:nvSpPr>
          <p:cNvPr id="8" name="">
            <a:extLst xmlns:a="http://schemas.openxmlformats.org/drawingml/2006/main">
              <a:ext uri="{FF2B5EF4-FFF2-40B4-BE49-F238E27FC236}">
                <a16:creationId xmlns:a16="http://schemas.microsoft.com/office/drawing/2014/main" id="{F32B5D86-22FB-4A63-AA16-92AF2B72A80A}"/>
              </a:ext>
            </a:extLst>
          </p:cNvPr>
          <p:cNvSpPr>
            <a:spLocks xmlns:a="http://schemas.openxmlformats.org/drawingml/2006/main" noGrp="1"/>
          </p:cNvSpPr>
          <p:nvPr/>
        </p:nvSpPr>
        <p:spPr>
          <a:xfrm xmlns:a="http://schemas.openxmlformats.org/drawingml/2006/main">
            <a:off x="685800" y="4181475"/>
            <a:ext cx="4543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FC4E2"/>
                </a:solidFill>
                <a:latin typeface="Segoe UI"/>
                <a:ea typeface="Segoe UI"/>
                <a:cs typeface="Segoe UI"/>
              </a:defRPr>
            </a:pPr>
            <a:r>
              <a:rPr sz="1275" b="1">
                <a:solidFill>
                  <a:srgbClr val="BFC4E2"/>
                </a:solidFill>
                <a:latin typeface="Segoe UI"/>
                <a:ea typeface="Segoe UI"/>
                <a:cs typeface="Segoe UI"/>
              </a:rPr>
              <a:t>ESTABLISHED</a:t>
            </a:r>
          </a:p>
        </p:txBody>
      </p:sp>
      <p:sp>
        <p:nvSpPr>
          <p:cNvPr id="9" name="">
            <a:extLst xmlns:a="http://schemas.openxmlformats.org/drawingml/2006/main">
              <a:ext uri="{FF2B5EF4-FFF2-40B4-BE49-F238E27FC236}">
                <a16:creationId xmlns:a16="http://schemas.microsoft.com/office/drawing/2014/main" id="{99AE606D-6359-4E3D-8A6A-A5259DCF8067}"/>
              </a:ext>
            </a:extLst>
          </p:cNvPr>
          <p:cNvSpPr>
            <a:spLocks xmlns:a="http://schemas.openxmlformats.org/drawingml/2006/main" noGrp="1"/>
          </p:cNvSpPr>
          <p:nvPr/>
        </p:nvSpPr>
        <p:spPr>
          <a:xfrm xmlns:a="http://schemas.openxmlformats.org/drawingml/2006/main">
            <a:off x="685800" y="4581525"/>
            <a:ext cx="4505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Segoe UI"/>
                <a:ea typeface="Segoe UI"/>
                <a:cs typeface="Segoe UI"/>
              </a:defRPr>
            </a:pPr>
            <a:r>
              <a:rPr sz="1725" b="0">
                <a:solidFill>
                  <a:srgbClr val="FFFFFF"/>
                </a:solidFill>
                <a:latin typeface="Segoe UI"/>
                <a:ea typeface="Segoe UI"/>
                <a:cs typeface="Segoe UI"/>
              </a:rPr>
              <a:t>An admitted guard preserves the typed observation for supported mappings on well-typed legacy rows.</a:t>
            </a:r>
          </a:p>
        </p:txBody>
      </p:sp>
      <p:sp>
        <p:nvSpPr>
          <p:cNvPr id="10" name="">
            <a:extLst xmlns:a="http://schemas.openxmlformats.org/drawingml/2006/main">
              <a:ext uri="{FF2B5EF4-FFF2-40B4-BE49-F238E27FC236}">
                <a16:creationId xmlns:a16="http://schemas.microsoft.com/office/drawing/2014/main" id="{7DA0B336-D15F-461B-87C5-1CCBD0E389DD}"/>
              </a:ext>
            </a:extLst>
          </p:cNvPr>
          <p:cNvSpPr>
            <a:spLocks xmlns:a="http://schemas.openxmlformats.org/drawingml/2006/main" noGrp="1"/>
          </p:cNvSpPr>
          <p:nvPr/>
        </p:nvSpPr>
        <p:spPr>
          <a:xfrm xmlns:a="http://schemas.openxmlformats.org/drawingml/2006/main">
            <a:off x="5943600" y="4200525"/>
            <a:ext cx="0" cy="1438275"/>
          </a:xfrm>
          <a:prstGeom xmlns:a="http://schemas.openxmlformats.org/drawingml/2006/main" prst="line">
            <a:avLst/>
          </a:prstGeom>
          <a:noFill xmlns:a="http://schemas.openxmlformats.org/drawingml/2006/main"/>
          <a:ln xmlns:a="http://schemas.openxmlformats.org/drawingml/2006/main" w="14288">
            <a:solidFill>
              <a:srgbClr val="6A649E"/>
            </a:solidFill>
            <a:prstDash val="solid"/>
          </a:ln>
        </p:spPr>
      </p:sp>
      <p:sp>
        <p:nvSpPr>
          <p:cNvPr id="11" name="">
            <a:extLst xmlns:a="http://schemas.openxmlformats.org/drawingml/2006/main">
              <a:ext uri="{FF2B5EF4-FFF2-40B4-BE49-F238E27FC236}">
                <a16:creationId xmlns:a16="http://schemas.microsoft.com/office/drawing/2014/main" id="{695A400B-7A80-403E-92DF-F8E4415B7933}"/>
              </a:ext>
            </a:extLst>
          </p:cNvPr>
          <p:cNvSpPr>
            <a:spLocks xmlns:a="http://schemas.openxmlformats.org/drawingml/2006/main" noGrp="1"/>
          </p:cNvSpPr>
          <p:nvPr/>
        </p:nvSpPr>
        <p:spPr>
          <a:xfrm xmlns:a="http://schemas.openxmlformats.org/drawingml/2006/main">
            <a:off x="6315075" y="4181475"/>
            <a:ext cx="4572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FC4E2"/>
                </a:solidFill>
                <a:latin typeface="Segoe UI"/>
                <a:ea typeface="Segoe UI"/>
                <a:cs typeface="Segoe UI"/>
              </a:defRPr>
            </a:pPr>
            <a:r>
              <a:rPr sz="1275" b="1">
                <a:solidFill>
                  <a:srgbClr val="BFC4E2"/>
                </a:solidFill>
                <a:latin typeface="Segoe UI"/>
                <a:ea typeface="Segoe UI"/>
                <a:cs typeface="Segoe UI"/>
              </a:rPr>
              <a:t>OPEN</a:t>
            </a:r>
          </a:p>
        </p:txBody>
      </p:sp>
      <p:sp>
        <p:nvSpPr>
          <p:cNvPr id="12" name="">
            <a:extLst xmlns:a="http://schemas.openxmlformats.org/drawingml/2006/main">
              <a:ext uri="{FF2B5EF4-FFF2-40B4-BE49-F238E27FC236}">
                <a16:creationId xmlns:a16="http://schemas.microsoft.com/office/drawing/2014/main" id="{49509762-0DDE-4FC4-BBF5-B353FD805895}"/>
              </a:ext>
            </a:extLst>
          </p:cNvPr>
          <p:cNvSpPr>
            <a:spLocks xmlns:a="http://schemas.openxmlformats.org/drawingml/2006/main" noGrp="1"/>
          </p:cNvSpPr>
          <p:nvPr/>
        </p:nvSpPr>
        <p:spPr>
          <a:xfrm xmlns:a="http://schemas.openxmlformats.org/drawingml/2006/main">
            <a:off x="6315075" y="4581525"/>
            <a:ext cx="48958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Segoe UI"/>
                <a:ea typeface="Segoe UI"/>
                <a:cs typeface="Segoe UI"/>
              </a:defRPr>
            </a:pPr>
            <a:r>
              <a:rPr sz="1725" b="0">
                <a:solidFill>
                  <a:srgbClr val="FFFFFF"/>
                </a:solidFill>
                <a:latin typeface="Segoe UI"/>
                <a:ea typeface="Segoe UI"/>
                <a:cs typeface="Segoe UI"/>
              </a:rPr>
              <a:t>New-only rows, general split/merge proofs, standalone rewriting, and real migration histories.</a:t>
            </a:r>
          </a:p>
        </p:txBody>
      </p:sp>
      <p:sp>
        <p:nvSpPr>
          <p:cNvPr id="13" name="">
            <a:extLst xmlns:a="http://schemas.openxmlformats.org/drawingml/2006/main">
              <a:ext uri="{FF2B5EF4-FFF2-40B4-BE49-F238E27FC236}">
                <a16:creationId xmlns:a16="http://schemas.microsoft.com/office/drawing/2014/main" id="{9FEE0292-1FB7-4B7E-9399-C63F55E84602}"/>
              </a:ext>
            </a:extLst>
          </p:cNvPr>
          <p:cNvSpPr>
            <a:spLocks xmlns:a="http://schemas.openxmlformats.org/drawingml/2006/main" noGrp="1"/>
          </p:cNvSpPr>
          <p:nvPr/>
        </p:nvSpPr>
        <p:spPr>
          <a:xfrm xmlns:a="http://schemas.openxmlformats.org/drawingml/2006/main">
            <a:off x="685800" y="5962650"/>
            <a:ext cx="10582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8DCED"/>
                </a:solidFill>
                <a:latin typeface="Segoe UI"/>
                <a:ea typeface="Segoe UI"/>
                <a:cs typeface="Segoe UI"/>
              </a:defRPr>
            </a:pPr>
            <a:r>
              <a:rPr sz="1725" b="1">
                <a:solidFill>
                  <a:srgbClr val="D8DCED"/>
                </a:solidFill>
                <a:latin typeface="Segoe UI"/>
                <a:ea typeface="Segoe UI"/>
                <a:cs typeface="Segoe UI"/>
              </a:rPr>
              <a:t>Next gate: independent proof and novelty review before submission</a:t>
            </a:r>
          </a:p>
        </p:txBody>
      </p:sp>
      <p:sp>
        <p:nvSpPr>
          <p:cNvPr id="14" name="">
            <a:extLst xmlns:a="http://schemas.openxmlformats.org/drawingml/2006/main">
              <a:ext uri="{FF2B5EF4-FFF2-40B4-BE49-F238E27FC236}">
                <a16:creationId xmlns:a16="http://schemas.microsoft.com/office/drawing/2014/main" id="{FB2B36E6-D3E7-4036-8980-84DD5182B12C}"/>
              </a:ext>
            </a:extLst>
          </p:cNvPr>
          <p:cNvSpPr>
            <a:spLocks xmlns:a="http://schemas.openxmlformats.org/drawingml/2006/main" noGrp="1"/>
          </p:cNvSpPr>
          <p:nvPr/>
        </p:nvSpPr>
        <p:spPr>
          <a:xfrm xmlns:a="http://schemas.openxmlformats.org/drawingml/2006/main">
            <a:off x="685800" y="6467475"/>
            <a:ext cx="923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FC4E2"/>
                </a:solidFill>
                <a:latin typeface="Segoe UI"/>
                <a:ea typeface="Segoe UI"/>
                <a:cs typeface="Segoe UI"/>
              </a:defRPr>
            </a:pPr>
            <a:r>
              <a:rPr sz="975" b="0">
                <a:solidFill>
                  <a:srgbClr val="BFC4E2"/>
                </a:solidFill>
                <a:latin typeface="Segoe UI"/>
                <a:ea typeface="Segoe UI"/>
                <a:cs typeface="Segoe UI"/>
              </a:rPr>
              <a:t>Method, evaluation, and paper links are in the speaker notes.</a:t>
            </a:r>
          </a:p>
        </p:txBody>
      </p:sp>
    </p:spTree>
    <p:extLst>
      <p:ext uri="{BB962C8B-B14F-4D97-AF65-F5344CB8AC3E}">
        <p14:creationId xmlns:p14="http://schemas.microsoft.com/office/powerpoint/2010/main" val="1306445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2026-10-08T15:57:05.9530000Z</dcterms:created>
  <dcterms:modified xsi:type="dcterms:W3CDTF">2026-10-08T15:57:05.9530000Z</dcterms:modified>
</coreProperties>
</file>