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675e6969b141f3" /><Relationship Type="http://schemas.openxmlformats.org/officeDocument/2006/relationships/extended-properties" Target="/docProps/app.xml" Id="R2f531aa8ef434c59" /><Relationship Type="http://schemas.openxmlformats.org/officeDocument/2006/relationships/officeDocument" Target="/ppt/presentation.xml" Id="R770ffc180ecc4fd7" /></Relationships>
</file>

<file path=ppt/presentation.xml><?xml version="1.0" encoding="utf-8"?>
<p:presentation xmlns:p="http://schemas.openxmlformats.org/presentationml/2006/main">
  <p:sldMasterIdLst>
    <p:sldMasterId xmlns:r="http://schemas.openxmlformats.org/officeDocument/2006/relationships" id="2147483648" r:id="R3c1e4044158c4fdf"/>
  </p:sldMasterIdLst>
  <p:notesMasterIdLst>
    <p:notesMasterId xmlns:r="http://schemas.openxmlformats.org/officeDocument/2006/relationships" r:id="R178c2aa1b52e4d6e"/>
  </p:notesMasterIdLst>
  <p:sldIdLst>
    <p:sldId xmlns:r="http://schemas.openxmlformats.org/officeDocument/2006/relationships" id="256" r:id="R1d42bdf9a77e428c"/>
    <p:sldId xmlns:r="http://schemas.openxmlformats.org/officeDocument/2006/relationships" id="257" r:id="R937886b19501421b"/>
    <p:sldId xmlns:r="http://schemas.openxmlformats.org/officeDocument/2006/relationships" id="258" r:id="Rbf5a36e3bb334a74"/>
    <p:sldId xmlns:r="http://schemas.openxmlformats.org/officeDocument/2006/relationships" id="259" r:id="R100eac74a8eb4d3e"/>
    <p:sldId xmlns:r="http://schemas.openxmlformats.org/officeDocument/2006/relationships" id="260" r:id="R15c8c9d1574c4117"/>
    <p:sldId xmlns:r="http://schemas.openxmlformats.org/officeDocument/2006/relationships" id="261" r:id="Re1c138cb51064fae"/>
    <p:sldId xmlns:r="http://schemas.openxmlformats.org/officeDocument/2006/relationships" id="262" r:id="R77c02575e49c4d92"/>
    <p:sldId xmlns:r="http://schemas.openxmlformats.org/officeDocument/2006/relationships" id="263" r:id="Re5236978f017422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8ba9a7a3d24077" /><Relationship Type="http://schemas.openxmlformats.org/officeDocument/2006/relationships/slideMaster" Target="/ppt/slideMasters/slideMaster1.xml" Id="R3c1e4044158c4fdf" /><Relationship Type="http://schemas.openxmlformats.org/officeDocument/2006/relationships/notesMaster" Target="/ppt/notesMasters/notesMaster1.xml" Id="R178c2aa1b52e4d6e" /><Relationship Type="http://schemas.openxmlformats.org/officeDocument/2006/relationships/presProps" Target="/ppt/presProps.xml" Id="R2d56f682274a4656" /><Relationship Type="http://schemas.openxmlformats.org/officeDocument/2006/relationships/tableStyles" Target="/ppt/tableStyles.xml" Id="R87f0783717824cff" /><Relationship Type="http://schemas.openxmlformats.org/officeDocument/2006/relationships/slide" Target="/ppt/slides/slide1.xml" Id="R1d42bdf9a77e428c" /><Relationship Type="http://schemas.openxmlformats.org/officeDocument/2006/relationships/slide" Target="/ppt/slides/slide2.xml" Id="R937886b19501421b" /><Relationship Type="http://schemas.openxmlformats.org/officeDocument/2006/relationships/slide" Target="/ppt/slides/slide3.xml" Id="Rbf5a36e3bb334a74" /><Relationship Type="http://schemas.openxmlformats.org/officeDocument/2006/relationships/slide" Target="/ppt/slides/slide4.xml" Id="R100eac74a8eb4d3e" /><Relationship Type="http://schemas.openxmlformats.org/officeDocument/2006/relationships/slide" Target="/ppt/slides/slide5.xml" Id="R15c8c9d1574c4117" /><Relationship Type="http://schemas.openxmlformats.org/officeDocument/2006/relationships/slide" Target="/ppt/slides/slide6.xml" Id="Re1c138cb51064fae" /><Relationship Type="http://schemas.openxmlformats.org/officeDocument/2006/relationships/slide" Target="/ppt/slides/slide7.xml" Id="R77c02575e49c4d92" /><Relationship Type="http://schemas.openxmlformats.org/officeDocument/2006/relationships/slide" Target="/ppt/slides/slide8.xml" Id="Re5236978f01742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0a571b4c174f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2c974a8b524467" /><Relationship Type="http://schemas.openxmlformats.org/officeDocument/2006/relationships/notesMaster" Target="/ppt/notesMasters/notesMaster1.xml" Id="R43446d31598a49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3f847314ab4c39" /><Relationship Type="http://schemas.openxmlformats.org/officeDocument/2006/relationships/notesMaster" Target="/ppt/notesMasters/notesMaster1.xml" Id="R83c457f6e7fc45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14ceec0d814fe4" /><Relationship Type="http://schemas.openxmlformats.org/officeDocument/2006/relationships/notesMaster" Target="/ppt/notesMasters/notesMaster1.xml" Id="R5185c4f50c3d4e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698b6b6c88415c" /><Relationship Type="http://schemas.openxmlformats.org/officeDocument/2006/relationships/notesMaster" Target="/ppt/notesMasters/notesMaster1.xml" Id="R8aa21505e5074a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9ac12cb4b749a4" /><Relationship Type="http://schemas.openxmlformats.org/officeDocument/2006/relationships/notesMaster" Target="/ppt/notesMasters/notesMaster1.xml" Id="Rc7cccdccd8774e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a6a4211ed74b99" /><Relationship Type="http://schemas.openxmlformats.org/officeDocument/2006/relationships/notesMaster" Target="/ppt/notesMasters/notesMaster1.xml" Id="R0ce0910ea4ac47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e4b51b4c314018" /><Relationship Type="http://schemas.openxmlformats.org/officeDocument/2006/relationships/notesMaster" Target="/ppt/notesMasters/notesMaster1.xml" Id="R9c3b5e262a994d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eb3e0cc3564caa" /><Relationship Type="http://schemas.openxmlformats.org/officeDocument/2006/relationships/notesMaster" Target="/ppt/notesMasters/notesMaster1.xml" Id="R6844882662be46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VeriFlow already compiles typed CSV pipelines. The research addition is a migration-time impact checker for one explicit schema change and well-typed legacy rows. The old row remains available when checking a guard. Internal source: docs/presentation-brief.md. Icon: Google Material Symbols database, Apache 2.0, https://github.com/google/material-design-icons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statement: the existing VeriFlow evolution label summarizes record loss, while the new checker studies the behavior of a specified pipeline. PRISM already addresses schema impact and legacy query rewriting, so neither is claimed as new. PRISM: https://www.vldb.org/pvldb/vol1/1453939.pdf . Internal source: docs/paper-research-context.md. Icon: Google Material Symbols schema, Apache 2.0, https://github.com/google/material-design-icons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numeric mapping truncates finite Decimal values toward zero. For integer k &gt;= 1, x &gt;= k and x &lt; k are invariant under truncation. For an atomic x &gt; k or x &lt;= k, truth changes exactly when k &lt; x &lt; k+1; the guard excludes that interval. The illustrative old value 40.7 maps to 40. Proof and exact assumptions: docs/paper-draft.md and docs/impact-method.md.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PRISM https://www.vldb.org/pvldb/vol1/1453939.pdf ; Fan, Geerts, and Zheng https://www.pure.ed.ac.uk/ws/portalfiles/portal/17752772/paper_viewd.pdf ; Mediator https://arxiv.org/abs/1710.07660 ; Conditional Equivalence https://www.microsoft.com/en-us/research/publication/conditional-equivalence/ . BiDEL/InVerDa also covers bidirectional coexisting schema versions: https://arxiv.org/abs/1608.05564 . The table identifies differences in research focus; it does not establish absence of a feature in all related work. Independent expert review is still required for a final novelty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actual migration-time claim, not equivalence of arbitrary new-schema programs. A preserved result uses G=true; a conditional result provides a sufficient executable G. The adapted path is F then partial A then legacy P. The domain is well-typed legacy rows with defined mapping. Exact CSV spelling and malformed rows are out of scope. See docs/impact-method.md. Icon: Google Material Symbols rule, Apache 2.0, https://github.com/google/material-design-icons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checker traces every executed operation including derived let fields. Exact reconstruction and supported threshold rules produce a proof or sufficient guard. Breaking is reported only after a valid collision replays through production execution. A bounded witness search with no collision returns unknown. The evolved runner refuses unknown and records guarded-out rows. The readiness report measures guard coverage on a supplied CSV, which is empirical utility, not part of the proof. See docs/impact-method.md and evaluation/README.md.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three public UCI datasets and 5,926 distinct source rows. The ten cases include three safe non-strict numeric cases, nearby strict and selected-value cases, and one unproved split case. All mappings are synthetic/injected. No row admitted by a proof guard changed typed observation in the pilot. Eight predeclared controls and four CSV parity checks passed. The universal guarantee comes from rule premises and proof, not from this finite pilot. Sources: evaluation/README.md, evaluation/results.json, evaluation/negative-controls.json, evaluation/csv-parity.json. UCI source pages: https://archive.ics.uci.edu/dataset/1/abalone , https://archive.ics.uci.edu/dataset/53/iris , https://archive.ics.uci.edu/dataset/186/wine+quality . Icon: Google Material Symbols query_stats, Apache 2.0, https://github.com/google/material-design-icons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Candidate novelty is deliberately qualified. PRISM, selected-information preservation, application equivalence, conditional equivalence, and bidirectional adapters are prior art. The current contribution is a narrow implemented combination for migration-time validation/filter/projection. Do not claim automatic query rewriting, standalone new-schema execution, arbitrary future-row guarantees, or an observed organizational schema history. See docs/paper-draft.md, docs/council-review-2026-10-08.md, docs/paper-research-tasks.md. Icon: Google Material Symbols warning, Apache 2.0, https://github.com/google/material-design-icons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2a0b490a6f4c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634ea6ce2f46b3" /><Relationship Type="http://schemas.openxmlformats.org/officeDocument/2006/relationships/slideLayout" Target="/ppt/slideLayouts/slideLayout1.xml" Id="Rad8217116bac4e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8217116bac4e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e5ef7ee1c564094" /><Relationship Type="http://schemas.openxmlformats.org/officeDocument/2006/relationships/image" Target="/ppt/media/image.png" Id="Rad5449e06db04807" /><Relationship Type="http://schemas.openxmlformats.org/officeDocument/2006/relationships/notesSlide" Target="/ppt/notesSlides/notesSlide1.xml" Id="R9dc2c2d73b9347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d755b9b7e18443c" /><Relationship Type="http://schemas.openxmlformats.org/officeDocument/2006/relationships/image" Target="/ppt/media/image2.png" Id="R41e294e90f454ad7" /><Relationship Type="http://schemas.openxmlformats.org/officeDocument/2006/relationships/notesSlide" Target="/ppt/notesSlides/notesSlide2.xml" Id="Ra7567ad2032243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9148b46c78943b4" /><Relationship Type="http://schemas.openxmlformats.org/officeDocument/2006/relationships/notesSlide" Target="/ppt/notesSlides/notesSlide3.xml" Id="R841afa04a28c45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377f38c05f4c0f" /><Relationship Type="http://schemas.openxmlformats.org/officeDocument/2006/relationships/notesSlide" Target="/ppt/notesSlides/notesSlide4.xml" Id="R42e112cb854a43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75226b1d8c34bfb" /><Relationship Type="http://schemas.openxmlformats.org/officeDocument/2006/relationships/image" Target="/ppt/media/image3.png" Id="R248831e9f4fd4a4a" /><Relationship Type="http://schemas.openxmlformats.org/officeDocument/2006/relationships/notesSlide" Target="/ppt/notesSlides/notesSlide5.xml" Id="R2570ff3c03264f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76d3ee723aa4459" /><Relationship Type="http://schemas.openxmlformats.org/officeDocument/2006/relationships/notesSlide" Target="/ppt/notesSlides/notesSlide6.xml" Id="Rffad29c1bffb41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eeb51e171fb4713" /><Relationship Type="http://schemas.openxmlformats.org/officeDocument/2006/relationships/image" Target="/ppt/media/image4.png" Id="R2911b0b47a394f07" /><Relationship Type="http://schemas.openxmlformats.org/officeDocument/2006/relationships/notesSlide" Target="/ppt/notesSlides/notesSlide7.xml" Id="Rb25f553aae1d4c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1d71561e9334cc5" /><Relationship Type="http://schemas.openxmlformats.org/officeDocument/2006/relationships/image" Target="/ppt/media/image5.png" Id="R208e6c72e33b4b12" /><Relationship Type="http://schemas.openxmlformats.org/officeDocument/2006/relationships/notesSlide" Target="/ppt/notesSlides/notesSlide8.xml" Id="Rd5ed1ae632ae400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A37BF6-0BA9-4F11-8979-F71B48712863}"/>
              </a:ext>
            </a:extLst>
          </p:cNvPr>
          <p:cNvSpPr>
            <a:spLocks xmlns:a="http://schemas.openxmlformats.org/drawingml/2006/main" noGrp="1"/>
          </p:cNvSpPr>
          <p:nvPr/>
        </p:nvSpPr>
        <p:spPr>
          <a:xfrm xmlns:a="http://schemas.openxmlformats.org/drawingml/2006/main">
            <a:off x="666750" y="70485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4263D"/>
                </a:solidFill>
                <a:latin typeface="Arial"/>
                <a:ea typeface="Arial"/>
                <a:cs typeface="Arial"/>
              </a:defRPr>
            </a:pPr>
            <a:r>
              <a:rPr sz="4200" b="1">
                <a:solidFill>
                  <a:srgbClr val="14263D"/>
                </a:solidFill>
                <a:latin typeface="Arial"/>
                <a:ea typeface="Arial"/>
                <a:cs typeface="Arial"/>
              </a:rPr>
              <a:t>VeriFlow</a:t>
            </a:r>
          </a:p>
        </p:txBody>
      </p:sp>
      <p:sp>
        <p:nvSpPr>
          <p:cNvPr id="2" name="">
            <a:extLst xmlns:a="http://schemas.openxmlformats.org/drawingml/2006/main">
              <a:ext uri="{FF2B5EF4-FFF2-40B4-BE49-F238E27FC236}">
                <a16:creationId xmlns:a16="http://schemas.microsoft.com/office/drawing/2014/main" id="{AE2FCF25-3E7D-47A6-9239-9C79C6C52701}"/>
              </a:ext>
            </a:extLst>
          </p:cNvPr>
          <p:cNvSpPr>
            <a:spLocks xmlns:a="http://schemas.openxmlformats.org/drawingml/2006/main" noGrp="1"/>
          </p:cNvSpPr>
          <p:nvPr/>
        </p:nvSpPr>
        <p:spPr>
          <a:xfrm xmlns:a="http://schemas.openxmlformats.org/drawingml/2006/main">
            <a:off x="666750" y="1495425"/>
            <a:ext cx="7620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4263D"/>
                </a:solidFill>
                <a:latin typeface="Arial"/>
                <a:ea typeface="Arial"/>
                <a:cs typeface="Arial"/>
              </a:defRPr>
            </a:pPr>
            <a:r>
              <a:rPr sz="3375" b="1">
                <a:solidFill>
                  <a:srgbClr val="14263D"/>
                </a:solidFill>
                <a:latin typeface="Arial"/>
                <a:ea typeface="Arial"/>
                <a:cs typeface="Arial"/>
              </a:rPr>
              <a:t>Pipeline behavior under schema migration</a:t>
            </a:r>
          </a:p>
        </p:txBody>
      </p:sp>
      <p:sp>
        <p:nvSpPr>
          <p:cNvPr id="3" name="">
            <a:extLst xmlns:a="http://schemas.openxmlformats.org/drawingml/2006/main">
              <a:ext uri="{FF2B5EF4-FFF2-40B4-BE49-F238E27FC236}">
                <a16:creationId xmlns:a16="http://schemas.microsoft.com/office/drawing/2014/main" id="{AFF85613-2387-449D-A0AF-6196C80A74C6}"/>
              </a:ext>
            </a:extLst>
          </p:cNvPr>
          <p:cNvSpPr>
            <a:spLocks xmlns:a="http://schemas.openxmlformats.org/drawingml/2006/main" noGrp="1"/>
          </p:cNvSpPr>
          <p:nvPr/>
        </p:nvSpPr>
        <p:spPr>
          <a:xfrm xmlns:a="http://schemas.openxmlformats.org/drawingml/2006/main">
            <a:off x="666750" y="2886075"/>
            <a:ext cx="7572375" cy="0"/>
          </a:xfrm>
          <a:prstGeom xmlns:a="http://schemas.openxmlformats.org/drawingml/2006/main" prst="line">
            <a:avLst/>
          </a:prstGeom>
          <a:noFill xmlns:a="http://schemas.openxmlformats.org/drawingml/2006/main"/>
          <a:ln xmlns:a="http://schemas.openxmlformats.org/drawingml/2006/main" w="47625">
            <a:solidFill>
              <a:srgbClr val="087E82"/>
            </a:solidFill>
            <a:prstDash val="solid"/>
          </a:ln>
        </p:spPr>
      </p:sp>
      <p:sp>
        <p:nvSpPr>
          <p:cNvPr id="4" name="">
            <a:extLst xmlns:a="http://schemas.openxmlformats.org/drawingml/2006/main">
              <a:ext uri="{FF2B5EF4-FFF2-40B4-BE49-F238E27FC236}">
                <a16:creationId xmlns:a16="http://schemas.microsoft.com/office/drawing/2014/main" id="{1C747CF7-23C5-4485-933B-2535BB6D15B2}"/>
              </a:ext>
            </a:extLst>
          </p:cNvPr>
          <p:cNvSpPr>
            <a:spLocks xmlns:a="http://schemas.openxmlformats.org/drawingml/2006/main" noGrp="1"/>
          </p:cNvSpPr>
          <p:nvPr/>
        </p:nvSpPr>
        <p:spPr>
          <a:xfrm xmlns:a="http://schemas.openxmlformats.org/drawingml/2006/main">
            <a:off x="666750" y="3209925"/>
            <a:ext cx="7572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43746"/>
                </a:solidFill>
                <a:latin typeface="Arial"/>
                <a:ea typeface="Arial"/>
                <a:cs typeface="Arial"/>
              </a:defRPr>
            </a:pPr>
            <a:r>
              <a:rPr sz="2100" b="0">
                <a:solidFill>
                  <a:srgbClr val="243746"/>
                </a:solidFill>
                <a:latin typeface="Arial"/>
                <a:ea typeface="Arial"/>
                <a:cs typeface="Arial"/>
              </a:rPr>
              <a:t>When can a lossy record migration still preserve a pipeline's decisions and selected values?</a:t>
            </a:r>
          </a:p>
        </p:txBody>
      </p:sp>
      <p:sp>
        <p:nvSpPr>
          <p:cNvPr id="5" name="">
            <a:extLst xmlns:a="http://schemas.openxmlformats.org/drawingml/2006/main">
              <a:ext uri="{FF2B5EF4-FFF2-40B4-BE49-F238E27FC236}">
                <a16:creationId xmlns:a16="http://schemas.microsoft.com/office/drawing/2014/main" id="{83422A56-11E7-45AF-A2CF-1D585FE48DB0}"/>
              </a:ext>
            </a:extLst>
          </p:cNvPr>
          <p:cNvSpPr>
            <a:spLocks xmlns:a="http://schemas.openxmlformats.org/drawingml/2006/main" noGrp="1"/>
          </p:cNvSpPr>
          <p:nvPr/>
        </p:nvSpPr>
        <p:spPr>
          <a:xfrm xmlns:a="http://schemas.openxmlformats.org/drawingml/2006/main">
            <a:off x="666750" y="5124450"/>
            <a:ext cx="733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E82"/>
                </a:solidFill>
                <a:latin typeface="Arial"/>
                <a:ea typeface="Arial"/>
                <a:cs typeface="Arial"/>
              </a:defRPr>
            </a:pPr>
            <a:r>
              <a:rPr sz="1725" b="1">
                <a:solidFill>
                  <a:srgbClr val="087E82"/>
                </a:solidFill>
                <a:latin typeface="Arial"/>
                <a:ea typeface="Arial"/>
                <a:cs typeface="Arial"/>
              </a:rPr>
              <a:t>A migration-time checker for typed CSV pipelines</a:t>
            </a:r>
          </a:p>
        </p:txBody>
      </p:sp>
      <p:sp>
        <p:nvSpPr>
          <p:cNvPr id="6" name="">
            <a:extLst xmlns:a="http://schemas.openxmlformats.org/drawingml/2006/main">
              <a:ext uri="{FF2B5EF4-FFF2-40B4-BE49-F238E27FC236}">
                <a16:creationId xmlns:a16="http://schemas.microsoft.com/office/drawing/2014/main" id="{CAD562B0-C663-472B-A37F-769DA8422EE3}"/>
              </a:ext>
            </a:extLst>
          </p:cNvPr>
          <p:cNvSpPr>
            <a:spLocks xmlns:a="http://schemas.openxmlformats.org/drawingml/2006/main" noGrp="1"/>
          </p:cNvSpPr>
          <p:nvPr/>
        </p:nvSpPr>
        <p:spPr>
          <a:xfrm xmlns:a="http://schemas.openxmlformats.org/drawingml/2006/main">
            <a:off x="666750" y="601980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B6E7D"/>
                </a:solidFill>
                <a:latin typeface="Arial"/>
                <a:ea typeface="Arial"/>
                <a:cs typeface="Arial"/>
              </a:defRPr>
            </a:pPr>
            <a:r>
              <a:rPr sz="1275" b="0">
                <a:solidFill>
                  <a:srgbClr val="5B6E7D"/>
                </a:solidFill>
                <a:latin typeface="Arial"/>
                <a:ea typeface="Arial"/>
                <a:cs typeface="Arial"/>
              </a:rPr>
              <a:t>Research brief  •  October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d5449e06db04807"/>
          <a:stretch xmlns:a="http://schemas.openxmlformats.org/drawingml/2006/main"/>
        </p:blipFill>
        <p:spPr>
          <a:xfrm xmlns:a="http://schemas.openxmlformats.org/drawingml/2006/main">
            <a:off x="8982075" y="1790700"/>
            <a:ext cx="2000250" cy="2000250"/>
          </a:xfrm>
          <a:prstGeom xmlns:a="http://schemas.openxmlformats.org/drawingml/2006/main" prst="rect">
            <a:avLst/>
          </a:prstGeom>
        </p:spPr>
      </p:pic>
    </p:spTree>
    <p:extLst>
      <p:ext uri="{BB962C8B-B14F-4D97-AF65-F5344CB8AC3E}">
        <p14:creationId xmlns:p14="http://schemas.microsoft.com/office/powerpoint/2010/main" val="9388021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FF8D4EC-BE8B-4BEA-AA24-A65B58513D76}"/>
              </a:ext>
            </a:extLst>
          </p:cNvPr>
          <p:cNvSpPr>
            <a:spLocks xmlns:a="http://schemas.openxmlformats.org/drawingml/2006/main" noGrp="1"/>
          </p:cNvSpPr>
          <p:nvPr/>
        </p:nvSpPr>
        <p:spPr>
          <a:xfrm xmlns:a="http://schemas.openxmlformats.org/drawingml/2006/main">
            <a:off x="666750" y="3810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63D"/>
                </a:solidFill>
                <a:latin typeface="Arial"/>
                <a:ea typeface="Arial"/>
                <a:cs typeface="Arial"/>
              </a:defRPr>
            </a:pPr>
            <a:r>
              <a:rPr sz="2850" b="1">
                <a:solidFill>
                  <a:srgbClr val="14263D"/>
                </a:solidFill>
                <a:latin typeface="Arial"/>
                <a:ea typeface="Arial"/>
                <a:cs typeface="Arial"/>
              </a:rPr>
              <a:t>The problem: record loss is too coarse</a:t>
            </a:r>
          </a:p>
        </p:txBody>
      </p:sp>
      <p:sp>
        <p:nvSpPr>
          <p:cNvPr id="2" name="">
            <a:extLst xmlns:a="http://schemas.openxmlformats.org/drawingml/2006/main">
              <a:ext uri="{FF2B5EF4-FFF2-40B4-BE49-F238E27FC236}">
                <a16:creationId xmlns:a16="http://schemas.microsoft.com/office/drawing/2014/main" id="{04BA07CC-3E68-4093-A521-325DB25DA6D1}"/>
              </a:ext>
            </a:extLst>
          </p:cNvPr>
          <p:cNvSpPr>
            <a:spLocks xmlns:a="http://schemas.openxmlformats.org/drawingml/2006/main" noGrp="1"/>
          </p:cNvSpPr>
          <p:nvPr/>
        </p:nvSpPr>
        <p:spPr>
          <a:xfrm xmlns:a="http://schemas.openxmlformats.org/drawingml/2006/main">
            <a:off x="666750" y="1057275"/>
            <a:ext cx="10858500" cy="0"/>
          </a:xfrm>
          <a:prstGeom xmlns:a="http://schemas.openxmlformats.org/drawingml/2006/main" prst="line">
            <a:avLst/>
          </a:prstGeom>
          <a:noFill xmlns:a="http://schemas.openxmlformats.org/drawingml/2006/main"/>
          <a:ln xmlns:a="http://schemas.openxmlformats.org/drawingml/2006/main" w="38100">
            <a:solidFill>
              <a:srgbClr val="087E82"/>
            </a:solidFill>
            <a:prstDash val="solid"/>
          </a:ln>
        </p:spPr>
      </p:sp>
      <p:sp>
        <p:nvSpPr>
          <p:cNvPr id="3" name="">
            <a:extLst xmlns:a="http://schemas.openxmlformats.org/drawingml/2006/main">
              <a:ext uri="{FF2B5EF4-FFF2-40B4-BE49-F238E27FC236}">
                <a16:creationId xmlns:a16="http://schemas.microsoft.com/office/drawing/2014/main" id="{FD9EC9BF-87D4-4519-94C0-343362B25457}"/>
              </a:ext>
            </a:extLst>
          </p:cNvPr>
          <p:cNvSpPr>
            <a:spLocks xmlns:a="http://schemas.openxmlformats.org/drawingml/2006/main" noGrp="1"/>
          </p:cNvSpPr>
          <p:nvPr/>
        </p:nvSpPr>
        <p:spPr>
          <a:xfrm xmlns:a="http://schemas.openxmlformats.org/drawingml/2006/main">
            <a:off x="11182350" y="63436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B6E7D"/>
                </a:solidFill>
                <a:latin typeface="Arial"/>
                <a:ea typeface="Arial"/>
                <a:cs typeface="Arial"/>
              </a:defRPr>
            </a:pPr>
            <a:r>
              <a:rPr sz="1200" b="0">
                <a:solidFill>
                  <a:srgbClr val="5B6E7D"/>
                </a:solidFill>
                <a:latin typeface="Arial"/>
                <a:ea typeface="Arial"/>
                <a:cs typeface="Arial"/>
              </a:rPr>
              <a:t>02</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1e294e90f454ad7"/>
          <a:stretch xmlns:a="http://schemas.openxmlformats.org/drawingml/2006/main"/>
        </p:blipFill>
        <p:spPr>
          <a:xfrm xmlns:a="http://schemas.openxmlformats.org/drawingml/2006/main">
            <a:off x="847725" y="1666875"/>
            <a:ext cx="857250" cy="85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05D9F5E-FA24-47D3-A225-3311EBD57898}"/>
              </a:ext>
            </a:extLst>
          </p:cNvPr>
          <p:cNvSpPr>
            <a:spLocks xmlns:a="http://schemas.openxmlformats.org/drawingml/2006/main" noGrp="1"/>
          </p:cNvSpPr>
          <p:nvPr/>
        </p:nvSpPr>
        <p:spPr>
          <a:xfrm xmlns:a="http://schemas.openxmlformats.org/drawingml/2006/main">
            <a:off x="2000250" y="1914525"/>
            <a:ext cx="2333625" cy="781050"/>
          </a:xfrm>
          <a:prstGeom xmlns:a="http://schemas.openxmlformats.org/drawingml/2006/main" prst="rect">
            <a:avLst/>
          </a:prstGeom>
          <a:solidFill xmlns:a="http://schemas.openxmlformats.org/drawingml/2006/main">
            <a:srgbClr val="DDF2F0"/>
          </a:solidFill>
          <a:ln xmlns:a="http://schemas.openxmlformats.org/drawingml/2006/main" w="19050">
            <a:solidFill>
              <a:srgbClr val="087E82"/>
            </a:solidFill>
            <a:prstDash val="solid"/>
          </a:ln>
        </p:spPr>
      </p:sp>
      <p:sp>
        <p:nvSpPr>
          <p:cNvPr id="6" name="">
            <a:extLst xmlns:a="http://schemas.openxmlformats.org/drawingml/2006/main">
              <a:ext uri="{FF2B5EF4-FFF2-40B4-BE49-F238E27FC236}">
                <a16:creationId xmlns:a16="http://schemas.microsoft.com/office/drawing/2014/main" id="{C1CA8A28-D250-402B-BF16-80E766A1E4F2}"/>
              </a:ext>
            </a:extLst>
          </p:cNvPr>
          <p:cNvSpPr>
            <a:spLocks xmlns:a="http://schemas.openxmlformats.org/drawingml/2006/main" noGrp="1"/>
          </p:cNvSpPr>
          <p:nvPr/>
        </p:nvSpPr>
        <p:spPr>
          <a:xfrm xmlns:a="http://schemas.openxmlformats.org/drawingml/2006/main">
            <a:off x="2152650" y="2038350"/>
            <a:ext cx="20288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63D"/>
                </a:solidFill>
                <a:latin typeface="Arial"/>
                <a:ea typeface="Arial"/>
                <a:cs typeface="Arial"/>
              </a:defRPr>
            </a:pPr>
            <a:r>
              <a:rPr sz="1800" b="1">
                <a:solidFill>
                  <a:srgbClr val="14263D"/>
                </a:solidFill>
                <a:latin typeface="Arial"/>
                <a:ea typeface="Arial"/>
                <a:cs typeface="Arial"/>
              </a:rPr>
              <a:t>Schema change</a:t>
            </a:r>
          </a:p>
        </p:txBody>
      </p:sp>
      <p:sp>
        <p:nvSpPr>
          <p:cNvPr id="7" name="">
            <a:extLst xmlns:a="http://schemas.openxmlformats.org/drawingml/2006/main">
              <a:ext uri="{FF2B5EF4-FFF2-40B4-BE49-F238E27FC236}">
                <a16:creationId xmlns:a16="http://schemas.microsoft.com/office/drawing/2014/main" id="{935B15C6-C847-4CE6-B3DB-C797222C361A}"/>
              </a:ext>
            </a:extLst>
          </p:cNvPr>
          <p:cNvSpPr>
            <a:spLocks xmlns:a="http://schemas.openxmlformats.org/drawingml/2006/main" noGrp="1"/>
          </p:cNvSpPr>
          <p:nvPr/>
        </p:nvSpPr>
        <p:spPr>
          <a:xfrm xmlns:a="http://schemas.openxmlformats.org/drawingml/2006/main">
            <a:off x="5857875" y="1457325"/>
            <a:ext cx="333375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C56825"/>
            </a:solidFill>
            <a:prstDash val="solid"/>
          </a:ln>
        </p:spPr>
      </p:sp>
      <p:sp>
        <p:nvSpPr>
          <p:cNvPr id="8" name="">
            <a:extLst xmlns:a="http://schemas.openxmlformats.org/drawingml/2006/main">
              <a:ext uri="{FF2B5EF4-FFF2-40B4-BE49-F238E27FC236}">
                <a16:creationId xmlns:a16="http://schemas.microsoft.com/office/drawing/2014/main" id="{41C1909C-B37C-4DC2-A87A-F497B134AF53}"/>
              </a:ext>
            </a:extLst>
          </p:cNvPr>
          <p:cNvSpPr>
            <a:spLocks xmlns:a="http://schemas.openxmlformats.org/drawingml/2006/main" noGrp="1"/>
          </p:cNvSpPr>
          <p:nvPr/>
        </p:nvSpPr>
        <p:spPr>
          <a:xfrm xmlns:a="http://schemas.openxmlformats.org/drawingml/2006/main">
            <a:off x="6010275" y="1581150"/>
            <a:ext cx="30289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63D"/>
                </a:solidFill>
                <a:latin typeface="Arial"/>
                <a:ea typeface="Arial"/>
                <a:cs typeface="Arial"/>
              </a:defRPr>
            </a:pPr>
            <a:r>
              <a:rPr sz="1650" b="1">
                <a:solidFill>
                  <a:srgbClr val="14263D"/>
                </a:solidFill>
                <a:latin typeface="Arial"/>
                <a:ea typeface="Arial"/>
                <a:cs typeface="Arial"/>
              </a:rPr>
              <a:t>Record-level label</a:t>
            </a:r>
          </a:p>
          <a:p xmlns:a="http://schemas.openxmlformats.org/drawingml/2006/main">
            <a:pPr>
              <a:defRPr sz="1650" b="1">
                <a:solidFill>
                  <a:srgbClr val="14263D"/>
                </a:solidFill>
                <a:latin typeface="Arial"/>
                <a:ea typeface="Arial"/>
                <a:cs typeface="Arial"/>
              </a:defRPr>
            </a:pPr>
            <a:r>
              <a:rPr sz="1650" b="1">
                <a:solidFill>
                  <a:srgbClr val="14263D"/>
                </a:solidFill>
                <a:latin typeface="Arial"/>
                <a:ea typeface="Arial"/>
                <a:cs typeface="Arial"/>
              </a:rPr>
              <a:t>“lossy”</a:t>
            </a:r>
          </a:p>
        </p:txBody>
      </p:sp>
      <p:sp>
        <p:nvSpPr>
          <p:cNvPr id="9" name="">
            <a:extLst xmlns:a="http://schemas.openxmlformats.org/drawingml/2006/main">
              <a:ext uri="{FF2B5EF4-FFF2-40B4-BE49-F238E27FC236}">
                <a16:creationId xmlns:a16="http://schemas.microsoft.com/office/drawing/2014/main" id="{33B237F7-3D23-4035-B110-A6A3BC66DB29}"/>
              </a:ext>
            </a:extLst>
          </p:cNvPr>
          <p:cNvSpPr>
            <a:spLocks xmlns:a="http://schemas.openxmlformats.org/drawingml/2006/main" noGrp="1"/>
          </p:cNvSpPr>
          <p:nvPr/>
        </p:nvSpPr>
        <p:spPr>
          <a:xfrm xmlns:a="http://schemas.openxmlformats.org/drawingml/2006/main">
            <a:off x="5857875" y="2895600"/>
            <a:ext cx="333375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087E82"/>
            </a:solidFill>
            <a:prstDash val="solid"/>
          </a:ln>
        </p:spPr>
      </p:sp>
      <p:sp>
        <p:nvSpPr>
          <p:cNvPr id="10" name="">
            <a:extLst xmlns:a="http://schemas.openxmlformats.org/drawingml/2006/main">
              <a:ext uri="{FF2B5EF4-FFF2-40B4-BE49-F238E27FC236}">
                <a16:creationId xmlns:a16="http://schemas.microsoft.com/office/drawing/2014/main" id="{6D02BDF3-1823-48C8-8D6C-8C0E1779E1F7}"/>
              </a:ext>
            </a:extLst>
          </p:cNvPr>
          <p:cNvSpPr>
            <a:spLocks xmlns:a="http://schemas.openxmlformats.org/drawingml/2006/main" noGrp="1"/>
          </p:cNvSpPr>
          <p:nvPr/>
        </p:nvSpPr>
        <p:spPr>
          <a:xfrm xmlns:a="http://schemas.openxmlformats.org/drawingml/2006/main">
            <a:off x="6010275" y="3019425"/>
            <a:ext cx="30289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63D"/>
                </a:solidFill>
                <a:latin typeface="Arial"/>
                <a:ea typeface="Arial"/>
                <a:cs typeface="Arial"/>
              </a:defRPr>
            </a:pPr>
            <a:r>
              <a:rPr sz="1650" b="1">
                <a:solidFill>
                  <a:srgbClr val="14263D"/>
                </a:solidFill>
                <a:latin typeface="Arial"/>
                <a:ea typeface="Arial"/>
                <a:cs typeface="Arial"/>
              </a:rPr>
              <a:t>Pipeline observation</a:t>
            </a:r>
          </a:p>
          <a:p xmlns:a="http://schemas.openxmlformats.org/drawingml/2006/main">
            <a:pPr>
              <a:defRPr sz="1650" b="1">
                <a:solidFill>
                  <a:srgbClr val="14263D"/>
                </a:solidFill>
                <a:latin typeface="Arial"/>
                <a:ea typeface="Arial"/>
                <a:cs typeface="Arial"/>
              </a:defRPr>
            </a:pPr>
            <a:r>
              <a:rPr sz="1650" b="1">
                <a:solidFill>
                  <a:srgbClr val="14263D"/>
                </a:solidFill>
                <a:latin typeface="Arial"/>
                <a:ea typeface="Arial"/>
                <a:cs typeface="Arial"/>
              </a:rPr>
              <a:t>may be preserved</a:t>
            </a:r>
          </a:p>
        </p:txBody>
      </p:sp>
      <p:cxnSp>
        <p:nvCxnSpPr>
          <p:cNvPr id="26" name=""/>
          <p:cNvCxnSpPr>
            <a:stCxn xmlns:a="http://schemas.openxmlformats.org/drawingml/2006/main" id="5" idx="3"/>
            <a:endCxn xmlns:a="http://schemas.openxmlformats.org/drawingml/2006/main" id="7" idx="1"/>
          </p:cNvCxnSpPr>
          <p:nvPr/>
        </p:nvCxnSpPr>
        <p:spPr>
          <a:xfrm xmlns:a="http://schemas.openxmlformats.org/drawingml/2006/main" flipV="1">
            <a:off x="4333875" y="1876425"/>
            <a:ext cx="1524000" cy="428625"/>
          </a:xfrm>
          <a:prstGeom xmlns:a="http://schemas.openxmlformats.org/drawingml/2006/main" prst="bentConnector3">
            <a:avLst>
              <a:gd name="adj1" fmla="val 50000"/>
            </a:avLst>
          </a:prstGeom>
          <a:ln xmlns:a="http://schemas.openxmlformats.org/drawingml/2006/main" w="19050">
            <a:solidFill>
              <a:srgbClr val="C56825"/>
            </a:solidFill>
            <a:prstDash val="solid"/>
          </a:ln>
        </p:spPr>
      </p:cxnSp>
      <p:cxnSp>
        <p:nvCxnSpPr>
          <p:cNvPr id="27" name=""/>
          <p:cNvCxnSpPr>
            <a:stCxn xmlns:a="http://schemas.openxmlformats.org/drawingml/2006/main" id="5" idx="3"/>
            <a:endCxn xmlns:a="http://schemas.openxmlformats.org/drawingml/2006/main" id="9" idx="1"/>
          </p:cNvCxnSpPr>
          <p:nvPr/>
        </p:nvCxnSpPr>
        <p:spPr>
          <a:xfrm xmlns:a="http://schemas.openxmlformats.org/drawingml/2006/main">
            <a:off x="4333875" y="2305050"/>
            <a:ext cx="1524000" cy="1009650"/>
          </a:xfrm>
          <a:prstGeom xmlns:a="http://schemas.openxmlformats.org/drawingml/2006/main" prst="bentConnector3">
            <a:avLst>
              <a:gd name="adj1" fmla="val 50000"/>
            </a:avLst>
          </a:prstGeom>
          <a:ln xmlns:a="http://schemas.openxmlformats.org/drawingml/2006/main" w="19050">
            <a:solidFill>
              <a:srgbClr val="087E82"/>
            </a:solidFill>
            <a:prstDash val="solid"/>
          </a:ln>
        </p:spPr>
      </p:cxnSp>
      <p:sp>
        <p:nvSpPr>
          <p:cNvPr id="13" name="">
            <a:extLst xmlns:a="http://schemas.openxmlformats.org/drawingml/2006/main">
              <a:ext uri="{FF2B5EF4-FFF2-40B4-BE49-F238E27FC236}">
                <a16:creationId xmlns:a16="http://schemas.microsoft.com/office/drawing/2014/main" id="{3518F7CC-2771-4FBC-B905-62C08E30E15F}"/>
              </a:ext>
            </a:extLst>
          </p:cNvPr>
          <p:cNvSpPr>
            <a:spLocks xmlns:a="http://schemas.openxmlformats.org/drawingml/2006/main" noGrp="1"/>
          </p:cNvSpPr>
          <p:nvPr/>
        </p:nvSpPr>
        <p:spPr>
          <a:xfrm xmlns:a="http://schemas.openxmlformats.org/drawingml/2006/main">
            <a:off x="666750" y="4467225"/>
            <a:ext cx="1038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63D"/>
                </a:solidFill>
                <a:latin typeface="Arial"/>
                <a:ea typeface="Arial"/>
                <a:cs typeface="Arial"/>
              </a:defRPr>
            </a:pPr>
            <a:r>
              <a:rPr sz="2025" b="1">
                <a:solidFill>
                  <a:srgbClr val="14263D"/>
                </a:solidFill>
                <a:latin typeface="Arial"/>
                <a:ea typeface="Arial"/>
                <a:cs typeface="Arial"/>
              </a:rPr>
              <a:t>Record reconstruction and pipeline behavior answer different questions.</a:t>
            </a:r>
          </a:p>
        </p:txBody>
      </p:sp>
      <p:sp>
        <p:nvSpPr>
          <p:cNvPr id="14" name="">
            <a:extLst xmlns:a="http://schemas.openxmlformats.org/drawingml/2006/main">
              <a:ext uri="{FF2B5EF4-FFF2-40B4-BE49-F238E27FC236}">
                <a16:creationId xmlns:a16="http://schemas.microsoft.com/office/drawing/2014/main" id="{2B67583E-FBED-47E2-913F-03BDB28E6DC0}"/>
              </a:ext>
            </a:extLst>
          </p:cNvPr>
          <p:cNvSpPr>
            <a:spLocks xmlns:a="http://schemas.openxmlformats.org/drawingml/2006/main" noGrp="1"/>
          </p:cNvSpPr>
          <p:nvPr/>
        </p:nvSpPr>
        <p:spPr>
          <a:xfrm xmlns:a="http://schemas.openxmlformats.org/drawingml/2006/main">
            <a:off x="666750" y="50292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43746"/>
                </a:solidFill>
                <a:latin typeface="Arial"/>
                <a:ea typeface="Arial"/>
                <a:cs typeface="Arial"/>
              </a:defRPr>
            </a:pPr>
            <a:r>
              <a:rPr sz="1725" b="0">
                <a:solidFill>
                  <a:srgbClr val="243746"/>
                </a:solidFill>
                <a:latin typeface="Arial"/>
                <a:ea typeface="Arial"/>
                <a:cs typeface="Arial"/>
              </a:rPr>
              <a:t>A small sample can reveal a failure; agreement on sampled rows cannot prove safety.</a:t>
            </a:r>
          </a:p>
        </p:txBody>
      </p:sp>
      <p:sp>
        <p:nvSpPr>
          <p:cNvPr id="15" name="">
            <a:extLst xmlns:a="http://schemas.openxmlformats.org/drawingml/2006/main">
              <a:ext uri="{FF2B5EF4-FFF2-40B4-BE49-F238E27FC236}">
                <a16:creationId xmlns:a16="http://schemas.microsoft.com/office/drawing/2014/main" id="{AC948316-38F5-4874-8AE6-F1867F12E2DB}"/>
              </a:ext>
            </a:extLst>
          </p:cNvPr>
          <p:cNvSpPr>
            <a:spLocks xmlns:a="http://schemas.openxmlformats.org/drawingml/2006/main" noGrp="1"/>
          </p:cNvSpPr>
          <p:nvPr/>
        </p:nvSpPr>
        <p:spPr>
          <a:xfrm xmlns:a="http://schemas.openxmlformats.org/drawingml/2006/main">
            <a:off x="666750" y="57912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B6E7D"/>
                </a:solidFill>
                <a:latin typeface="Arial"/>
                <a:ea typeface="Arial"/>
                <a:cs typeface="Arial"/>
              </a:defRPr>
            </a:pPr>
            <a:r>
              <a:rPr sz="1350" b="0">
                <a:solidFill>
                  <a:srgbClr val="5B6E7D"/>
                </a:solidFill>
                <a:latin typeface="Arial"/>
                <a:ea typeface="Arial"/>
                <a:cs typeface="Arial"/>
              </a:rPr>
              <a:t>Observation includes selected typed values, filtering, validation failures, and expression errors.</a:t>
            </a:r>
          </a:p>
        </p:txBody>
      </p:sp>
    </p:spTree>
    <p:extLst>
      <p:ext uri="{BB962C8B-B14F-4D97-AF65-F5344CB8AC3E}">
        <p14:creationId xmlns:p14="http://schemas.microsoft.com/office/powerpoint/2010/main" val="6610114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7C02BF-97F8-4F59-A00C-0E9E32C391C1}"/>
              </a:ext>
            </a:extLst>
          </p:cNvPr>
          <p:cNvSpPr>
            <a:spLocks xmlns:a="http://schemas.openxmlformats.org/drawingml/2006/main" noGrp="1"/>
          </p:cNvSpPr>
          <p:nvPr/>
        </p:nvSpPr>
        <p:spPr>
          <a:xfrm xmlns:a="http://schemas.openxmlformats.org/drawingml/2006/main">
            <a:off x="666750" y="3810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63D"/>
                </a:solidFill>
                <a:latin typeface="Arial"/>
                <a:ea typeface="Arial"/>
                <a:cs typeface="Arial"/>
              </a:defRPr>
            </a:pPr>
            <a:r>
              <a:rPr sz="2850" b="1">
                <a:solidFill>
                  <a:srgbClr val="14263D"/>
                </a:solidFill>
                <a:latin typeface="Arial"/>
                <a:ea typeface="Arial"/>
                <a:cs typeface="Arial"/>
              </a:rPr>
              <a:t>One mapping, two pipeline outcomes</a:t>
            </a:r>
          </a:p>
        </p:txBody>
      </p:sp>
      <p:sp>
        <p:nvSpPr>
          <p:cNvPr id="2" name="">
            <a:extLst xmlns:a="http://schemas.openxmlformats.org/drawingml/2006/main">
              <a:ext uri="{FF2B5EF4-FFF2-40B4-BE49-F238E27FC236}">
                <a16:creationId xmlns:a16="http://schemas.microsoft.com/office/drawing/2014/main" id="{13854C23-3730-449A-A748-9C214020DBDE}"/>
              </a:ext>
            </a:extLst>
          </p:cNvPr>
          <p:cNvSpPr>
            <a:spLocks xmlns:a="http://schemas.openxmlformats.org/drawingml/2006/main" noGrp="1"/>
          </p:cNvSpPr>
          <p:nvPr/>
        </p:nvSpPr>
        <p:spPr>
          <a:xfrm xmlns:a="http://schemas.openxmlformats.org/drawingml/2006/main">
            <a:off x="666750" y="1057275"/>
            <a:ext cx="10858500" cy="0"/>
          </a:xfrm>
          <a:prstGeom xmlns:a="http://schemas.openxmlformats.org/drawingml/2006/main" prst="line">
            <a:avLst/>
          </a:prstGeom>
          <a:noFill xmlns:a="http://schemas.openxmlformats.org/drawingml/2006/main"/>
          <a:ln xmlns:a="http://schemas.openxmlformats.org/drawingml/2006/main" w="38100">
            <a:solidFill>
              <a:srgbClr val="087E82"/>
            </a:solidFill>
            <a:prstDash val="solid"/>
          </a:ln>
        </p:spPr>
      </p:sp>
      <p:sp>
        <p:nvSpPr>
          <p:cNvPr id="3" name="">
            <a:extLst xmlns:a="http://schemas.openxmlformats.org/drawingml/2006/main">
              <a:ext uri="{FF2B5EF4-FFF2-40B4-BE49-F238E27FC236}">
                <a16:creationId xmlns:a16="http://schemas.microsoft.com/office/drawing/2014/main" id="{EE747407-78D3-480D-938F-AFD7F049CBE0}"/>
              </a:ext>
            </a:extLst>
          </p:cNvPr>
          <p:cNvSpPr>
            <a:spLocks xmlns:a="http://schemas.openxmlformats.org/drawingml/2006/main" noGrp="1"/>
          </p:cNvSpPr>
          <p:nvPr/>
        </p:nvSpPr>
        <p:spPr>
          <a:xfrm xmlns:a="http://schemas.openxmlformats.org/drawingml/2006/main">
            <a:off x="11182350" y="63436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B6E7D"/>
                </a:solidFill>
                <a:latin typeface="Arial"/>
                <a:ea typeface="Arial"/>
                <a:cs typeface="Arial"/>
              </a:defRPr>
            </a:pPr>
            <a:r>
              <a:rPr sz="1200" b="0">
                <a:solidFill>
                  <a:srgbClr val="5B6E7D"/>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B5D5732A-AF11-4DCD-BB68-D610CE0AA290}"/>
              </a:ext>
            </a:extLst>
          </p:cNvPr>
          <p:cNvSpPr>
            <a:spLocks xmlns:a="http://schemas.openxmlformats.org/drawingml/2006/main" noGrp="1"/>
          </p:cNvSpPr>
          <p:nvPr/>
        </p:nvSpPr>
        <p:spPr>
          <a:xfrm xmlns:a="http://schemas.openxmlformats.org/drawingml/2006/main">
            <a:off x="742950" y="15240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263D"/>
                </a:solidFill>
                <a:latin typeface="Arial"/>
                <a:ea typeface="Arial"/>
                <a:cs typeface="Arial"/>
              </a:defRPr>
            </a:pPr>
            <a:r>
              <a:rPr sz="2325" b="1">
                <a:solidFill>
                  <a:srgbClr val="14263D"/>
                </a:solidFill>
                <a:latin typeface="Arial"/>
                <a:ea typeface="Arial"/>
                <a:cs typeface="Arial"/>
              </a:rPr>
              <a:t>Old decimal score = 40.7</a:t>
            </a:r>
          </a:p>
        </p:txBody>
      </p:sp>
      <p:sp>
        <p:nvSpPr>
          <p:cNvPr id="5" name="">
            <a:extLst xmlns:a="http://schemas.openxmlformats.org/drawingml/2006/main">
              <a:ext uri="{FF2B5EF4-FFF2-40B4-BE49-F238E27FC236}">
                <a16:creationId xmlns:a16="http://schemas.microsoft.com/office/drawing/2014/main" id="{6CA87DEC-7162-474C-8634-9532A0A0C19E}"/>
              </a:ext>
            </a:extLst>
          </p:cNvPr>
          <p:cNvSpPr>
            <a:spLocks xmlns:a="http://schemas.openxmlformats.org/drawingml/2006/main" noGrp="1"/>
          </p:cNvSpPr>
          <p:nvPr/>
        </p:nvSpPr>
        <p:spPr>
          <a:xfrm xmlns:a="http://schemas.openxmlformats.org/drawingml/2006/main">
            <a:off x="6191250" y="152400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E82"/>
                </a:solidFill>
                <a:latin typeface="Arial"/>
                <a:ea typeface="Arial"/>
                <a:cs typeface="Arial"/>
              </a:defRPr>
            </a:pPr>
            <a:r>
              <a:rPr sz="2325" b="1">
                <a:solidFill>
                  <a:srgbClr val="087E82"/>
                </a:solidFill>
                <a:latin typeface="Arial"/>
                <a:ea typeface="Arial"/>
                <a:cs typeface="Arial"/>
              </a:rPr>
              <a:t>Migrated integer score = 40</a:t>
            </a:r>
          </a:p>
        </p:txBody>
      </p:sp>
      <p:graphicFrame>
        <p:nvGraphicFramePr>
          <p:cNvPr id="14" name=""/>
          <p:cNvGraphicFramePr/>
          <p:nvPr/>
        </p:nvGraphicFramePr>
        <p:xfrm>
          <a:off xmlns:a="http://schemas.openxmlformats.org/drawingml/2006/main" x="714375" y="2400300"/>
          <a:ext xmlns:a="http://schemas.openxmlformats.org/drawingml/2006/main" cx="10744200" cy="2266950"/>
        </p:xfrm>
        <a:graphic xmlns:a="http://schemas.openxmlformats.org/drawingml/2006/main">
          <a:graphicData uri="http://schemas.openxmlformats.org/drawingml/2006/table">
            <a:tbl>
              <a:tblPr firstRow="1" bandRow="0"/>
              <a:tblGrid>
                <a:gridCol w="3714750"/>
                <a:gridCol w="2238375"/>
                <a:gridCol w="2238375"/>
                <a:gridCol w="2552700"/>
              </a:tblGrid>
              <a:tr h="755650">
                <a:tc>
                  <a:txBody>
                    <a:bodyPr>
                      <a:noAutofit/>
                    </a:bodyPr>
                    <a:lstStyle/>
                    <a:p>
                      <a:r>
                        <a:rPr sz="1500" b="1">
                          <a:solidFill>
                            <a:srgbClr val="FFFFFF"/>
                          </a:solidFill>
                          <a:latin typeface="Arial"/>
                          <a:ea typeface="Arial"/>
                          <a:cs typeface="Arial"/>
                        </a:rPr>
                        <a:t>Pipeline condition</a:t>
                      </a:r>
                    </a:p>
                  </a:txBody>
                  <a:tcPr marL="91440" marR="91440" marT="45720" marB="45720">
                    <a:solidFill>
                      <a:srgbClr val="14263D"/>
                    </a:solidFill>
                  </a:tcPr>
                </a:tc>
                <a:tc>
                  <a:txBody>
                    <a:bodyPr>
                      <a:noAutofit/>
                    </a:bodyPr>
                    <a:lstStyle/>
                    <a:p>
                      <a:r>
                        <a:rPr sz="1500" b="1">
                          <a:solidFill>
                            <a:srgbClr val="FFFFFF"/>
                          </a:solidFill>
                          <a:latin typeface="Arial"/>
                          <a:ea typeface="Arial"/>
                          <a:cs typeface="Arial"/>
                        </a:rPr>
                        <a:t>Before migration</a:t>
                      </a:r>
                    </a:p>
                  </a:txBody>
                  <a:tcPr marL="91440" marR="91440" marT="45720" marB="45720">
                    <a:solidFill>
                      <a:srgbClr val="14263D"/>
                    </a:solidFill>
                  </a:tcPr>
                </a:tc>
                <a:tc>
                  <a:txBody>
                    <a:bodyPr>
                      <a:noAutofit/>
                    </a:bodyPr>
                    <a:lstStyle/>
                    <a:p>
                      <a:r>
                        <a:rPr sz="1500" b="1">
                          <a:solidFill>
                            <a:srgbClr val="FFFFFF"/>
                          </a:solidFill>
                          <a:latin typeface="Arial"/>
                          <a:ea typeface="Arial"/>
                          <a:cs typeface="Arial"/>
                        </a:rPr>
                        <a:t>After migration</a:t>
                      </a:r>
                    </a:p>
                  </a:txBody>
                  <a:tcPr marL="91440" marR="91440" marT="45720" marB="45720">
                    <a:solidFill>
                      <a:srgbClr val="14263D"/>
                    </a:solidFill>
                  </a:tcPr>
                </a:tc>
                <a:tc>
                  <a:txBody>
                    <a:bodyPr>
                      <a:noAutofit/>
                    </a:bodyPr>
                    <a:lstStyle/>
                    <a:p>
                      <a:r>
                        <a:rPr sz="1500" b="1">
                          <a:solidFill>
                            <a:srgbClr val="FFFFFF"/>
                          </a:solidFill>
                          <a:latin typeface="Arial"/>
                          <a:ea typeface="Arial"/>
                          <a:cs typeface="Arial"/>
                        </a:rPr>
                        <a:t>Outcome</a:t>
                      </a:r>
                    </a:p>
                  </a:txBody>
                  <a:tcPr marL="91440" marR="91440" marT="45720" marB="45720">
                    <a:solidFill>
                      <a:srgbClr val="14263D"/>
                    </a:solidFill>
                  </a:tcPr>
                </a:tc>
              </a:tr>
              <a:tr h="755650">
                <a:tc>
                  <a:txBody>
                    <a:bodyPr>
                      <a:noAutofit/>
                    </a:bodyPr>
                    <a:lstStyle/>
                    <a:p>
                      <a:r>
                        <a:rPr sz="1500" b="0">
                          <a:solidFill>
                            <a:srgbClr val="243746"/>
                          </a:solidFill>
                          <a:latin typeface="Arial"/>
                          <a:ea typeface="Arial"/>
                          <a:cs typeface="Arial"/>
                        </a:rPr>
                        <a:t>score &gt;= 40</a:t>
                      </a:r>
                    </a:p>
                  </a:txBody>
                  <a:tcPr marL="91440" marR="91440" marT="45720" marB="45720">
                    <a:solidFill>
                      <a:srgbClr val="FFFFFF"/>
                    </a:solidFill>
                  </a:tcPr>
                </a:tc>
                <a:tc>
                  <a:txBody>
                    <a:bodyPr>
                      <a:noAutofit/>
                    </a:bodyPr>
                    <a:lstStyle/>
                    <a:p>
                      <a:r>
                        <a:rPr sz="1500" b="0">
                          <a:solidFill>
                            <a:srgbClr val="243746"/>
                          </a:solidFill>
                          <a:latin typeface="Arial"/>
                          <a:ea typeface="Arial"/>
                          <a:cs typeface="Arial"/>
                        </a:rPr>
                        <a:t>true</a:t>
                      </a:r>
                    </a:p>
                  </a:txBody>
                  <a:tcPr marL="91440" marR="91440" marT="45720" marB="45720">
                    <a:solidFill>
                      <a:srgbClr val="FFFFFF"/>
                    </a:solidFill>
                  </a:tcPr>
                </a:tc>
                <a:tc>
                  <a:txBody>
                    <a:bodyPr>
                      <a:noAutofit/>
                    </a:bodyPr>
                    <a:lstStyle/>
                    <a:p>
                      <a:r>
                        <a:rPr sz="1500" b="0">
                          <a:solidFill>
                            <a:srgbClr val="243746"/>
                          </a:solidFill>
                          <a:latin typeface="Arial"/>
                          <a:ea typeface="Arial"/>
                          <a:cs typeface="Arial"/>
                        </a:rPr>
                        <a:t>true</a:t>
                      </a:r>
                    </a:p>
                  </a:txBody>
                  <a:tcPr marL="91440" marR="91440" marT="45720" marB="45720">
                    <a:solidFill>
                      <a:srgbClr val="FFFFFF"/>
                    </a:solidFill>
                  </a:tcPr>
                </a:tc>
                <a:tc>
                  <a:txBody>
                    <a:bodyPr>
                      <a:noAutofit/>
                    </a:bodyPr>
                    <a:lstStyle/>
                    <a:p>
                      <a:r>
                        <a:rPr sz="1500" b="0">
                          <a:solidFill>
                            <a:srgbClr val="243746"/>
                          </a:solidFill>
                          <a:latin typeface="Arial"/>
                          <a:ea typeface="Arial"/>
                          <a:cs typeface="Arial"/>
                        </a:rPr>
                        <a:t>preserved</a:t>
                      </a:r>
                    </a:p>
                  </a:txBody>
                  <a:tcPr marL="91440" marR="91440" marT="45720" marB="45720">
                    <a:solidFill>
                      <a:srgbClr val="FFFFFF"/>
                    </a:solidFill>
                  </a:tcPr>
                </a:tc>
              </a:tr>
              <a:tr h="755650">
                <a:tc>
                  <a:txBody>
                    <a:bodyPr>
                      <a:noAutofit/>
                    </a:bodyPr>
                    <a:lstStyle/>
                    <a:p>
                      <a:r>
                        <a:rPr sz="1500" b="0">
                          <a:solidFill>
                            <a:srgbClr val="243746"/>
                          </a:solidFill>
                          <a:latin typeface="Arial"/>
                          <a:ea typeface="Arial"/>
                          <a:cs typeface="Arial"/>
                        </a:rPr>
                        <a:t>score &gt; 40</a:t>
                      </a:r>
                    </a:p>
                  </a:txBody>
                  <a:tcPr marL="91440" marR="91440" marT="45720" marB="45720">
                    <a:solidFill>
                      <a:srgbClr val="F4F8F9"/>
                    </a:solidFill>
                  </a:tcPr>
                </a:tc>
                <a:tc>
                  <a:txBody>
                    <a:bodyPr>
                      <a:noAutofit/>
                    </a:bodyPr>
                    <a:lstStyle/>
                    <a:p>
                      <a:r>
                        <a:rPr sz="1500" b="0">
                          <a:solidFill>
                            <a:srgbClr val="243746"/>
                          </a:solidFill>
                          <a:latin typeface="Arial"/>
                          <a:ea typeface="Arial"/>
                          <a:cs typeface="Arial"/>
                        </a:rPr>
                        <a:t>true</a:t>
                      </a:r>
                    </a:p>
                  </a:txBody>
                  <a:tcPr marL="91440" marR="91440" marT="45720" marB="45720">
                    <a:solidFill>
                      <a:srgbClr val="F4F8F9"/>
                    </a:solidFill>
                  </a:tcPr>
                </a:tc>
                <a:tc>
                  <a:txBody>
                    <a:bodyPr>
                      <a:noAutofit/>
                    </a:bodyPr>
                    <a:lstStyle/>
                    <a:p>
                      <a:r>
                        <a:rPr sz="1500" b="0">
                          <a:solidFill>
                            <a:srgbClr val="243746"/>
                          </a:solidFill>
                          <a:latin typeface="Arial"/>
                          <a:ea typeface="Arial"/>
                          <a:cs typeface="Arial"/>
                        </a:rPr>
                        <a:t>false</a:t>
                      </a:r>
                    </a:p>
                  </a:txBody>
                  <a:tcPr marL="91440" marR="91440" marT="45720" marB="45720">
                    <a:solidFill>
                      <a:srgbClr val="F4F8F9"/>
                    </a:solidFill>
                  </a:tcPr>
                </a:tc>
                <a:tc>
                  <a:txBody>
                    <a:bodyPr>
                      <a:noAutofit/>
                    </a:bodyPr>
                    <a:lstStyle/>
                    <a:p>
                      <a:r>
                        <a:rPr sz="1500" b="0">
                          <a:solidFill>
                            <a:srgbClr val="243746"/>
                          </a:solidFill>
                          <a:latin typeface="Arial"/>
                          <a:ea typeface="Arial"/>
                          <a:cs typeface="Arial"/>
                        </a:rPr>
                        <a:t>breaking at 40.7</a:t>
                      </a:r>
                    </a:p>
                  </a:txBody>
                  <a:tcPr marL="91440" marR="91440" marT="45720" marB="45720">
                    <a:solidFill>
                      <a:srgbClr val="F4F8F9"/>
                    </a:solidFill>
                  </a:tcPr>
                </a:tc>
              </a:tr>
            </a:tbl>
          </a:graphicData>
        </a:graphic>
      </p:graphicFrame>
      <p:sp>
        <p:nvSpPr>
          <p:cNvPr id="7" name="">
            <a:extLst xmlns:a="http://schemas.openxmlformats.org/drawingml/2006/main">
              <a:ext uri="{FF2B5EF4-FFF2-40B4-BE49-F238E27FC236}">
                <a16:creationId xmlns:a16="http://schemas.microsoft.com/office/drawing/2014/main" id="{F44BA46D-F1EB-480F-B77A-AAB25A00D35E}"/>
              </a:ext>
            </a:extLst>
          </p:cNvPr>
          <p:cNvSpPr>
            <a:spLocks xmlns:a="http://schemas.openxmlformats.org/drawingml/2006/main" noGrp="1"/>
          </p:cNvSpPr>
          <p:nvPr/>
        </p:nvSpPr>
        <p:spPr>
          <a:xfrm xmlns:a="http://schemas.openxmlformats.org/drawingml/2006/main">
            <a:off x="742950" y="50292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C56825"/>
                </a:solidFill>
                <a:latin typeface="Arial"/>
                <a:ea typeface="Arial"/>
                <a:cs typeface="Arial"/>
              </a:defRPr>
            </a:pPr>
            <a:r>
              <a:rPr sz="2025" b="1">
                <a:solidFill>
                  <a:srgbClr val="C56825"/>
                </a:solidFill>
                <a:latin typeface="Arial"/>
                <a:ea typeface="Arial"/>
                <a:cs typeface="Arial"/>
              </a:rPr>
              <a:t>For an atomic strict threshold, the unsafe gap is 40 &lt; score &lt; 41.</a:t>
            </a:r>
          </a:p>
        </p:txBody>
      </p:sp>
      <p:sp>
        <p:nvSpPr>
          <p:cNvPr id="8" name="">
            <a:extLst xmlns:a="http://schemas.openxmlformats.org/drawingml/2006/main">
              <a:ext uri="{FF2B5EF4-FFF2-40B4-BE49-F238E27FC236}">
                <a16:creationId xmlns:a16="http://schemas.microsoft.com/office/drawing/2014/main" id="{6C864460-FB75-49DC-9D6C-85A359853F1D}"/>
              </a:ext>
            </a:extLst>
          </p:cNvPr>
          <p:cNvSpPr>
            <a:spLocks xmlns:a="http://schemas.openxmlformats.org/drawingml/2006/main" noGrp="1"/>
          </p:cNvSpPr>
          <p:nvPr/>
        </p:nvSpPr>
        <p:spPr>
          <a:xfrm xmlns:a="http://schemas.openxmlformats.org/drawingml/2006/main">
            <a:off x="742950" y="5629275"/>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43746"/>
                </a:solidFill>
                <a:latin typeface="Arial"/>
                <a:ea typeface="Arial"/>
                <a:cs typeface="Arial"/>
              </a:defRPr>
            </a:pPr>
            <a:r>
              <a:rPr sz="1575" b="0">
                <a:solidFill>
                  <a:srgbClr val="243746"/>
                </a:solidFill>
                <a:latin typeface="Arial"/>
                <a:ea typeface="Arial"/>
                <a:cs typeface="Arial"/>
              </a:rPr>
              <a:t>A guard excludes that gap. The non-strict rule is proved for finite old decimals at positive integer thresholds.</a:t>
            </a:r>
          </a:p>
        </p:txBody>
      </p:sp>
    </p:spTree>
    <p:extLst>
      <p:ext uri="{BB962C8B-B14F-4D97-AF65-F5344CB8AC3E}">
        <p14:creationId xmlns:p14="http://schemas.microsoft.com/office/powerpoint/2010/main" val="34178407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000C734-1E00-49FD-9D9A-6E3DBFABCAED}"/>
              </a:ext>
            </a:extLst>
          </p:cNvPr>
          <p:cNvSpPr>
            <a:spLocks xmlns:a="http://schemas.openxmlformats.org/drawingml/2006/main" noGrp="1"/>
          </p:cNvSpPr>
          <p:nvPr/>
        </p:nvSpPr>
        <p:spPr>
          <a:xfrm xmlns:a="http://schemas.openxmlformats.org/drawingml/2006/main">
            <a:off x="666750" y="3810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63D"/>
                </a:solidFill>
                <a:latin typeface="Arial"/>
                <a:ea typeface="Arial"/>
                <a:cs typeface="Arial"/>
              </a:defRPr>
            </a:pPr>
            <a:r>
              <a:rPr sz="2850" b="1">
                <a:solidFill>
                  <a:srgbClr val="14263D"/>
                </a:solidFill>
                <a:latin typeface="Arial"/>
                <a:ea typeface="Arial"/>
                <a:cs typeface="Arial"/>
              </a:rPr>
              <a:t>Prior work and this project’s narrower question</a:t>
            </a:r>
          </a:p>
        </p:txBody>
      </p:sp>
      <p:sp>
        <p:nvSpPr>
          <p:cNvPr id="2" name="">
            <a:extLst xmlns:a="http://schemas.openxmlformats.org/drawingml/2006/main">
              <a:ext uri="{FF2B5EF4-FFF2-40B4-BE49-F238E27FC236}">
                <a16:creationId xmlns:a16="http://schemas.microsoft.com/office/drawing/2014/main" id="{42C9FE97-3ECB-4B72-9F6C-6D8A302152FF}"/>
              </a:ext>
            </a:extLst>
          </p:cNvPr>
          <p:cNvSpPr>
            <a:spLocks xmlns:a="http://schemas.openxmlformats.org/drawingml/2006/main" noGrp="1"/>
          </p:cNvSpPr>
          <p:nvPr/>
        </p:nvSpPr>
        <p:spPr>
          <a:xfrm xmlns:a="http://schemas.openxmlformats.org/drawingml/2006/main">
            <a:off x="666750" y="1057275"/>
            <a:ext cx="10858500" cy="0"/>
          </a:xfrm>
          <a:prstGeom xmlns:a="http://schemas.openxmlformats.org/drawingml/2006/main" prst="line">
            <a:avLst/>
          </a:prstGeom>
          <a:noFill xmlns:a="http://schemas.openxmlformats.org/drawingml/2006/main"/>
          <a:ln xmlns:a="http://schemas.openxmlformats.org/drawingml/2006/main" w="38100">
            <a:solidFill>
              <a:srgbClr val="087E82"/>
            </a:solidFill>
            <a:prstDash val="solid"/>
          </a:ln>
        </p:spPr>
      </p:sp>
      <p:sp>
        <p:nvSpPr>
          <p:cNvPr id="3" name="">
            <a:extLst xmlns:a="http://schemas.openxmlformats.org/drawingml/2006/main">
              <a:ext uri="{FF2B5EF4-FFF2-40B4-BE49-F238E27FC236}">
                <a16:creationId xmlns:a16="http://schemas.microsoft.com/office/drawing/2014/main" id="{1FFAA075-0D89-4071-84EB-1F6ABB671582}"/>
              </a:ext>
            </a:extLst>
          </p:cNvPr>
          <p:cNvSpPr>
            <a:spLocks xmlns:a="http://schemas.openxmlformats.org/drawingml/2006/main" noGrp="1"/>
          </p:cNvSpPr>
          <p:nvPr/>
        </p:nvSpPr>
        <p:spPr>
          <a:xfrm xmlns:a="http://schemas.openxmlformats.org/drawingml/2006/main">
            <a:off x="11182350" y="63436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B6E7D"/>
                </a:solidFill>
                <a:latin typeface="Arial"/>
                <a:ea typeface="Arial"/>
                <a:cs typeface="Arial"/>
              </a:defRPr>
            </a:pPr>
            <a:r>
              <a:rPr sz="1200" b="0">
                <a:solidFill>
                  <a:srgbClr val="5B6E7D"/>
                </a:solidFill>
                <a:latin typeface="Arial"/>
                <a:ea typeface="Arial"/>
                <a:cs typeface="Arial"/>
              </a:rPr>
              <a:t>04</a:t>
            </a:r>
          </a:p>
        </p:txBody>
      </p:sp>
      <p:graphicFrame>
        <p:nvGraphicFramePr>
          <p:cNvPr id="9" name=""/>
          <p:cNvGraphicFramePr/>
          <p:nvPr/>
        </p:nvGraphicFramePr>
        <p:xfrm>
          <a:off xmlns:a="http://schemas.openxmlformats.org/drawingml/2006/main" x="666750" y="1466850"/>
          <a:ext xmlns:a="http://schemas.openxmlformats.org/drawingml/2006/main" cx="10858500" cy="3857625"/>
        </p:xfrm>
        <a:graphic xmlns:a="http://schemas.openxmlformats.org/drawingml/2006/main">
          <a:graphicData uri="http://schemas.openxmlformats.org/drawingml/2006/table">
            <a:tbl>
              <a:tblPr firstRow="1" bandRow="0"/>
              <a:tblGrid>
                <a:gridCol w="2047875"/>
                <a:gridCol w="4333875"/>
                <a:gridCol w="4476750"/>
              </a:tblGrid>
              <a:tr h="771525">
                <a:tc>
                  <a:txBody>
                    <a:bodyPr>
                      <a:noAutofit/>
                    </a:bodyPr>
                    <a:lstStyle/>
                    <a:p>
                      <a:r>
                        <a:rPr sz="1425" b="1">
                          <a:solidFill>
                            <a:srgbClr val="FFFFFF"/>
                          </a:solidFill>
                          <a:latin typeface="Arial"/>
                          <a:ea typeface="Arial"/>
                          <a:cs typeface="Arial"/>
                        </a:rPr>
                        <a:t>Prior work</a:t>
                      </a:r>
                    </a:p>
                  </a:txBody>
                  <a:tcPr marL="91440" marR="91440" marT="45720" marB="45720">
                    <a:solidFill>
                      <a:srgbClr val="14263D"/>
                    </a:solidFill>
                  </a:tcPr>
                </a:tc>
                <a:tc>
                  <a:txBody>
                    <a:bodyPr>
                      <a:noAutofit/>
                    </a:bodyPr>
                    <a:lstStyle/>
                    <a:p>
                      <a:r>
                        <a:rPr sz="1425" b="1">
                          <a:solidFill>
                            <a:srgbClr val="FFFFFF"/>
                          </a:solidFill>
                          <a:latin typeface="Arial"/>
                          <a:ea typeface="Arial"/>
                          <a:cs typeface="Arial"/>
                        </a:rPr>
                        <a:t>Established focus</a:t>
                      </a:r>
                    </a:p>
                  </a:txBody>
                  <a:tcPr marL="91440" marR="91440" marT="45720" marB="45720">
                    <a:solidFill>
                      <a:srgbClr val="14263D"/>
                    </a:solidFill>
                  </a:tcPr>
                </a:tc>
                <a:tc>
                  <a:txBody>
                    <a:bodyPr>
                      <a:noAutofit/>
                    </a:bodyPr>
                    <a:lstStyle/>
                    <a:p>
                      <a:r>
                        <a:rPr sz="1425" b="1">
                          <a:solidFill>
                            <a:srgbClr val="FFFFFF"/>
                          </a:solidFill>
                          <a:latin typeface="Arial"/>
                          <a:ea typeface="Arial"/>
                          <a:cs typeface="Arial"/>
                        </a:rPr>
                        <a:t>Question examined here</a:t>
                      </a:r>
                    </a:p>
                  </a:txBody>
                  <a:tcPr marL="91440" marR="91440" marT="45720" marB="45720">
                    <a:solidFill>
                      <a:srgbClr val="14263D"/>
                    </a:solidFill>
                  </a:tcPr>
                </a:tc>
              </a:tr>
              <a:tr h="771525">
                <a:tc>
                  <a:txBody>
                    <a:bodyPr>
                      <a:noAutofit/>
                    </a:bodyPr>
                    <a:lstStyle/>
                    <a:p>
                      <a:r>
                        <a:rPr sz="1425" b="0">
                          <a:solidFill>
                            <a:srgbClr val="243746"/>
                          </a:solidFill>
                          <a:latin typeface="Arial"/>
                          <a:ea typeface="Arial"/>
                          <a:cs typeface="Arial"/>
                        </a:rPr>
                        <a:t>PRISM (2008)</a:t>
                      </a:r>
                    </a:p>
                  </a:txBody>
                  <a:tcPr marL="91440" marR="91440" marT="45720" marB="45720">
                    <a:solidFill>
                      <a:srgbClr val="FFFFFF"/>
                    </a:solidFill>
                  </a:tcPr>
                </a:tc>
                <a:tc>
                  <a:txBody>
                    <a:bodyPr>
                      <a:noAutofit/>
                    </a:bodyPr>
                    <a:lstStyle/>
                    <a:p>
                      <a:r>
                        <a:rPr sz="1425" b="0">
                          <a:solidFill>
                            <a:srgbClr val="243746"/>
                          </a:solidFill>
                          <a:latin typeface="Arial"/>
                          <a:ea typeface="Arial"/>
                          <a:cs typeface="Arial"/>
                        </a:rPr>
                        <a:t>Schema impact, migration, query rewriting</a:t>
                      </a:r>
                    </a:p>
                  </a:txBody>
                  <a:tcPr marL="91440" marR="91440" marT="45720" marB="45720">
                    <a:solidFill>
                      <a:srgbClr val="FFFFFF"/>
                    </a:solidFill>
                  </a:tcPr>
                </a:tc>
                <a:tc>
                  <a:txBody>
                    <a:bodyPr>
                      <a:noAutofit/>
                    </a:bodyPr>
                    <a:lstStyle/>
                    <a:p>
                      <a:r>
                        <a:rPr sz="1425" b="0">
                          <a:solidFill>
                            <a:srgbClr val="243746"/>
                          </a:solidFill>
                          <a:latin typeface="Arial"/>
                          <a:ea typeface="Arial"/>
                          <a:cs typeface="Arial"/>
                        </a:rPr>
                        <a:t>Typed pipeline behavior after lossy conversion</a:t>
                      </a:r>
                    </a:p>
                  </a:txBody>
                  <a:tcPr marL="91440" marR="91440" marT="45720" marB="45720">
                    <a:solidFill>
                      <a:srgbClr val="FFFFFF"/>
                    </a:solidFill>
                  </a:tcPr>
                </a:tc>
              </a:tr>
              <a:tr h="771525">
                <a:tc>
                  <a:txBody>
                    <a:bodyPr>
                      <a:noAutofit/>
                    </a:bodyPr>
                    <a:lstStyle/>
                    <a:p>
                      <a:r>
                        <a:rPr sz="1425" b="0">
                          <a:solidFill>
                            <a:srgbClr val="243746"/>
                          </a:solidFill>
                          <a:latin typeface="Arial"/>
                          <a:ea typeface="Arial"/>
                          <a:cs typeface="Arial"/>
                        </a:rPr>
                        <a:t>Fan et al. (2012)</a:t>
                      </a:r>
                    </a:p>
                  </a:txBody>
                  <a:tcPr marL="91440" marR="91440" marT="45720" marB="45720">
                    <a:solidFill>
                      <a:srgbClr val="F4F8F9"/>
                    </a:solidFill>
                  </a:tcPr>
                </a:tc>
                <a:tc>
                  <a:txBody>
                    <a:bodyPr>
                      <a:noAutofit/>
                    </a:bodyPr>
                    <a:lstStyle/>
                    <a:p>
                      <a:r>
                        <a:rPr sz="1425" b="0">
                          <a:solidFill>
                            <a:srgbClr val="243746"/>
                          </a:solidFill>
                          <a:latin typeface="Arial"/>
                          <a:ea typeface="Arial"/>
                          <a:cs typeface="Arial"/>
                        </a:rPr>
                        <a:t>Selected-information preservation</a:t>
                      </a:r>
                    </a:p>
                  </a:txBody>
                  <a:tcPr marL="91440" marR="91440" marT="45720" marB="45720">
                    <a:solidFill>
                      <a:srgbClr val="F4F8F9"/>
                    </a:solidFill>
                  </a:tcPr>
                </a:tc>
                <a:tc>
                  <a:txBody>
                    <a:bodyPr>
                      <a:noAutofit/>
                    </a:bodyPr>
                    <a:lstStyle/>
                    <a:p>
                      <a:r>
                        <a:rPr sz="1425" b="0">
                          <a:solidFill>
                            <a:srgbClr val="243746"/>
                          </a:solidFill>
                          <a:latin typeface="Arial"/>
                          <a:ea typeface="Arial"/>
                          <a:cs typeface="Arial"/>
                        </a:rPr>
                        <a:t>Guards for validation, filtering, and output</a:t>
                      </a:r>
                    </a:p>
                  </a:txBody>
                  <a:tcPr marL="91440" marR="91440" marT="45720" marB="45720">
                    <a:solidFill>
                      <a:srgbClr val="F4F8F9"/>
                    </a:solidFill>
                  </a:tcPr>
                </a:tc>
              </a:tr>
              <a:tr h="771525">
                <a:tc>
                  <a:txBody>
                    <a:bodyPr>
                      <a:noAutofit/>
                    </a:bodyPr>
                    <a:lstStyle/>
                    <a:p>
                      <a:r>
                        <a:rPr sz="1425" b="0">
                          <a:solidFill>
                            <a:srgbClr val="243746"/>
                          </a:solidFill>
                          <a:latin typeface="Arial"/>
                          <a:ea typeface="Arial"/>
                          <a:cs typeface="Arial"/>
                        </a:rPr>
                        <a:t>Mediator (2017)</a:t>
                      </a:r>
                    </a:p>
                  </a:txBody>
                  <a:tcPr marL="91440" marR="91440" marT="45720" marB="45720">
                    <a:solidFill>
                      <a:srgbClr val="FFFFFF"/>
                    </a:solidFill>
                  </a:tcPr>
                </a:tc>
                <a:tc>
                  <a:txBody>
                    <a:bodyPr>
                      <a:noAutofit/>
                    </a:bodyPr>
                    <a:lstStyle/>
                    <a:p>
                      <a:r>
                        <a:rPr sz="1425" b="0">
                          <a:solidFill>
                            <a:srgbClr val="243746"/>
                          </a:solidFill>
                          <a:latin typeface="Arial"/>
                          <a:ea typeface="Arial"/>
                          <a:cs typeface="Arial"/>
                        </a:rPr>
                        <a:t>Application equivalence across schemas</a:t>
                      </a:r>
                    </a:p>
                  </a:txBody>
                  <a:tcPr marL="91440" marR="91440" marT="45720" marB="45720">
                    <a:solidFill>
                      <a:srgbClr val="FFFFFF"/>
                    </a:solidFill>
                  </a:tcPr>
                </a:tc>
                <a:tc>
                  <a:txBody>
                    <a:bodyPr>
                      <a:noAutofit/>
                    </a:bodyPr>
                    <a:lstStyle/>
                    <a:p>
                      <a:r>
                        <a:rPr sz="1425" b="0">
                          <a:solidFill>
                            <a:srgbClr val="243746"/>
                          </a:solidFill>
                          <a:latin typeface="Arial"/>
                          <a:ea typeface="Arial"/>
                          <a:cs typeface="Arial"/>
                        </a:rPr>
                        <a:t>Safe rows in one-step adapted execution</a:t>
                      </a:r>
                    </a:p>
                  </a:txBody>
                  <a:tcPr marL="91440" marR="91440" marT="45720" marB="45720">
                    <a:solidFill>
                      <a:srgbClr val="FFFFFF"/>
                    </a:solidFill>
                  </a:tcPr>
                </a:tc>
              </a:tr>
              <a:tr h="771525">
                <a:tc>
                  <a:txBody>
                    <a:bodyPr>
                      <a:noAutofit/>
                    </a:bodyPr>
                    <a:lstStyle/>
                    <a:p>
                      <a:r>
                        <a:rPr sz="1425" b="0">
                          <a:solidFill>
                            <a:srgbClr val="243746"/>
                          </a:solidFill>
                          <a:latin typeface="Arial"/>
                          <a:ea typeface="Arial"/>
                          <a:cs typeface="Arial"/>
                        </a:rPr>
                        <a:t>Conditional equivalence (2010)</a:t>
                      </a:r>
                    </a:p>
                  </a:txBody>
                  <a:tcPr marL="91440" marR="91440" marT="45720" marB="45720">
                    <a:solidFill>
                      <a:srgbClr val="F4F8F9"/>
                    </a:solidFill>
                  </a:tcPr>
                </a:tc>
                <a:tc>
                  <a:txBody>
                    <a:bodyPr>
                      <a:noAutofit/>
                    </a:bodyPr>
                    <a:lstStyle/>
                    <a:p>
                      <a:r>
                        <a:rPr sz="1425" b="0">
                          <a:solidFill>
                            <a:srgbClr val="243746"/>
                          </a:solidFill>
                          <a:latin typeface="Arial"/>
                          <a:ea typeface="Arial"/>
                          <a:cs typeface="Arial"/>
                        </a:rPr>
                        <a:t>Agreement on a subset of inputs</a:t>
                      </a:r>
                    </a:p>
                  </a:txBody>
                  <a:tcPr marL="91440" marR="91440" marT="45720" marB="45720">
                    <a:solidFill>
                      <a:srgbClr val="F4F8F9"/>
                    </a:solidFill>
                  </a:tcPr>
                </a:tc>
                <a:tc>
                  <a:txBody>
                    <a:bodyPr>
                      <a:noAutofit/>
                    </a:bodyPr>
                    <a:lstStyle/>
                    <a:p>
                      <a:r>
                        <a:rPr sz="1425" b="0">
                          <a:solidFill>
                            <a:srgbClr val="243746"/>
                          </a:solidFill>
                          <a:latin typeface="Arial"/>
                          <a:ea typeface="Arial"/>
                          <a:cs typeface="Arial"/>
                        </a:rPr>
                        <a:t>Migration-time guards and CSV coverage</a:t>
                      </a:r>
                    </a:p>
                  </a:txBody>
                  <a:tcPr marL="91440" marR="91440" marT="45720" marB="45720">
                    <a:solidFill>
                      <a:srgbClr val="F4F8F9"/>
                    </a:solidFill>
                  </a:tcPr>
                </a:tc>
              </a:tr>
            </a:tbl>
          </a:graphicData>
        </a:graphic>
      </p:graphicFrame>
      <p:sp>
        <p:nvSpPr>
          <p:cNvPr id="5" name="">
            <a:extLst xmlns:a="http://schemas.openxmlformats.org/drawingml/2006/main">
              <a:ext uri="{FF2B5EF4-FFF2-40B4-BE49-F238E27FC236}">
                <a16:creationId xmlns:a16="http://schemas.microsoft.com/office/drawing/2014/main" id="{791DF3E7-48F5-4D7E-947F-F71D62AF3A50}"/>
              </a:ext>
            </a:extLst>
          </p:cNvPr>
          <p:cNvSpPr>
            <a:spLocks xmlns:a="http://schemas.openxmlformats.org/drawingml/2006/main" noGrp="1"/>
          </p:cNvSpPr>
          <p:nvPr/>
        </p:nvSpPr>
        <p:spPr>
          <a:xfrm xmlns:a="http://schemas.openxmlformats.org/drawingml/2006/main">
            <a:off x="695325" y="5572125"/>
            <a:ext cx="10744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63D"/>
                </a:solidFill>
                <a:latin typeface="Arial"/>
                <a:ea typeface="Arial"/>
                <a:cs typeface="Arial"/>
              </a:defRPr>
            </a:pPr>
            <a:r>
              <a:rPr sz="1650" b="1">
                <a:solidFill>
                  <a:srgbClr val="14263D"/>
                </a:solidFill>
                <a:latin typeface="Arial"/>
                <a:ea typeface="Arial"/>
                <a:cs typeface="Arial"/>
              </a:rPr>
              <a:t>These are established ideas. The candidate contribution is their scoped, executable combination for VeriFlow.</a:t>
            </a:r>
          </a:p>
        </p:txBody>
      </p:sp>
    </p:spTree>
    <p:extLst>
      <p:ext uri="{BB962C8B-B14F-4D97-AF65-F5344CB8AC3E}">
        <p14:creationId xmlns:p14="http://schemas.microsoft.com/office/powerpoint/2010/main" val="20381098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E31C158-04E5-42EB-AFF8-621B5F6975BB}"/>
              </a:ext>
            </a:extLst>
          </p:cNvPr>
          <p:cNvSpPr>
            <a:spLocks xmlns:a="http://schemas.openxmlformats.org/drawingml/2006/main" noGrp="1"/>
          </p:cNvSpPr>
          <p:nvPr/>
        </p:nvSpPr>
        <p:spPr>
          <a:xfrm xmlns:a="http://schemas.openxmlformats.org/drawingml/2006/main">
            <a:off x="666750" y="3810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63D"/>
                </a:solidFill>
                <a:latin typeface="Arial"/>
                <a:ea typeface="Arial"/>
                <a:cs typeface="Arial"/>
              </a:defRPr>
            </a:pPr>
            <a:r>
              <a:rPr sz="2850" b="1">
                <a:solidFill>
                  <a:srgbClr val="14263D"/>
                </a:solidFill>
                <a:latin typeface="Arial"/>
                <a:ea typeface="Arial"/>
                <a:cs typeface="Arial"/>
              </a:rPr>
              <a:t>The behavior preservation contract</a:t>
            </a:r>
          </a:p>
        </p:txBody>
      </p:sp>
      <p:sp>
        <p:nvSpPr>
          <p:cNvPr id="2" name="">
            <a:extLst xmlns:a="http://schemas.openxmlformats.org/drawingml/2006/main">
              <a:ext uri="{FF2B5EF4-FFF2-40B4-BE49-F238E27FC236}">
                <a16:creationId xmlns:a16="http://schemas.microsoft.com/office/drawing/2014/main" id="{E0B147B1-81CA-4E0C-BE92-69AC20758C9E}"/>
              </a:ext>
            </a:extLst>
          </p:cNvPr>
          <p:cNvSpPr>
            <a:spLocks xmlns:a="http://schemas.openxmlformats.org/drawingml/2006/main" noGrp="1"/>
          </p:cNvSpPr>
          <p:nvPr/>
        </p:nvSpPr>
        <p:spPr>
          <a:xfrm xmlns:a="http://schemas.openxmlformats.org/drawingml/2006/main">
            <a:off x="666750" y="1057275"/>
            <a:ext cx="10858500" cy="0"/>
          </a:xfrm>
          <a:prstGeom xmlns:a="http://schemas.openxmlformats.org/drawingml/2006/main" prst="line">
            <a:avLst/>
          </a:prstGeom>
          <a:noFill xmlns:a="http://schemas.openxmlformats.org/drawingml/2006/main"/>
          <a:ln xmlns:a="http://schemas.openxmlformats.org/drawingml/2006/main" w="38100">
            <a:solidFill>
              <a:srgbClr val="087E82"/>
            </a:solidFill>
            <a:prstDash val="solid"/>
          </a:ln>
        </p:spPr>
      </p:sp>
      <p:sp>
        <p:nvSpPr>
          <p:cNvPr id="3" name="">
            <a:extLst xmlns:a="http://schemas.openxmlformats.org/drawingml/2006/main">
              <a:ext uri="{FF2B5EF4-FFF2-40B4-BE49-F238E27FC236}">
                <a16:creationId xmlns:a16="http://schemas.microsoft.com/office/drawing/2014/main" id="{73F17E50-CBCE-496A-B7FB-97E818BE482C}"/>
              </a:ext>
            </a:extLst>
          </p:cNvPr>
          <p:cNvSpPr>
            <a:spLocks xmlns:a="http://schemas.openxmlformats.org/drawingml/2006/main" noGrp="1"/>
          </p:cNvSpPr>
          <p:nvPr/>
        </p:nvSpPr>
        <p:spPr>
          <a:xfrm xmlns:a="http://schemas.openxmlformats.org/drawingml/2006/main">
            <a:off x="11182350" y="63436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B6E7D"/>
                </a:solidFill>
                <a:latin typeface="Arial"/>
                <a:ea typeface="Arial"/>
                <a:cs typeface="Arial"/>
              </a:defRPr>
            </a:pPr>
            <a:r>
              <a:rPr sz="1200" b="0">
                <a:solidFill>
                  <a:srgbClr val="5B6E7D"/>
                </a:solidFill>
                <a:latin typeface="Arial"/>
                <a:ea typeface="Arial"/>
                <a:cs typeface="Arial"/>
              </a:rPr>
              <a:t>05</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48831e9f4fd4a4a"/>
          <a:stretch xmlns:a="http://schemas.openxmlformats.org/drawingml/2006/main"/>
        </p:blipFill>
        <p:spPr>
          <a:xfrm xmlns:a="http://schemas.openxmlformats.org/drawingml/2006/main">
            <a:off x="10601325" y="1362075"/>
            <a:ext cx="742950" cy="7429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51509D0-A070-492C-A8EF-CA4803C3B861}"/>
              </a:ext>
            </a:extLst>
          </p:cNvPr>
          <p:cNvSpPr>
            <a:spLocks xmlns:a="http://schemas.openxmlformats.org/drawingml/2006/main" noGrp="1"/>
          </p:cNvSpPr>
          <p:nvPr/>
        </p:nvSpPr>
        <p:spPr>
          <a:xfrm xmlns:a="http://schemas.openxmlformats.org/drawingml/2006/main">
            <a:off x="742950" y="153352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E82"/>
                </a:solidFill>
                <a:latin typeface="Arial"/>
                <a:ea typeface="Arial"/>
                <a:cs typeface="Arial"/>
              </a:defRPr>
            </a:pPr>
            <a:r>
              <a:rPr sz="2400" b="1">
                <a:solidFill>
                  <a:srgbClr val="087E82"/>
                </a:solidFill>
                <a:latin typeface="Arial"/>
                <a:ea typeface="Arial"/>
                <a:cs typeface="Arial"/>
              </a:rPr>
              <a:t>G(s)  ∧  F(s) defined   ⇒</a:t>
            </a:r>
          </a:p>
        </p:txBody>
      </p:sp>
      <p:sp>
        <p:nvSpPr>
          <p:cNvPr id="6" name="">
            <a:extLst xmlns:a="http://schemas.openxmlformats.org/drawingml/2006/main">
              <a:ext uri="{FF2B5EF4-FFF2-40B4-BE49-F238E27FC236}">
                <a16:creationId xmlns:a16="http://schemas.microsoft.com/office/drawing/2014/main" id="{A194C37A-6BCD-4CA9-B61E-1BA0AAA1E447}"/>
              </a:ext>
            </a:extLst>
          </p:cNvPr>
          <p:cNvSpPr>
            <a:spLocks xmlns:a="http://schemas.openxmlformats.org/drawingml/2006/main" noGrp="1"/>
          </p:cNvSpPr>
          <p:nvPr/>
        </p:nvSpPr>
        <p:spPr>
          <a:xfrm xmlns:a="http://schemas.openxmlformats.org/drawingml/2006/main">
            <a:off x="742950" y="2152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63D"/>
                </a:solidFill>
                <a:latin typeface="Arial"/>
                <a:ea typeface="Arial"/>
                <a:cs typeface="Arial"/>
              </a:defRPr>
            </a:pPr>
            <a:r>
              <a:rPr sz="3150" b="1">
                <a:solidFill>
                  <a:srgbClr val="14263D"/>
                </a:solidFill>
                <a:latin typeface="Arial"/>
                <a:ea typeface="Arial"/>
                <a:cs typeface="Arial"/>
              </a:rPr>
              <a:t>Obs(P, s)  =  Obs(P, A(F(s)))</a:t>
            </a:r>
          </a:p>
        </p:txBody>
      </p:sp>
      <p:sp>
        <p:nvSpPr>
          <p:cNvPr id="7" name="">
            <a:extLst xmlns:a="http://schemas.openxmlformats.org/drawingml/2006/main">
              <a:ext uri="{FF2B5EF4-FFF2-40B4-BE49-F238E27FC236}">
                <a16:creationId xmlns:a16="http://schemas.microsoft.com/office/drawing/2014/main" id="{DE0930CB-885E-491A-B137-71E2D7EFF32F}"/>
              </a:ext>
            </a:extLst>
          </p:cNvPr>
          <p:cNvSpPr>
            <a:spLocks xmlns:a="http://schemas.openxmlformats.org/drawingml/2006/main" noGrp="1"/>
          </p:cNvSpPr>
          <p:nvPr/>
        </p:nvSpPr>
        <p:spPr>
          <a:xfrm xmlns:a="http://schemas.openxmlformats.org/drawingml/2006/main">
            <a:off x="742950" y="2952750"/>
            <a:ext cx="10591800" cy="0"/>
          </a:xfrm>
          <a:prstGeom xmlns:a="http://schemas.openxmlformats.org/drawingml/2006/main" prst="line">
            <a:avLst/>
          </a:prstGeom>
          <a:noFill xmlns:a="http://schemas.openxmlformats.org/drawingml/2006/main"/>
          <a:ln xmlns:a="http://schemas.openxmlformats.org/drawingml/2006/main" w="19050">
            <a:solidFill>
              <a:srgbClr val="C8D6DA"/>
            </a:solidFill>
            <a:prstDash val="solid"/>
          </a:ln>
        </p:spPr>
      </p:sp>
      <p:sp>
        <p:nvSpPr>
          <p:cNvPr id="8" name="">
            <a:extLst xmlns:a="http://schemas.openxmlformats.org/drawingml/2006/main">
              <a:ext uri="{FF2B5EF4-FFF2-40B4-BE49-F238E27FC236}">
                <a16:creationId xmlns:a16="http://schemas.microsoft.com/office/drawing/2014/main" id="{F7D1C23B-885E-4E65-AA53-C892864EEB80}"/>
              </a:ext>
            </a:extLst>
          </p:cNvPr>
          <p:cNvSpPr>
            <a:spLocks xmlns:a="http://schemas.openxmlformats.org/drawingml/2006/main" noGrp="1"/>
          </p:cNvSpPr>
          <p:nvPr/>
        </p:nvSpPr>
        <p:spPr>
          <a:xfrm xmlns:a="http://schemas.openxmlformats.org/drawingml/2006/main">
            <a:off x="904875" y="3390900"/>
            <a:ext cx="80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E82"/>
                </a:solidFill>
                <a:latin typeface="Arial"/>
                <a:ea typeface="Arial"/>
                <a:cs typeface="Arial"/>
              </a:defRPr>
            </a:pPr>
            <a:r>
              <a:rPr sz="1875" b="1">
                <a:solidFill>
                  <a:srgbClr val="087E82"/>
                </a:solidFill>
                <a:latin typeface="Arial"/>
                <a:ea typeface="Arial"/>
                <a:cs typeface="Arial"/>
              </a:rPr>
              <a:t>s</a:t>
            </a:r>
          </a:p>
        </p:txBody>
      </p:sp>
      <p:sp>
        <p:nvSpPr>
          <p:cNvPr id="9" name="">
            <a:extLst xmlns:a="http://schemas.openxmlformats.org/drawingml/2006/main">
              <a:ext uri="{FF2B5EF4-FFF2-40B4-BE49-F238E27FC236}">
                <a16:creationId xmlns:a16="http://schemas.microsoft.com/office/drawing/2014/main" id="{7CB2C758-292F-489A-8157-1B943AF2426F}"/>
              </a:ext>
            </a:extLst>
          </p:cNvPr>
          <p:cNvSpPr>
            <a:spLocks xmlns:a="http://schemas.openxmlformats.org/drawingml/2006/main" noGrp="1"/>
          </p:cNvSpPr>
          <p:nvPr/>
        </p:nvSpPr>
        <p:spPr>
          <a:xfrm xmlns:a="http://schemas.openxmlformats.org/drawingml/2006/main">
            <a:off x="1981200" y="3390900"/>
            <a:ext cx="885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43746"/>
                </a:solidFill>
                <a:latin typeface="Arial"/>
                <a:ea typeface="Arial"/>
                <a:cs typeface="Arial"/>
              </a:defRPr>
            </a:pPr>
            <a:r>
              <a:rPr sz="1800" b="0">
                <a:solidFill>
                  <a:srgbClr val="243746"/>
                </a:solidFill>
                <a:latin typeface="Arial"/>
                <a:ea typeface="Arial"/>
                <a:cs typeface="Arial"/>
              </a:rPr>
              <a:t>well-typed old row</a:t>
            </a:r>
          </a:p>
        </p:txBody>
      </p:sp>
      <p:sp>
        <p:nvSpPr>
          <p:cNvPr id="10" name="">
            <a:extLst xmlns:a="http://schemas.openxmlformats.org/drawingml/2006/main">
              <a:ext uri="{FF2B5EF4-FFF2-40B4-BE49-F238E27FC236}">
                <a16:creationId xmlns:a16="http://schemas.microsoft.com/office/drawing/2014/main" id="{B43CA707-98A5-4C18-BB57-B0430B730BBF}"/>
              </a:ext>
            </a:extLst>
          </p:cNvPr>
          <p:cNvSpPr>
            <a:spLocks xmlns:a="http://schemas.openxmlformats.org/drawingml/2006/main" noGrp="1"/>
          </p:cNvSpPr>
          <p:nvPr/>
        </p:nvSpPr>
        <p:spPr>
          <a:xfrm xmlns:a="http://schemas.openxmlformats.org/drawingml/2006/main">
            <a:off x="904875" y="3943350"/>
            <a:ext cx="80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E82"/>
                </a:solidFill>
                <a:latin typeface="Arial"/>
                <a:ea typeface="Arial"/>
                <a:cs typeface="Arial"/>
              </a:defRPr>
            </a:pPr>
            <a:r>
              <a:rPr sz="1875" b="1">
                <a:solidFill>
                  <a:srgbClr val="087E82"/>
                </a:solidFill>
                <a:latin typeface="Arial"/>
                <a:ea typeface="Arial"/>
                <a:cs typeface="Arial"/>
              </a:rPr>
              <a:t>F</a:t>
            </a:r>
          </a:p>
        </p:txBody>
      </p:sp>
      <p:sp>
        <p:nvSpPr>
          <p:cNvPr id="11" name="">
            <a:extLst xmlns:a="http://schemas.openxmlformats.org/drawingml/2006/main">
              <a:ext uri="{FF2B5EF4-FFF2-40B4-BE49-F238E27FC236}">
                <a16:creationId xmlns:a16="http://schemas.microsoft.com/office/drawing/2014/main" id="{370B3EEE-4955-4BC1-8927-C2D0B7872F08}"/>
              </a:ext>
            </a:extLst>
          </p:cNvPr>
          <p:cNvSpPr>
            <a:spLocks xmlns:a="http://schemas.openxmlformats.org/drawingml/2006/main" noGrp="1"/>
          </p:cNvSpPr>
          <p:nvPr/>
        </p:nvSpPr>
        <p:spPr>
          <a:xfrm xmlns:a="http://schemas.openxmlformats.org/drawingml/2006/main">
            <a:off x="1981200" y="3943350"/>
            <a:ext cx="885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43746"/>
                </a:solidFill>
                <a:latin typeface="Arial"/>
                <a:ea typeface="Arial"/>
                <a:cs typeface="Arial"/>
              </a:defRPr>
            </a:pPr>
            <a:r>
              <a:rPr sz="1800" b="0">
                <a:solidFill>
                  <a:srgbClr val="243746"/>
                </a:solidFill>
                <a:latin typeface="Arial"/>
                <a:ea typeface="Arial"/>
                <a:cs typeface="Arial"/>
              </a:rPr>
              <a:t>explicit forward migration</a:t>
            </a:r>
          </a:p>
        </p:txBody>
      </p:sp>
      <p:sp>
        <p:nvSpPr>
          <p:cNvPr id="12" name="">
            <a:extLst xmlns:a="http://schemas.openxmlformats.org/drawingml/2006/main">
              <a:ext uri="{FF2B5EF4-FFF2-40B4-BE49-F238E27FC236}">
                <a16:creationId xmlns:a16="http://schemas.microsoft.com/office/drawing/2014/main" id="{591B9D10-9383-4162-B584-8C2E9C23663D}"/>
              </a:ext>
            </a:extLst>
          </p:cNvPr>
          <p:cNvSpPr>
            <a:spLocks xmlns:a="http://schemas.openxmlformats.org/drawingml/2006/main" noGrp="1"/>
          </p:cNvSpPr>
          <p:nvPr/>
        </p:nvSpPr>
        <p:spPr>
          <a:xfrm xmlns:a="http://schemas.openxmlformats.org/drawingml/2006/main">
            <a:off x="904875" y="4495800"/>
            <a:ext cx="80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E82"/>
                </a:solidFill>
                <a:latin typeface="Arial"/>
                <a:ea typeface="Arial"/>
                <a:cs typeface="Arial"/>
              </a:defRPr>
            </a:pPr>
            <a:r>
              <a:rPr sz="1875" b="1">
                <a:solidFill>
                  <a:srgbClr val="087E82"/>
                </a:solidFill>
                <a:latin typeface="Arial"/>
                <a:ea typeface="Arial"/>
                <a:cs typeface="Arial"/>
              </a:rPr>
              <a:t>A</a:t>
            </a:r>
          </a:p>
        </p:txBody>
      </p:sp>
      <p:sp>
        <p:nvSpPr>
          <p:cNvPr id="13" name="">
            <a:extLst xmlns:a="http://schemas.openxmlformats.org/drawingml/2006/main">
              <a:ext uri="{FF2B5EF4-FFF2-40B4-BE49-F238E27FC236}">
                <a16:creationId xmlns:a16="http://schemas.microsoft.com/office/drawing/2014/main" id="{133F13B7-4EF1-4E01-BC65-CF98A71B1D02}"/>
              </a:ext>
            </a:extLst>
          </p:cNvPr>
          <p:cNvSpPr>
            <a:spLocks xmlns:a="http://schemas.openxmlformats.org/drawingml/2006/main" noGrp="1"/>
          </p:cNvSpPr>
          <p:nvPr/>
        </p:nvSpPr>
        <p:spPr>
          <a:xfrm xmlns:a="http://schemas.openxmlformats.org/drawingml/2006/main">
            <a:off x="1981200" y="4495800"/>
            <a:ext cx="885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43746"/>
                </a:solidFill>
                <a:latin typeface="Arial"/>
                <a:ea typeface="Arial"/>
                <a:cs typeface="Arial"/>
              </a:defRPr>
            </a:pPr>
            <a:r>
              <a:rPr sz="1800" b="0">
                <a:solidFill>
                  <a:srgbClr val="243746"/>
                </a:solidFill>
                <a:latin typeface="Arial"/>
                <a:ea typeface="Arial"/>
                <a:cs typeface="Arial"/>
              </a:rPr>
              <a:t>partial adapter used by legacy pipeline P</a:t>
            </a:r>
          </a:p>
        </p:txBody>
      </p:sp>
      <p:sp>
        <p:nvSpPr>
          <p:cNvPr id="14" name="">
            <a:extLst xmlns:a="http://schemas.openxmlformats.org/drawingml/2006/main">
              <a:ext uri="{FF2B5EF4-FFF2-40B4-BE49-F238E27FC236}">
                <a16:creationId xmlns:a16="http://schemas.microsoft.com/office/drawing/2014/main" id="{2F4B6D6D-AD1D-4C15-A477-AFABA75402C5}"/>
              </a:ext>
            </a:extLst>
          </p:cNvPr>
          <p:cNvSpPr>
            <a:spLocks xmlns:a="http://schemas.openxmlformats.org/drawingml/2006/main" noGrp="1"/>
          </p:cNvSpPr>
          <p:nvPr/>
        </p:nvSpPr>
        <p:spPr>
          <a:xfrm xmlns:a="http://schemas.openxmlformats.org/drawingml/2006/main">
            <a:off x="904875" y="5048250"/>
            <a:ext cx="80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E82"/>
                </a:solidFill>
                <a:latin typeface="Arial"/>
                <a:ea typeface="Arial"/>
                <a:cs typeface="Arial"/>
              </a:defRPr>
            </a:pPr>
            <a:r>
              <a:rPr sz="1875" b="1">
                <a:solidFill>
                  <a:srgbClr val="087E82"/>
                </a:solidFill>
                <a:latin typeface="Arial"/>
                <a:ea typeface="Arial"/>
                <a:cs typeface="Arial"/>
              </a:rPr>
              <a:t>Obs</a:t>
            </a:r>
          </a:p>
        </p:txBody>
      </p:sp>
      <p:sp>
        <p:nvSpPr>
          <p:cNvPr id="15" name="">
            <a:extLst xmlns:a="http://schemas.openxmlformats.org/drawingml/2006/main">
              <a:ext uri="{FF2B5EF4-FFF2-40B4-BE49-F238E27FC236}">
                <a16:creationId xmlns:a16="http://schemas.microsoft.com/office/drawing/2014/main" id="{689F03E1-7B1D-4014-B231-9848513931F6}"/>
              </a:ext>
            </a:extLst>
          </p:cNvPr>
          <p:cNvSpPr>
            <a:spLocks xmlns:a="http://schemas.openxmlformats.org/drawingml/2006/main" noGrp="1"/>
          </p:cNvSpPr>
          <p:nvPr/>
        </p:nvSpPr>
        <p:spPr>
          <a:xfrm xmlns:a="http://schemas.openxmlformats.org/drawingml/2006/main">
            <a:off x="1981200" y="5048250"/>
            <a:ext cx="904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43746"/>
                </a:solidFill>
                <a:latin typeface="Arial"/>
                <a:ea typeface="Arial"/>
                <a:cs typeface="Arial"/>
              </a:defRPr>
            </a:pPr>
            <a:r>
              <a:rPr sz="1800" b="0">
                <a:solidFill>
                  <a:srgbClr val="243746"/>
                </a:solidFill>
                <a:latin typeface="Arial"/>
                <a:ea typeface="Arial"/>
                <a:cs typeface="Arial"/>
              </a:rPr>
              <a:t>typed outputs, filter decision, validation message, or expression error</a:t>
            </a:r>
          </a:p>
        </p:txBody>
      </p:sp>
      <p:sp>
        <p:nvSpPr>
          <p:cNvPr id="16" name="">
            <a:extLst xmlns:a="http://schemas.openxmlformats.org/drawingml/2006/main">
              <a:ext uri="{FF2B5EF4-FFF2-40B4-BE49-F238E27FC236}">
                <a16:creationId xmlns:a16="http://schemas.microsoft.com/office/drawing/2014/main" id="{F9ABA78A-438B-45F9-B348-13FAF595AC9B}"/>
              </a:ext>
            </a:extLst>
          </p:cNvPr>
          <p:cNvSpPr>
            <a:spLocks xmlns:a="http://schemas.openxmlformats.org/drawingml/2006/main" noGrp="1"/>
          </p:cNvSpPr>
          <p:nvPr/>
        </p:nvSpPr>
        <p:spPr>
          <a:xfrm xmlns:a="http://schemas.openxmlformats.org/drawingml/2006/main">
            <a:off x="742950" y="6010275"/>
            <a:ext cx="1028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C56825"/>
                </a:solidFill>
                <a:latin typeface="Arial"/>
                <a:ea typeface="Arial"/>
                <a:cs typeface="Arial"/>
              </a:defRPr>
            </a:pPr>
            <a:r>
              <a:rPr sz="1575" b="1">
                <a:solidFill>
                  <a:srgbClr val="C56825"/>
                </a:solidFill>
                <a:latin typeface="Arial"/>
                <a:ea typeface="Arial"/>
                <a:cs typeface="Arial"/>
              </a:rPr>
              <a:t>The guard G is checked while the old row is available.</a:t>
            </a:r>
          </a:p>
        </p:txBody>
      </p:sp>
    </p:spTree>
    <p:extLst>
      <p:ext uri="{BB962C8B-B14F-4D97-AF65-F5344CB8AC3E}">
        <p14:creationId xmlns:p14="http://schemas.microsoft.com/office/powerpoint/2010/main" val="15674522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9E85ABF-046B-4909-81DC-55BE45372F31}"/>
              </a:ext>
            </a:extLst>
          </p:cNvPr>
          <p:cNvSpPr>
            <a:spLocks xmlns:a="http://schemas.openxmlformats.org/drawingml/2006/main" noGrp="1"/>
          </p:cNvSpPr>
          <p:nvPr/>
        </p:nvSpPr>
        <p:spPr>
          <a:xfrm xmlns:a="http://schemas.openxmlformats.org/drawingml/2006/main">
            <a:off x="666750" y="3810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63D"/>
                </a:solidFill>
                <a:latin typeface="Arial"/>
                <a:ea typeface="Arial"/>
                <a:cs typeface="Arial"/>
              </a:defRPr>
            </a:pPr>
            <a:r>
              <a:rPr sz="2850" b="1">
                <a:solidFill>
                  <a:srgbClr val="14263D"/>
                </a:solidFill>
                <a:latin typeface="Arial"/>
                <a:ea typeface="Arial"/>
                <a:cs typeface="Arial"/>
              </a:rPr>
              <a:t>The migration impact checker</a:t>
            </a:r>
          </a:p>
        </p:txBody>
      </p:sp>
      <p:sp>
        <p:nvSpPr>
          <p:cNvPr id="2" name="">
            <a:extLst xmlns:a="http://schemas.openxmlformats.org/drawingml/2006/main">
              <a:ext uri="{FF2B5EF4-FFF2-40B4-BE49-F238E27FC236}">
                <a16:creationId xmlns:a16="http://schemas.microsoft.com/office/drawing/2014/main" id="{6D4A5AA4-7FC4-4718-A09C-B5D8C2DA2ADB}"/>
              </a:ext>
            </a:extLst>
          </p:cNvPr>
          <p:cNvSpPr>
            <a:spLocks xmlns:a="http://schemas.openxmlformats.org/drawingml/2006/main" noGrp="1"/>
          </p:cNvSpPr>
          <p:nvPr/>
        </p:nvSpPr>
        <p:spPr>
          <a:xfrm xmlns:a="http://schemas.openxmlformats.org/drawingml/2006/main">
            <a:off x="666750" y="1057275"/>
            <a:ext cx="10858500" cy="0"/>
          </a:xfrm>
          <a:prstGeom xmlns:a="http://schemas.openxmlformats.org/drawingml/2006/main" prst="line">
            <a:avLst/>
          </a:prstGeom>
          <a:noFill xmlns:a="http://schemas.openxmlformats.org/drawingml/2006/main"/>
          <a:ln xmlns:a="http://schemas.openxmlformats.org/drawingml/2006/main" w="38100">
            <a:solidFill>
              <a:srgbClr val="087E82"/>
            </a:solidFill>
            <a:prstDash val="solid"/>
          </a:ln>
        </p:spPr>
      </p:sp>
      <p:sp>
        <p:nvSpPr>
          <p:cNvPr id="3" name="">
            <a:extLst xmlns:a="http://schemas.openxmlformats.org/drawingml/2006/main">
              <a:ext uri="{FF2B5EF4-FFF2-40B4-BE49-F238E27FC236}">
                <a16:creationId xmlns:a16="http://schemas.microsoft.com/office/drawing/2014/main" id="{438CD806-6A8A-4D81-8BE1-2445B718E35B}"/>
              </a:ext>
            </a:extLst>
          </p:cNvPr>
          <p:cNvSpPr>
            <a:spLocks xmlns:a="http://schemas.openxmlformats.org/drawingml/2006/main" noGrp="1"/>
          </p:cNvSpPr>
          <p:nvPr/>
        </p:nvSpPr>
        <p:spPr>
          <a:xfrm xmlns:a="http://schemas.openxmlformats.org/drawingml/2006/main">
            <a:off x="11182350" y="63436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B6E7D"/>
                </a:solidFill>
                <a:latin typeface="Arial"/>
                <a:ea typeface="Arial"/>
                <a:cs typeface="Arial"/>
              </a:defRPr>
            </a:pPr>
            <a:r>
              <a:rPr sz="1200" b="0">
                <a:solidFill>
                  <a:srgbClr val="5B6E7D"/>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E0970584-0AA0-4466-AB4C-F31299424EDA}"/>
              </a:ext>
            </a:extLst>
          </p:cNvPr>
          <p:cNvSpPr>
            <a:spLocks xmlns:a="http://schemas.openxmlformats.org/drawingml/2006/main" noGrp="1"/>
          </p:cNvSpPr>
          <p:nvPr/>
        </p:nvSpPr>
        <p:spPr>
          <a:xfrm xmlns:a="http://schemas.openxmlformats.org/drawingml/2006/main">
            <a:off x="4676775" y="3114675"/>
            <a:ext cx="2857500" cy="781050"/>
          </a:xfrm>
          <a:prstGeom xmlns:a="http://schemas.openxmlformats.org/drawingml/2006/main" prst="rect">
            <a:avLst/>
          </a:prstGeom>
          <a:solidFill xmlns:a="http://schemas.openxmlformats.org/drawingml/2006/main">
            <a:srgbClr val="DDF2F0"/>
          </a:solidFill>
          <a:ln xmlns:a="http://schemas.openxmlformats.org/drawingml/2006/main" w="19050">
            <a:solidFill>
              <a:srgbClr val="087E82"/>
            </a:solidFill>
            <a:prstDash val="solid"/>
          </a:ln>
        </p:spPr>
      </p:sp>
      <p:sp>
        <p:nvSpPr>
          <p:cNvPr id="5" name="">
            <a:extLst xmlns:a="http://schemas.openxmlformats.org/drawingml/2006/main">
              <a:ext uri="{FF2B5EF4-FFF2-40B4-BE49-F238E27FC236}">
                <a16:creationId xmlns:a16="http://schemas.microsoft.com/office/drawing/2014/main" id="{28AF1B8B-D274-43C3-9D53-F5FF8748F7E2}"/>
              </a:ext>
            </a:extLst>
          </p:cNvPr>
          <p:cNvSpPr>
            <a:spLocks xmlns:a="http://schemas.openxmlformats.org/drawingml/2006/main" noGrp="1"/>
          </p:cNvSpPr>
          <p:nvPr/>
        </p:nvSpPr>
        <p:spPr>
          <a:xfrm xmlns:a="http://schemas.openxmlformats.org/drawingml/2006/main">
            <a:off x="4829175" y="3238500"/>
            <a:ext cx="2552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63D"/>
                </a:solidFill>
                <a:latin typeface="Arial"/>
                <a:ea typeface="Arial"/>
                <a:cs typeface="Arial"/>
              </a:defRPr>
            </a:pPr>
            <a:r>
              <a:rPr sz="1950" b="1">
                <a:solidFill>
                  <a:srgbClr val="14263D"/>
                </a:solidFill>
                <a:latin typeface="Arial"/>
                <a:ea typeface="Arial"/>
                <a:cs typeface="Arial"/>
              </a:rPr>
              <a:t>Impact check</a:t>
            </a:r>
          </a:p>
        </p:txBody>
      </p:sp>
      <p:sp>
        <p:nvSpPr>
          <p:cNvPr id="6" name="">
            <a:extLst xmlns:a="http://schemas.openxmlformats.org/drawingml/2006/main">
              <a:ext uri="{FF2B5EF4-FFF2-40B4-BE49-F238E27FC236}">
                <a16:creationId xmlns:a16="http://schemas.microsoft.com/office/drawing/2014/main" id="{3DC81974-0FF9-4789-844C-9D0D4846EA92}"/>
              </a:ext>
            </a:extLst>
          </p:cNvPr>
          <p:cNvSpPr>
            <a:spLocks xmlns:a="http://schemas.openxmlformats.org/drawingml/2006/main" noGrp="1"/>
          </p:cNvSpPr>
          <p:nvPr/>
        </p:nvSpPr>
        <p:spPr>
          <a:xfrm xmlns:a="http://schemas.openxmlformats.org/drawingml/2006/main">
            <a:off x="695325" y="1609725"/>
            <a:ext cx="3667125"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E82"/>
            </a:solidFill>
            <a:prstDash val="solid"/>
          </a:ln>
        </p:spPr>
      </p:sp>
      <p:sp>
        <p:nvSpPr>
          <p:cNvPr id="7" name="">
            <a:extLst xmlns:a="http://schemas.openxmlformats.org/drawingml/2006/main">
              <a:ext uri="{FF2B5EF4-FFF2-40B4-BE49-F238E27FC236}">
                <a16:creationId xmlns:a16="http://schemas.microsoft.com/office/drawing/2014/main" id="{BB5FEEB4-C769-49E0-819F-B1E40389E5AB}"/>
              </a:ext>
            </a:extLst>
          </p:cNvPr>
          <p:cNvSpPr>
            <a:spLocks xmlns:a="http://schemas.openxmlformats.org/drawingml/2006/main" noGrp="1"/>
          </p:cNvSpPr>
          <p:nvPr/>
        </p:nvSpPr>
        <p:spPr>
          <a:xfrm xmlns:a="http://schemas.openxmlformats.org/drawingml/2006/main">
            <a:off x="847725" y="1733550"/>
            <a:ext cx="3362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4263D"/>
                </a:solidFill>
                <a:latin typeface="Arial"/>
                <a:ea typeface="Arial"/>
                <a:cs typeface="Arial"/>
              </a:defRPr>
            </a:pPr>
            <a:r>
              <a:rPr sz="1500" b="1">
                <a:solidFill>
                  <a:srgbClr val="14263D"/>
                </a:solidFill>
                <a:latin typeface="Arial"/>
                <a:ea typeface="Arial"/>
                <a:cs typeface="Arial"/>
              </a:rPr>
              <a:t>Trace executed fields</a:t>
            </a:r>
          </a:p>
          <a:p xmlns:a="http://schemas.openxmlformats.org/drawingml/2006/main">
            <a:pPr>
              <a:defRPr sz="1500" b="1">
                <a:solidFill>
                  <a:srgbClr val="14263D"/>
                </a:solidFill>
                <a:latin typeface="Arial"/>
                <a:ea typeface="Arial"/>
                <a:cs typeface="Arial"/>
              </a:defRPr>
            </a:pPr>
            <a:r>
              <a:rPr sz="1500" b="1">
                <a:solidFill>
                  <a:srgbClr val="14263D"/>
                </a:solidFill>
                <a:latin typeface="Arial"/>
                <a:ea typeface="Arial"/>
                <a:cs typeface="Arial"/>
              </a:rPr>
              <a:t>let, require, keep, select</a:t>
            </a:r>
          </a:p>
        </p:txBody>
      </p:sp>
      <p:sp>
        <p:nvSpPr>
          <p:cNvPr id="8" name="">
            <a:extLst xmlns:a="http://schemas.openxmlformats.org/drawingml/2006/main">
              <a:ext uri="{FF2B5EF4-FFF2-40B4-BE49-F238E27FC236}">
                <a16:creationId xmlns:a16="http://schemas.microsoft.com/office/drawing/2014/main" id="{45477A8D-94D8-4781-A174-E2CF546BA304}"/>
              </a:ext>
            </a:extLst>
          </p:cNvPr>
          <p:cNvSpPr>
            <a:spLocks xmlns:a="http://schemas.openxmlformats.org/drawingml/2006/main" noGrp="1"/>
          </p:cNvSpPr>
          <p:nvPr/>
        </p:nvSpPr>
        <p:spPr>
          <a:xfrm xmlns:a="http://schemas.openxmlformats.org/drawingml/2006/main">
            <a:off x="7810500" y="1609725"/>
            <a:ext cx="3667125"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E82"/>
            </a:solidFill>
            <a:prstDash val="solid"/>
          </a:ln>
        </p:spPr>
      </p:sp>
      <p:sp>
        <p:nvSpPr>
          <p:cNvPr id="9" name="">
            <a:extLst xmlns:a="http://schemas.openxmlformats.org/drawingml/2006/main">
              <a:ext uri="{FF2B5EF4-FFF2-40B4-BE49-F238E27FC236}">
                <a16:creationId xmlns:a16="http://schemas.microsoft.com/office/drawing/2014/main" id="{A3C8EBC7-5EA3-4FC1-8501-3E04485DE01E}"/>
              </a:ext>
            </a:extLst>
          </p:cNvPr>
          <p:cNvSpPr>
            <a:spLocks xmlns:a="http://schemas.openxmlformats.org/drawingml/2006/main" noGrp="1"/>
          </p:cNvSpPr>
          <p:nvPr/>
        </p:nvSpPr>
        <p:spPr>
          <a:xfrm xmlns:a="http://schemas.openxmlformats.org/drawingml/2006/main">
            <a:off x="7962900" y="1733550"/>
            <a:ext cx="3362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4263D"/>
                </a:solidFill>
                <a:latin typeface="Arial"/>
                <a:ea typeface="Arial"/>
                <a:cs typeface="Arial"/>
              </a:defRPr>
            </a:pPr>
            <a:r>
              <a:rPr sz="1500" b="1">
                <a:solidFill>
                  <a:srgbClr val="14263D"/>
                </a:solidFill>
                <a:latin typeface="Arial"/>
                <a:ea typeface="Arial"/>
                <a:cs typeface="Arial"/>
              </a:rPr>
              <a:t>Apply sound rules</a:t>
            </a:r>
          </a:p>
          <a:p xmlns:a="http://schemas.openxmlformats.org/drawingml/2006/main">
            <a:pPr>
              <a:defRPr sz="1500" b="1">
                <a:solidFill>
                  <a:srgbClr val="14263D"/>
                </a:solidFill>
                <a:latin typeface="Arial"/>
                <a:ea typeface="Arial"/>
                <a:cs typeface="Arial"/>
              </a:defRPr>
            </a:pPr>
            <a:r>
              <a:rPr sz="1500" b="1">
                <a:solidFill>
                  <a:srgbClr val="14263D"/>
                </a:solidFill>
                <a:latin typeface="Arial"/>
                <a:ea typeface="Arial"/>
                <a:cs typeface="Arial"/>
              </a:rPr>
              <a:t>exact values and thresholds</a:t>
            </a:r>
          </a:p>
        </p:txBody>
      </p:sp>
      <p:sp>
        <p:nvSpPr>
          <p:cNvPr id="10" name="">
            <a:extLst xmlns:a="http://schemas.openxmlformats.org/drawingml/2006/main">
              <a:ext uri="{FF2B5EF4-FFF2-40B4-BE49-F238E27FC236}">
                <a16:creationId xmlns:a16="http://schemas.microsoft.com/office/drawing/2014/main" id="{A3E37917-26F1-401D-B232-CA71C2B11FB2}"/>
              </a:ext>
            </a:extLst>
          </p:cNvPr>
          <p:cNvSpPr>
            <a:spLocks xmlns:a="http://schemas.openxmlformats.org/drawingml/2006/main" noGrp="1"/>
          </p:cNvSpPr>
          <p:nvPr/>
        </p:nvSpPr>
        <p:spPr>
          <a:xfrm xmlns:a="http://schemas.openxmlformats.org/drawingml/2006/main">
            <a:off x="695325" y="4533900"/>
            <a:ext cx="3667125"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C56825"/>
            </a:solidFill>
            <a:prstDash val="solid"/>
          </a:ln>
        </p:spPr>
      </p:sp>
      <p:sp>
        <p:nvSpPr>
          <p:cNvPr id="11" name="">
            <a:extLst xmlns:a="http://schemas.openxmlformats.org/drawingml/2006/main">
              <a:ext uri="{FF2B5EF4-FFF2-40B4-BE49-F238E27FC236}">
                <a16:creationId xmlns:a16="http://schemas.microsoft.com/office/drawing/2014/main" id="{563B6674-6CBB-4D82-BCE1-67936B6D1AB5}"/>
              </a:ext>
            </a:extLst>
          </p:cNvPr>
          <p:cNvSpPr>
            <a:spLocks xmlns:a="http://schemas.openxmlformats.org/drawingml/2006/main" noGrp="1"/>
          </p:cNvSpPr>
          <p:nvPr/>
        </p:nvSpPr>
        <p:spPr>
          <a:xfrm xmlns:a="http://schemas.openxmlformats.org/drawingml/2006/main">
            <a:off x="847725" y="4657725"/>
            <a:ext cx="3362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4263D"/>
                </a:solidFill>
                <a:latin typeface="Arial"/>
                <a:ea typeface="Arial"/>
                <a:cs typeface="Arial"/>
              </a:defRPr>
            </a:pPr>
            <a:r>
              <a:rPr sz="1500" b="1">
                <a:solidFill>
                  <a:srgbClr val="14263D"/>
                </a:solidFill>
                <a:latin typeface="Arial"/>
                <a:ea typeface="Arial"/>
                <a:cs typeface="Arial"/>
              </a:rPr>
              <a:t>Guard or replay</a:t>
            </a:r>
          </a:p>
          <a:p xmlns:a="http://schemas.openxmlformats.org/drawingml/2006/main">
            <a:pPr>
              <a:defRPr sz="1500" b="1">
                <a:solidFill>
                  <a:srgbClr val="14263D"/>
                </a:solidFill>
                <a:latin typeface="Arial"/>
                <a:ea typeface="Arial"/>
                <a:cs typeface="Arial"/>
              </a:defRPr>
            </a:pPr>
            <a:r>
              <a:rPr sz="1500" b="1">
                <a:solidFill>
                  <a:srgbClr val="14263D"/>
                </a:solidFill>
                <a:latin typeface="Arial"/>
                <a:ea typeface="Arial"/>
                <a:cs typeface="Arial"/>
              </a:rPr>
              <a:t>safe subset or breaking collision</a:t>
            </a:r>
          </a:p>
        </p:txBody>
      </p:sp>
      <p:sp>
        <p:nvSpPr>
          <p:cNvPr id="12" name="">
            <a:extLst xmlns:a="http://schemas.openxmlformats.org/drawingml/2006/main">
              <a:ext uri="{FF2B5EF4-FFF2-40B4-BE49-F238E27FC236}">
                <a16:creationId xmlns:a16="http://schemas.microsoft.com/office/drawing/2014/main" id="{57548504-E131-4679-BEA9-B6CB7D7B0EF8}"/>
              </a:ext>
            </a:extLst>
          </p:cNvPr>
          <p:cNvSpPr>
            <a:spLocks xmlns:a="http://schemas.openxmlformats.org/drawingml/2006/main" noGrp="1"/>
          </p:cNvSpPr>
          <p:nvPr/>
        </p:nvSpPr>
        <p:spPr>
          <a:xfrm xmlns:a="http://schemas.openxmlformats.org/drawingml/2006/main">
            <a:off x="7810500" y="4533900"/>
            <a:ext cx="3667125"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14765D"/>
            </a:solidFill>
            <a:prstDash val="solid"/>
          </a:ln>
        </p:spPr>
      </p:sp>
      <p:sp>
        <p:nvSpPr>
          <p:cNvPr id="13" name="">
            <a:extLst xmlns:a="http://schemas.openxmlformats.org/drawingml/2006/main">
              <a:ext uri="{FF2B5EF4-FFF2-40B4-BE49-F238E27FC236}">
                <a16:creationId xmlns:a16="http://schemas.microsoft.com/office/drawing/2014/main" id="{294FCDC2-8E89-4C3D-937B-3612748B6038}"/>
              </a:ext>
            </a:extLst>
          </p:cNvPr>
          <p:cNvSpPr>
            <a:spLocks xmlns:a="http://schemas.openxmlformats.org/drawingml/2006/main" noGrp="1"/>
          </p:cNvSpPr>
          <p:nvPr/>
        </p:nvSpPr>
        <p:spPr>
          <a:xfrm xmlns:a="http://schemas.openxmlformats.org/drawingml/2006/main">
            <a:off x="7962900" y="4657725"/>
            <a:ext cx="3362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4263D"/>
                </a:solidFill>
                <a:latin typeface="Arial"/>
                <a:ea typeface="Arial"/>
                <a:cs typeface="Arial"/>
              </a:defRPr>
            </a:pPr>
            <a:r>
              <a:rPr sz="1500" b="1">
                <a:solidFill>
                  <a:srgbClr val="14263D"/>
                </a:solidFill>
                <a:latin typeface="Arial"/>
                <a:ea typeface="Arial"/>
                <a:cs typeface="Arial"/>
              </a:rPr>
              <a:t>Readiness report</a:t>
            </a:r>
          </a:p>
          <a:p xmlns:a="http://schemas.openxmlformats.org/drawingml/2006/main">
            <a:pPr>
              <a:defRPr sz="1500" b="1">
                <a:solidFill>
                  <a:srgbClr val="14263D"/>
                </a:solidFill>
                <a:latin typeface="Arial"/>
                <a:ea typeface="Arial"/>
                <a:cs typeface="Arial"/>
              </a:defRPr>
            </a:pPr>
            <a:r>
              <a:rPr sz="1500" b="1">
                <a:solidFill>
                  <a:srgbClr val="14263D"/>
                </a:solidFill>
                <a:latin typeface="Arial"/>
                <a:ea typeface="Arial"/>
                <a:cs typeface="Arial"/>
              </a:rPr>
              <a:t>admitted rows in a legacy CSV</a:t>
            </a:r>
          </a:p>
        </p:txBody>
      </p:sp>
      <p:cxnSp>
        <p:nvCxnSpPr>
          <p:cNvPr id="32" name=""/>
          <p:cNvCxnSpPr>
            <a:stCxn xmlns:a="http://schemas.openxmlformats.org/drawingml/2006/main" id="4" idx="1"/>
            <a:endCxn xmlns:a="http://schemas.openxmlformats.org/drawingml/2006/main" id="6" idx="3"/>
          </p:cNvCxnSpPr>
          <p:nvPr/>
        </p:nvCxnSpPr>
        <p:spPr>
          <a:xfrm xmlns:a="http://schemas.openxmlformats.org/drawingml/2006/main" flipH="1" flipV="1">
            <a:off x="4362450" y="2085975"/>
            <a:ext cx="314325" cy="1419225"/>
          </a:xfrm>
          <a:prstGeom xmlns:a="http://schemas.openxmlformats.org/drawingml/2006/main" prst="bentConnector3">
            <a:avLst>
              <a:gd name="adj1" fmla="val 50000"/>
            </a:avLst>
          </a:prstGeom>
          <a:ln xmlns:a="http://schemas.openxmlformats.org/drawingml/2006/main" w="19050">
            <a:solidFill>
              <a:srgbClr val="087E82"/>
            </a:solidFill>
            <a:prstDash val="solid"/>
          </a:ln>
        </p:spPr>
      </p:cxnSp>
      <p:cxnSp>
        <p:nvCxnSpPr>
          <p:cNvPr id="33" name=""/>
          <p:cNvCxnSpPr>
            <a:stCxn xmlns:a="http://schemas.openxmlformats.org/drawingml/2006/main" id="4" idx="3"/>
            <a:endCxn xmlns:a="http://schemas.openxmlformats.org/drawingml/2006/main" id="8" idx="1"/>
          </p:cNvCxnSpPr>
          <p:nvPr/>
        </p:nvCxnSpPr>
        <p:spPr>
          <a:xfrm xmlns:a="http://schemas.openxmlformats.org/drawingml/2006/main" flipV="1">
            <a:off x="7534275" y="2085975"/>
            <a:ext cx="276225" cy="1419225"/>
          </a:xfrm>
          <a:prstGeom xmlns:a="http://schemas.openxmlformats.org/drawingml/2006/main" prst="bentConnector3">
            <a:avLst>
              <a:gd name="adj1" fmla="val 50000"/>
            </a:avLst>
          </a:prstGeom>
          <a:ln xmlns:a="http://schemas.openxmlformats.org/drawingml/2006/main" w="19050">
            <a:solidFill>
              <a:srgbClr val="087E82"/>
            </a:solidFill>
            <a:prstDash val="solid"/>
          </a:ln>
        </p:spPr>
      </p:cxnSp>
      <p:cxnSp>
        <p:nvCxnSpPr>
          <p:cNvPr id="34" name=""/>
          <p:cNvCxnSpPr>
            <a:stCxn xmlns:a="http://schemas.openxmlformats.org/drawingml/2006/main" id="4" idx="1"/>
            <a:endCxn xmlns:a="http://schemas.openxmlformats.org/drawingml/2006/main" id="10" idx="3"/>
          </p:cNvCxnSpPr>
          <p:nvPr/>
        </p:nvCxnSpPr>
        <p:spPr>
          <a:xfrm xmlns:a="http://schemas.openxmlformats.org/drawingml/2006/main" flipH="1">
            <a:off x="4362450" y="3505200"/>
            <a:ext cx="314325" cy="1504950"/>
          </a:xfrm>
          <a:prstGeom xmlns:a="http://schemas.openxmlformats.org/drawingml/2006/main" prst="bentConnector3">
            <a:avLst>
              <a:gd name="adj1" fmla="val 50000"/>
            </a:avLst>
          </a:prstGeom>
          <a:ln xmlns:a="http://schemas.openxmlformats.org/drawingml/2006/main" w="19050">
            <a:solidFill>
              <a:srgbClr val="C56825"/>
            </a:solidFill>
            <a:prstDash val="solid"/>
          </a:ln>
        </p:spPr>
      </p:cxnSp>
      <p:cxnSp>
        <p:nvCxnSpPr>
          <p:cNvPr id="35" name=""/>
          <p:cNvCxnSpPr>
            <a:stCxn xmlns:a="http://schemas.openxmlformats.org/drawingml/2006/main" id="4" idx="3"/>
            <a:endCxn xmlns:a="http://schemas.openxmlformats.org/drawingml/2006/main" id="12" idx="1"/>
          </p:cNvCxnSpPr>
          <p:nvPr/>
        </p:nvCxnSpPr>
        <p:spPr>
          <a:xfrm xmlns:a="http://schemas.openxmlformats.org/drawingml/2006/main">
            <a:off x="7534275" y="3505200"/>
            <a:ext cx="276225" cy="1504950"/>
          </a:xfrm>
          <a:prstGeom xmlns:a="http://schemas.openxmlformats.org/drawingml/2006/main" prst="bentConnector3">
            <a:avLst>
              <a:gd name="adj1" fmla="val 50000"/>
            </a:avLst>
          </a:prstGeom>
          <a:ln xmlns:a="http://schemas.openxmlformats.org/drawingml/2006/main" w="19050">
            <a:solidFill>
              <a:srgbClr val="14765D"/>
            </a:solidFill>
            <a:prstDash val="solid"/>
          </a:ln>
        </p:spPr>
      </p:cxnSp>
      <p:sp>
        <p:nvSpPr>
          <p:cNvPr id="18" name="">
            <a:extLst xmlns:a="http://schemas.openxmlformats.org/drawingml/2006/main">
              <a:ext uri="{FF2B5EF4-FFF2-40B4-BE49-F238E27FC236}">
                <a16:creationId xmlns:a16="http://schemas.microsoft.com/office/drawing/2014/main" id="{2E01EB7B-8EE5-4ADA-96D0-5A9F6B2923D4}"/>
              </a:ext>
            </a:extLst>
          </p:cNvPr>
          <p:cNvSpPr>
            <a:spLocks xmlns:a="http://schemas.openxmlformats.org/drawingml/2006/main" noGrp="1"/>
          </p:cNvSpPr>
          <p:nvPr/>
        </p:nvSpPr>
        <p:spPr>
          <a:xfrm xmlns:a="http://schemas.openxmlformats.org/drawingml/2006/main">
            <a:off x="1781175" y="5857875"/>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4263D"/>
                </a:solidFill>
                <a:latin typeface="Arial"/>
                <a:ea typeface="Arial"/>
                <a:cs typeface="Arial"/>
              </a:defRPr>
            </a:pPr>
            <a:r>
              <a:rPr sz="1725" b="1">
                <a:solidFill>
                  <a:srgbClr val="14263D"/>
                </a:solidFill>
                <a:latin typeface="Arial"/>
                <a:ea typeface="Arial"/>
                <a:cs typeface="Arial"/>
              </a:rPr>
              <a:t>Result: preserved  ·  conditional  ·  breaking  ·  unknown</a:t>
            </a:r>
          </a:p>
        </p:txBody>
      </p:sp>
    </p:spTree>
    <p:extLst>
      <p:ext uri="{BB962C8B-B14F-4D97-AF65-F5344CB8AC3E}">
        <p14:creationId xmlns:p14="http://schemas.microsoft.com/office/powerpoint/2010/main" val="13868011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3E7CCC3-0026-4200-94D9-6144584130EA}"/>
              </a:ext>
            </a:extLst>
          </p:cNvPr>
          <p:cNvSpPr>
            <a:spLocks xmlns:a="http://schemas.openxmlformats.org/drawingml/2006/main" noGrp="1"/>
          </p:cNvSpPr>
          <p:nvPr/>
        </p:nvSpPr>
        <p:spPr>
          <a:xfrm xmlns:a="http://schemas.openxmlformats.org/drawingml/2006/main">
            <a:off x="666750" y="3810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63D"/>
                </a:solidFill>
                <a:latin typeface="Arial"/>
                <a:ea typeface="Arial"/>
                <a:cs typeface="Arial"/>
              </a:defRPr>
            </a:pPr>
            <a:r>
              <a:rPr sz="2850" b="1">
                <a:solidFill>
                  <a:srgbClr val="14263D"/>
                </a:solidFill>
                <a:latin typeface="Arial"/>
                <a:ea typeface="Arial"/>
                <a:cs typeface="Arial"/>
              </a:rPr>
              <a:t>Pilot results on 5,926 distinct rows</a:t>
            </a:r>
          </a:p>
        </p:txBody>
      </p:sp>
      <p:sp>
        <p:nvSpPr>
          <p:cNvPr id="2" name="">
            <a:extLst xmlns:a="http://schemas.openxmlformats.org/drawingml/2006/main">
              <a:ext uri="{FF2B5EF4-FFF2-40B4-BE49-F238E27FC236}">
                <a16:creationId xmlns:a16="http://schemas.microsoft.com/office/drawing/2014/main" id="{7D63C433-9346-4665-A54F-531A560FF7C1}"/>
              </a:ext>
            </a:extLst>
          </p:cNvPr>
          <p:cNvSpPr>
            <a:spLocks xmlns:a="http://schemas.openxmlformats.org/drawingml/2006/main" noGrp="1"/>
          </p:cNvSpPr>
          <p:nvPr/>
        </p:nvSpPr>
        <p:spPr>
          <a:xfrm xmlns:a="http://schemas.openxmlformats.org/drawingml/2006/main">
            <a:off x="666750" y="1057275"/>
            <a:ext cx="10858500" cy="0"/>
          </a:xfrm>
          <a:prstGeom xmlns:a="http://schemas.openxmlformats.org/drawingml/2006/main" prst="line">
            <a:avLst/>
          </a:prstGeom>
          <a:noFill xmlns:a="http://schemas.openxmlformats.org/drawingml/2006/main"/>
          <a:ln xmlns:a="http://schemas.openxmlformats.org/drawingml/2006/main" w="38100">
            <a:solidFill>
              <a:srgbClr val="087E82"/>
            </a:solidFill>
            <a:prstDash val="solid"/>
          </a:ln>
        </p:spPr>
      </p:sp>
      <p:sp>
        <p:nvSpPr>
          <p:cNvPr id="3" name="">
            <a:extLst xmlns:a="http://schemas.openxmlformats.org/drawingml/2006/main">
              <a:ext uri="{FF2B5EF4-FFF2-40B4-BE49-F238E27FC236}">
                <a16:creationId xmlns:a16="http://schemas.microsoft.com/office/drawing/2014/main" id="{9E945336-D993-4379-A44F-E6FD1D7515F2}"/>
              </a:ext>
            </a:extLst>
          </p:cNvPr>
          <p:cNvSpPr>
            <a:spLocks xmlns:a="http://schemas.openxmlformats.org/drawingml/2006/main" noGrp="1"/>
          </p:cNvSpPr>
          <p:nvPr/>
        </p:nvSpPr>
        <p:spPr>
          <a:xfrm xmlns:a="http://schemas.openxmlformats.org/drawingml/2006/main">
            <a:off x="11182350" y="63436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B6E7D"/>
                </a:solidFill>
                <a:latin typeface="Arial"/>
                <a:ea typeface="Arial"/>
                <a:cs typeface="Arial"/>
              </a:defRPr>
            </a:pPr>
            <a:r>
              <a:rPr sz="1200" b="0">
                <a:solidFill>
                  <a:srgbClr val="5B6E7D"/>
                </a:solidFill>
                <a:latin typeface="Arial"/>
                <a:ea typeface="Arial"/>
                <a:cs typeface="Arial"/>
              </a:rPr>
              <a:t>07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911b0b47a394f07"/>
          <a:stretch xmlns:a="http://schemas.openxmlformats.org/drawingml/2006/main"/>
        </p:blipFill>
        <p:spPr>
          <a:xfrm xmlns:a="http://schemas.openxmlformats.org/drawingml/2006/main">
            <a:off x="10648950" y="1304925"/>
            <a:ext cx="685800" cy="685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CE8AB26-474F-4B30-B56B-D1A283971E1E}"/>
              </a:ext>
            </a:extLst>
          </p:cNvPr>
          <p:cNvSpPr>
            <a:spLocks xmlns:a="http://schemas.openxmlformats.org/drawingml/2006/main" noGrp="1"/>
          </p:cNvSpPr>
          <p:nvPr/>
        </p:nvSpPr>
        <p:spPr>
          <a:xfrm xmlns:a="http://schemas.openxmlformats.org/drawingml/2006/main">
            <a:off x="695325" y="1333500"/>
            <a:ext cx="981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C56825"/>
                </a:solidFill>
                <a:latin typeface="Arial"/>
                <a:ea typeface="Arial"/>
                <a:cs typeface="Arial"/>
              </a:defRPr>
            </a:pPr>
            <a:r>
              <a:rPr sz="1575" b="1">
                <a:solidFill>
                  <a:srgbClr val="C56825"/>
                </a:solidFill>
                <a:latin typeface="Arial"/>
                <a:ea typeface="Arial"/>
                <a:cs typeface="Arial"/>
              </a:rPr>
              <a:t>Real rows; injected schema changes. x is each dataset’s mapped decimal field.</a:t>
            </a:r>
          </a:p>
        </p:txBody>
      </p:sp>
      <p:graphicFrame>
        <p:nvGraphicFramePr>
          <p:cNvPr id="17" name=""/>
          <p:cNvGraphicFramePr/>
          <p:nvPr/>
        </p:nvGraphicFramePr>
        <p:xfrm>
          <a:off xmlns:a="http://schemas.openxmlformats.org/drawingml/2006/main" x="695325" y="2095500"/>
          <a:ext xmlns:a="http://schemas.openxmlformats.org/drawingml/2006/main" cx="10801350" cy="2781300"/>
        </p:xfrm>
        <a:graphic xmlns:a="http://schemas.openxmlformats.org/drawingml/2006/main">
          <a:graphicData uri="http://schemas.openxmlformats.org/drawingml/2006/table">
            <a:tbl>
              <a:tblPr firstRow="1" bandRow="0"/>
              <a:tblGrid>
                <a:gridCol w="2724150"/>
                <a:gridCol w="1362075"/>
                <a:gridCol w="2628900"/>
                <a:gridCol w="4086225"/>
              </a:tblGrid>
              <a:tr h="695325">
                <a:tc>
                  <a:txBody>
                    <a:bodyPr>
                      <a:noAutofit/>
                    </a:bodyPr>
                    <a:lstStyle/>
                    <a:p>
                      <a:r>
                        <a:rPr sz="1425" b="1">
                          <a:solidFill>
                            <a:srgbClr val="FFFFFF"/>
                          </a:solidFill>
                          <a:latin typeface="Arial"/>
                          <a:ea typeface="Arial"/>
                          <a:cs typeface="Arial"/>
                        </a:rPr>
                        <a:t>Dataset</a:t>
                      </a:r>
                    </a:p>
                  </a:txBody>
                  <a:tcPr marL="91440" marR="91440" marT="45720" marB="45720">
                    <a:solidFill>
                      <a:srgbClr val="14263D"/>
                    </a:solidFill>
                  </a:tcPr>
                </a:tc>
                <a:tc>
                  <a:txBody>
                    <a:bodyPr>
                      <a:noAutofit/>
                    </a:bodyPr>
                    <a:lstStyle/>
                    <a:p>
                      <a:r>
                        <a:rPr sz="1425" b="1">
                          <a:solidFill>
                            <a:srgbClr val="FFFFFF"/>
                          </a:solidFill>
                          <a:latin typeface="Arial"/>
                          <a:ea typeface="Arial"/>
                          <a:cs typeface="Arial"/>
                        </a:rPr>
                        <a:t>Rows</a:t>
                      </a:r>
                    </a:p>
                  </a:txBody>
                  <a:tcPr marL="91440" marR="91440" marT="45720" marB="45720">
                    <a:solidFill>
                      <a:srgbClr val="14263D"/>
                    </a:solidFill>
                  </a:tcPr>
                </a:tc>
                <a:tc>
                  <a:txBody>
                    <a:bodyPr>
                      <a:noAutofit/>
                    </a:bodyPr>
                    <a:lstStyle/>
                    <a:p>
                      <a:r>
                        <a:rPr sz="1425" b="1">
                          <a:solidFill>
                            <a:srgbClr val="FFFFFF"/>
                          </a:solidFill>
                          <a:latin typeface="Arial"/>
                          <a:ea typeface="Arial"/>
                          <a:cs typeface="Arial"/>
                        </a:rPr>
                        <a:t>x &gt;= k</a:t>
                      </a:r>
                    </a:p>
                  </a:txBody>
                  <a:tcPr marL="91440" marR="91440" marT="45720" marB="45720">
                    <a:solidFill>
                      <a:srgbClr val="14263D"/>
                    </a:solidFill>
                  </a:tcPr>
                </a:tc>
                <a:tc>
                  <a:txBody>
                    <a:bodyPr>
                      <a:noAutofit/>
                    </a:bodyPr>
                    <a:lstStyle/>
                    <a:p>
                      <a:r>
                        <a:rPr sz="1425" b="1">
                          <a:solidFill>
                            <a:srgbClr val="FFFFFF"/>
                          </a:solidFill>
                          <a:latin typeface="Arial"/>
                          <a:ea typeface="Arial"/>
                          <a:cs typeface="Arial"/>
                        </a:rPr>
                        <a:t>x &gt; k guard admits</a:t>
                      </a:r>
                    </a:p>
                  </a:txBody>
                  <a:tcPr marL="91440" marR="91440" marT="45720" marB="45720">
                    <a:solidFill>
                      <a:srgbClr val="14263D"/>
                    </a:solidFill>
                  </a:tcPr>
                </a:tc>
              </a:tr>
              <a:tr h="695325">
                <a:tc>
                  <a:txBody>
                    <a:bodyPr>
                      <a:noAutofit/>
                    </a:bodyPr>
                    <a:lstStyle/>
                    <a:p>
                      <a:r>
                        <a:rPr sz="1425" b="0">
                          <a:solidFill>
                            <a:srgbClr val="243746"/>
                          </a:solidFill>
                          <a:latin typeface="Arial"/>
                          <a:ea typeface="Arial"/>
                          <a:cs typeface="Arial"/>
                        </a:rPr>
                        <a:t>Abalone</a:t>
                      </a:r>
                    </a:p>
                  </a:txBody>
                  <a:tcPr marL="91440" marR="91440" marT="45720" marB="45720">
                    <a:solidFill>
                      <a:srgbClr val="FFFFFF"/>
                    </a:solidFill>
                  </a:tcPr>
                </a:tc>
                <a:tc>
                  <a:txBody>
                    <a:bodyPr>
                      <a:noAutofit/>
                    </a:bodyPr>
                    <a:lstStyle/>
                    <a:p>
                      <a:r>
                        <a:rPr sz="1425" b="0">
                          <a:solidFill>
                            <a:srgbClr val="243746"/>
                          </a:solidFill>
                          <a:latin typeface="Arial"/>
                          <a:ea typeface="Arial"/>
                          <a:cs typeface="Arial"/>
                        </a:rPr>
                        <a:t>4,177</a:t>
                      </a:r>
                    </a:p>
                  </a:txBody>
                  <a:tcPr marL="91440" marR="91440" marT="45720" marB="45720">
                    <a:solidFill>
                      <a:srgbClr val="FFFFFF"/>
                    </a:solidFill>
                  </a:tcPr>
                </a:tc>
                <a:tc>
                  <a:txBody>
                    <a:bodyPr>
                      <a:noAutofit/>
                    </a:bodyPr>
                    <a:lstStyle/>
                    <a:p>
                      <a:r>
                        <a:rPr sz="1425" b="0">
                          <a:solidFill>
                            <a:srgbClr val="243746"/>
                          </a:solidFill>
                          <a:latin typeface="Arial"/>
                          <a:ea typeface="Arial"/>
                          <a:cs typeface="Arial"/>
                        </a:rPr>
                        <a:t>preserved</a:t>
                      </a:r>
                    </a:p>
                  </a:txBody>
                  <a:tcPr marL="91440" marR="91440" marT="45720" marB="45720">
                    <a:solidFill>
                      <a:srgbClr val="FFFFFF"/>
                    </a:solidFill>
                  </a:tcPr>
                </a:tc>
                <a:tc>
                  <a:txBody>
                    <a:bodyPr>
                      <a:noAutofit/>
                    </a:bodyPr>
                    <a:lstStyle/>
                    <a:p>
                      <a:r>
                        <a:rPr sz="1425" b="0">
                          <a:solidFill>
                            <a:srgbClr val="243746"/>
                          </a:solidFill>
                          <a:latin typeface="Arial"/>
                          <a:ea typeface="Arial"/>
                          <a:cs typeface="Arial"/>
                        </a:rPr>
                        <a:t>2,782 / 4,177</a:t>
                      </a:r>
                    </a:p>
                  </a:txBody>
                  <a:tcPr marL="91440" marR="91440" marT="45720" marB="45720">
                    <a:solidFill>
                      <a:srgbClr val="FFFFFF"/>
                    </a:solidFill>
                  </a:tcPr>
                </a:tc>
              </a:tr>
              <a:tr h="695325">
                <a:tc>
                  <a:txBody>
                    <a:bodyPr>
                      <a:noAutofit/>
                    </a:bodyPr>
                    <a:lstStyle/>
                    <a:p>
                      <a:r>
                        <a:rPr sz="1425" b="0">
                          <a:solidFill>
                            <a:srgbClr val="243746"/>
                          </a:solidFill>
                          <a:latin typeface="Arial"/>
                          <a:ea typeface="Arial"/>
                          <a:cs typeface="Arial"/>
                        </a:rPr>
                        <a:t>Iris</a:t>
                      </a:r>
                    </a:p>
                  </a:txBody>
                  <a:tcPr marL="91440" marR="91440" marT="45720" marB="45720">
                    <a:solidFill>
                      <a:srgbClr val="F4F8F9"/>
                    </a:solidFill>
                  </a:tcPr>
                </a:tc>
                <a:tc>
                  <a:txBody>
                    <a:bodyPr>
                      <a:noAutofit/>
                    </a:bodyPr>
                    <a:lstStyle/>
                    <a:p>
                      <a:r>
                        <a:rPr sz="1425" b="0">
                          <a:solidFill>
                            <a:srgbClr val="243746"/>
                          </a:solidFill>
                          <a:latin typeface="Arial"/>
                          <a:ea typeface="Arial"/>
                          <a:cs typeface="Arial"/>
                        </a:rPr>
                        <a:t>150</a:t>
                      </a:r>
                    </a:p>
                  </a:txBody>
                  <a:tcPr marL="91440" marR="91440" marT="45720" marB="45720">
                    <a:solidFill>
                      <a:srgbClr val="F4F8F9"/>
                    </a:solidFill>
                  </a:tcPr>
                </a:tc>
                <a:tc>
                  <a:txBody>
                    <a:bodyPr>
                      <a:noAutofit/>
                    </a:bodyPr>
                    <a:lstStyle/>
                    <a:p>
                      <a:r>
                        <a:rPr sz="1425" b="0">
                          <a:solidFill>
                            <a:srgbClr val="243746"/>
                          </a:solidFill>
                          <a:latin typeface="Arial"/>
                          <a:ea typeface="Arial"/>
                          <a:cs typeface="Arial"/>
                        </a:rPr>
                        <a:t>preserved</a:t>
                      </a:r>
                    </a:p>
                  </a:txBody>
                  <a:tcPr marL="91440" marR="91440" marT="45720" marB="45720">
                    <a:solidFill>
                      <a:srgbClr val="F4F8F9"/>
                    </a:solidFill>
                  </a:tcPr>
                </a:tc>
                <a:tc>
                  <a:txBody>
                    <a:bodyPr>
                      <a:noAutofit/>
                    </a:bodyPr>
                    <a:lstStyle/>
                    <a:p>
                      <a:r>
                        <a:rPr sz="1425" b="0">
                          <a:solidFill>
                            <a:srgbClr val="243746"/>
                          </a:solidFill>
                          <a:latin typeface="Arial"/>
                          <a:ea typeface="Arial"/>
                          <a:cs typeface="Arial"/>
                        </a:rPr>
                        <a:t>99 / 150</a:t>
                      </a:r>
                    </a:p>
                  </a:txBody>
                  <a:tcPr marL="91440" marR="91440" marT="45720" marB="45720">
                    <a:solidFill>
                      <a:srgbClr val="F4F8F9"/>
                    </a:solidFill>
                  </a:tcPr>
                </a:tc>
              </a:tr>
              <a:tr h="695325">
                <a:tc>
                  <a:txBody>
                    <a:bodyPr>
                      <a:noAutofit/>
                    </a:bodyPr>
                    <a:lstStyle/>
                    <a:p>
                      <a:r>
                        <a:rPr sz="1425" b="0">
                          <a:solidFill>
                            <a:srgbClr val="243746"/>
                          </a:solidFill>
                          <a:latin typeface="Arial"/>
                          <a:ea typeface="Arial"/>
                          <a:cs typeface="Arial"/>
                        </a:rPr>
                        <a:t>Red Wine Quality</a:t>
                      </a:r>
                    </a:p>
                  </a:txBody>
                  <a:tcPr marL="91440" marR="91440" marT="45720" marB="45720">
                    <a:solidFill>
                      <a:srgbClr val="FFFFFF"/>
                    </a:solidFill>
                  </a:tcPr>
                </a:tc>
                <a:tc>
                  <a:txBody>
                    <a:bodyPr>
                      <a:noAutofit/>
                    </a:bodyPr>
                    <a:lstStyle/>
                    <a:p>
                      <a:r>
                        <a:rPr sz="1425" b="0">
                          <a:solidFill>
                            <a:srgbClr val="243746"/>
                          </a:solidFill>
                          <a:latin typeface="Arial"/>
                          <a:ea typeface="Arial"/>
                          <a:cs typeface="Arial"/>
                        </a:rPr>
                        <a:t>1,599</a:t>
                      </a:r>
                    </a:p>
                  </a:txBody>
                  <a:tcPr marL="91440" marR="91440" marT="45720" marB="45720">
                    <a:solidFill>
                      <a:srgbClr val="FFFFFF"/>
                    </a:solidFill>
                  </a:tcPr>
                </a:tc>
                <a:tc>
                  <a:txBody>
                    <a:bodyPr>
                      <a:noAutofit/>
                    </a:bodyPr>
                    <a:lstStyle/>
                    <a:p>
                      <a:r>
                        <a:rPr sz="1425" b="0">
                          <a:solidFill>
                            <a:srgbClr val="243746"/>
                          </a:solidFill>
                          <a:latin typeface="Arial"/>
                          <a:ea typeface="Arial"/>
                          <a:cs typeface="Arial"/>
                        </a:rPr>
                        <a:t>preserved</a:t>
                      </a:r>
                    </a:p>
                  </a:txBody>
                  <a:tcPr marL="91440" marR="91440" marT="45720" marB="45720">
                    <a:solidFill>
                      <a:srgbClr val="FFFFFF"/>
                    </a:solidFill>
                  </a:tcPr>
                </a:tc>
                <a:tc>
                  <a:txBody>
                    <a:bodyPr>
                      <a:noAutofit/>
                    </a:bodyPr>
                    <a:lstStyle/>
                    <a:p>
                      <a:r>
                        <a:rPr sz="1425" b="0">
                          <a:solidFill>
                            <a:srgbClr val="243746"/>
                          </a:solidFill>
                          <a:latin typeface="Arial"/>
                          <a:ea typeface="Arial"/>
                          <a:cs typeface="Arial"/>
                        </a:rPr>
                        <a:t>1,214 / 1,599</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A9C3C9C-AF5D-47F3-9FDE-531CDBD13BE6}"/>
              </a:ext>
            </a:extLst>
          </p:cNvPr>
          <p:cNvSpPr>
            <a:spLocks xmlns:a="http://schemas.openxmlformats.org/drawingml/2006/main" noGrp="1"/>
          </p:cNvSpPr>
          <p:nvPr/>
        </p:nvSpPr>
        <p:spPr>
          <a:xfrm xmlns:a="http://schemas.openxmlformats.org/drawingml/2006/main">
            <a:off x="723900" y="5172075"/>
            <a:ext cx="2305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263D"/>
                </a:solidFill>
                <a:latin typeface="Arial"/>
                <a:ea typeface="Arial"/>
                <a:cs typeface="Arial"/>
              </a:defRPr>
            </a:pPr>
            <a:r>
              <a:rPr sz="2400" b="1">
                <a:solidFill>
                  <a:srgbClr val="14263D"/>
                </a:solidFill>
                <a:latin typeface="Arial"/>
                <a:ea typeface="Arial"/>
                <a:cs typeface="Arial"/>
              </a:rPr>
              <a:t>10 cases</a:t>
            </a:r>
          </a:p>
        </p:txBody>
      </p:sp>
      <p:sp>
        <p:nvSpPr>
          <p:cNvPr id="8" name="">
            <a:extLst xmlns:a="http://schemas.openxmlformats.org/drawingml/2006/main">
              <a:ext uri="{FF2B5EF4-FFF2-40B4-BE49-F238E27FC236}">
                <a16:creationId xmlns:a16="http://schemas.microsoft.com/office/drawing/2014/main" id="{8D076FD6-DE0F-4188-B7A5-35199D4B3354}"/>
              </a:ext>
            </a:extLst>
          </p:cNvPr>
          <p:cNvSpPr>
            <a:spLocks xmlns:a="http://schemas.openxmlformats.org/drawingml/2006/main" noGrp="1"/>
          </p:cNvSpPr>
          <p:nvPr/>
        </p:nvSpPr>
        <p:spPr>
          <a:xfrm xmlns:a="http://schemas.openxmlformats.org/drawingml/2006/main">
            <a:off x="3133725" y="5172075"/>
            <a:ext cx="2743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65D"/>
                </a:solidFill>
                <a:latin typeface="Arial"/>
                <a:ea typeface="Arial"/>
                <a:cs typeface="Arial"/>
              </a:defRPr>
            </a:pPr>
            <a:r>
              <a:rPr sz="2400" b="1">
                <a:solidFill>
                  <a:srgbClr val="14765D"/>
                </a:solidFill>
                <a:latin typeface="Arial"/>
                <a:ea typeface="Arial"/>
                <a:cs typeface="Arial"/>
              </a:rPr>
              <a:t>3 preserved</a:t>
            </a:r>
          </a:p>
        </p:txBody>
      </p:sp>
      <p:sp>
        <p:nvSpPr>
          <p:cNvPr id="9" name="">
            <a:extLst xmlns:a="http://schemas.openxmlformats.org/drawingml/2006/main">
              <a:ext uri="{FF2B5EF4-FFF2-40B4-BE49-F238E27FC236}">
                <a16:creationId xmlns:a16="http://schemas.microsoft.com/office/drawing/2014/main" id="{0EEB1D8A-5EEB-4F2D-826F-8B503AEC074C}"/>
              </a:ext>
            </a:extLst>
          </p:cNvPr>
          <p:cNvSpPr>
            <a:spLocks xmlns:a="http://schemas.openxmlformats.org/drawingml/2006/main" noGrp="1"/>
          </p:cNvSpPr>
          <p:nvPr/>
        </p:nvSpPr>
        <p:spPr>
          <a:xfrm xmlns:a="http://schemas.openxmlformats.org/drawingml/2006/main">
            <a:off x="5962650" y="5172075"/>
            <a:ext cx="25050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56825"/>
                </a:solidFill>
                <a:latin typeface="Arial"/>
                <a:ea typeface="Arial"/>
                <a:cs typeface="Arial"/>
              </a:defRPr>
            </a:pPr>
            <a:r>
              <a:rPr sz="2400" b="1">
                <a:solidFill>
                  <a:srgbClr val="C56825"/>
                </a:solidFill>
                <a:latin typeface="Arial"/>
                <a:ea typeface="Arial"/>
                <a:cs typeface="Arial"/>
              </a:rPr>
              <a:t>1 unknown</a:t>
            </a:r>
          </a:p>
        </p:txBody>
      </p:sp>
      <p:sp>
        <p:nvSpPr>
          <p:cNvPr id="10" name="">
            <a:extLst xmlns:a="http://schemas.openxmlformats.org/drawingml/2006/main">
              <a:ext uri="{FF2B5EF4-FFF2-40B4-BE49-F238E27FC236}">
                <a16:creationId xmlns:a16="http://schemas.microsoft.com/office/drawing/2014/main" id="{39C23512-8A21-4187-9882-175D261471CD}"/>
              </a:ext>
            </a:extLst>
          </p:cNvPr>
          <p:cNvSpPr>
            <a:spLocks xmlns:a="http://schemas.openxmlformats.org/drawingml/2006/main" noGrp="1"/>
          </p:cNvSpPr>
          <p:nvPr/>
        </p:nvSpPr>
        <p:spPr>
          <a:xfrm xmlns:a="http://schemas.openxmlformats.org/drawingml/2006/main">
            <a:off x="723900" y="5734050"/>
            <a:ext cx="857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E82"/>
                </a:solidFill>
                <a:latin typeface="Arial"/>
                <a:ea typeface="Arial"/>
                <a:cs typeface="Arial"/>
              </a:defRPr>
            </a:pPr>
            <a:r>
              <a:rPr sz="1875" b="1">
                <a:solidFill>
                  <a:srgbClr val="087E82"/>
                </a:solidFill>
                <a:latin typeface="Arial"/>
                <a:ea typeface="Arial"/>
                <a:cs typeface="Arial"/>
              </a:rPr>
              <a:t>0 observed guard violations</a:t>
            </a:r>
          </a:p>
        </p:txBody>
      </p:sp>
      <p:sp>
        <p:nvSpPr>
          <p:cNvPr id="11" name="">
            <a:extLst xmlns:a="http://schemas.openxmlformats.org/drawingml/2006/main">
              <a:ext uri="{FF2B5EF4-FFF2-40B4-BE49-F238E27FC236}">
                <a16:creationId xmlns:a16="http://schemas.microsoft.com/office/drawing/2014/main" id="{0EA0D55E-44D8-4CF0-BA79-F7F9134C0737}"/>
              </a:ext>
            </a:extLst>
          </p:cNvPr>
          <p:cNvSpPr>
            <a:spLocks xmlns:a="http://schemas.openxmlformats.org/drawingml/2006/main" noGrp="1"/>
          </p:cNvSpPr>
          <p:nvPr/>
        </p:nvSpPr>
        <p:spPr>
          <a:xfrm xmlns:a="http://schemas.openxmlformats.org/drawingml/2006/main">
            <a:off x="723900" y="61912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B6E7D"/>
                </a:solidFill>
                <a:latin typeface="Arial"/>
                <a:ea typeface="Arial"/>
                <a:cs typeface="Arial"/>
              </a:defRPr>
            </a:pPr>
            <a:r>
              <a:rPr sz="1200" b="0">
                <a:solidFill>
                  <a:srgbClr val="5B6E7D"/>
                </a:solidFill>
                <a:latin typeface="Arial"/>
                <a:ea typeface="Arial"/>
                <a:cs typeface="Arial"/>
              </a:rPr>
              <a:t>8 negative controls and 4 CSV parity checks passed. Source: evaluation/results.json, 8 Oct 2026.</a:t>
            </a:r>
          </a:p>
        </p:txBody>
      </p:sp>
    </p:spTree>
    <p:extLst>
      <p:ext uri="{BB962C8B-B14F-4D97-AF65-F5344CB8AC3E}">
        <p14:creationId xmlns:p14="http://schemas.microsoft.com/office/powerpoint/2010/main" val="1132777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F7FF09D-DE97-45BF-9535-C4814491DC86}"/>
              </a:ext>
            </a:extLst>
          </p:cNvPr>
          <p:cNvSpPr>
            <a:spLocks xmlns:a="http://schemas.openxmlformats.org/drawingml/2006/main" noGrp="1"/>
          </p:cNvSpPr>
          <p:nvPr/>
        </p:nvSpPr>
        <p:spPr>
          <a:xfrm xmlns:a="http://schemas.openxmlformats.org/drawingml/2006/main">
            <a:off x="666750" y="3810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63D"/>
                </a:solidFill>
                <a:latin typeface="Arial"/>
                <a:ea typeface="Arial"/>
                <a:cs typeface="Arial"/>
              </a:defRPr>
            </a:pPr>
            <a:r>
              <a:rPr sz="2850" b="1">
                <a:solidFill>
                  <a:srgbClr val="14263D"/>
                </a:solidFill>
                <a:latin typeface="Arial"/>
                <a:ea typeface="Arial"/>
                <a:cs typeface="Arial"/>
              </a:rPr>
              <a:t>Contribution and limits</a:t>
            </a:r>
          </a:p>
        </p:txBody>
      </p:sp>
      <p:sp>
        <p:nvSpPr>
          <p:cNvPr id="2" name="">
            <a:extLst xmlns:a="http://schemas.openxmlformats.org/drawingml/2006/main">
              <a:ext uri="{FF2B5EF4-FFF2-40B4-BE49-F238E27FC236}">
                <a16:creationId xmlns:a16="http://schemas.microsoft.com/office/drawing/2014/main" id="{E1312E6D-807B-4660-A39D-9FF86B5E6992}"/>
              </a:ext>
            </a:extLst>
          </p:cNvPr>
          <p:cNvSpPr>
            <a:spLocks xmlns:a="http://schemas.openxmlformats.org/drawingml/2006/main" noGrp="1"/>
          </p:cNvSpPr>
          <p:nvPr/>
        </p:nvSpPr>
        <p:spPr>
          <a:xfrm xmlns:a="http://schemas.openxmlformats.org/drawingml/2006/main">
            <a:off x="666750" y="1057275"/>
            <a:ext cx="10858500" cy="0"/>
          </a:xfrm>
          <a:prstGeom xmlns:a="http://schemas.openxmlformats.org/drawingml/2006/main" prst="line">
            <a:avLst/>
          </a:prstGeom>
          <a:noFill xmlns:a="http://schemas.openxmlformats.org/drawingml/2006/main"/>
          <a:ln xmlns:a="http://schemas.openxmlformats.org/drawingml/2006/main" w="38100">
            <a:solidFill>
              <a:srgbClr val="087E82"/>
            </a:solidFill>
            <a:prstDash val="solid"/>
          </a:ln>
        </p:spPr>
      </p:sp>
      <p:sp>
        <p:nvSpPr>
          <p:cNvPr id="3" name="">
            <a:extLst xmlns:a="http://schemas.openxmlformats.org/drawingml/2006/main">
              <a:ext uri="{FF2B5EF4-FFF2-40B4-BE49-F238E27FC236}">
                <a16:creationId xmlns:a16="http://schemas.microsoft.com/office/drawing/2014/main" id="{67C697B5-CC22-4BEA-9CE1-734C5F898A54}"/>
              </a:ext>
            </a:extLst>
          </p:cNvPr>
          <p:cNvSpPr>
            <a:spLocks xmlns:a="http://schemas.openxmlformats.org/drawingml/2006/main" noGrp="1"/>
          </p:cNvSpPr>
          <p:nvPr/>
        </p:nvSpPr>
        <p:spPr>
          <a:xfrm xmlns:a="http://schemas.openxmlformats.org/drawingml/2006/main">
            <a:off x="11182350" y="63436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B6E7D"/>
                </a:solidFill>
                <a:latin typeface="Arial"/>
                <a:ea typeface="Arial"/>
                <a:cs typeface="Arial"/>
              </a:defRPr>
            </a:pPr>
            <a:r>
              <a:rPr sz="1200" b="0">
                <a:solidFill>
                  <a:srgbClr val="5B6E7D"/>
                </a:solidFill>
                <a:latin typeface="Arial"/>
                <a:ea typeface="Arial"/>
                <a:cs typeface="Arial"/>
              </a:rPr>
              <a:t>08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08e6c72e33b4b12"/>
          <a:stretch xmlns:a="http://schemas.openxmlformats.org/drawingml/2006/main"/>
        </p:blipFill>
        <p:spPr>
          <a:xfrm xmlns:a="http://schemas.openxmlformats.org/drawingml/2006/main">
            <a:off x="10658475" y="1314450"/>
            <a:ext cx="685800" cy="685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EAFB565-0905-4703-9685-E3C961B80BE3}"/>
              </a:ext>
            </a:extLst>
          </p:cNvPr>
          <p:cNvSpPr>
            <a:spLocks xmlns:a="http://schemas.openxmlformats.org/drawingml/2006/main" noGrp="1"/>
          </p:cNvSpPr>
          <p:nvPr/>
        </p:nvSpPr>
        <p:spPr>
          <a:xfrm xmlns:a="http://schemas.openxmlformats.org/drawingml/2006/main">
            <a:off x="704850" y="1562100"/>
            <a:ext cx="5619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E82"/>
                </a:solidFill>
                <a:latin typeface="Arial"/>
                <a:ea typeface="Arial"/>
                <a:cs typeface="Arial"/>
              </a:defRPr>
            </a:pPr>
            <a:r>
              <a:rPr sz="2250" b="1">
                <a:solidFill>
                  <a:srgbClr val="087E82"/>
                </a:solidFill>
                <a:latin typeface="Arial"/>
                <a:ea typeface="Arial"/>
                <a:cs typeface="Arial"/>
              </a:rPr>
              <a:t>Candidate contribution</a:t>
            </a:r>
          </a:p>
        </p:txBody>
      </p:sp>
      <p:sp>
        <p:nvSpPr>
          <p:cNvPr id="6" name="">
            <a:extLst xmlns:a="http://schemas.openxmlformats.org/drawingml/2006/main">
              <a:ext uri="{FF2B5EF4-FFF2-40B4-BE49-F238E27FC236}">
                <a16:creationId xmlns:a16="http://schemas.microsoft.com/office/drawing/2014/main" id="{F9632774-95C8-4B0C-A13E-367936DA99CB}"/>
              </a:ext>
            </a:extLst>
          </p:cNvPr>
          <p:cNvSpPr>
            <a:spLocks xmlns:a="http://schemas.openxmlformats.org/drawingml/2006/main" noGrp="1"/>
          </p:cNvSpPr>
          <p:nvPr/>
        </p:nvSpPr>
        <p:spPr>
          <a:xfrm xmlns:a="http://schemas.openxmlformats.org/drawingml/2006/main">
            <a:off x="704850" y="2152650"/>
            <a:ext cx="514350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63D"/>
                </a:solidFill>
                <a:latin typeface="Arial"/>
                <a:ea typeface="Arial"/>
                <a:cs typeface="Arial"/>
              </a:defRPr>
            </a:pPr>
            <a:r>
              <a:rPr sz="2100" b="1">
                <a:solidFill>
                  <a:srgbClr val="14263D"/>
                </a:solidFill>
                <a:latin typeface="Arial"/>
                <a:ea typeface="Arial"/>
                <a:cs typeface="Arial"/>
              </a:rPr>
              <a:t>An executable migration-time behavior contract that combines sound sufficient guards, replayed witnesses, and measured guard coverage for typed row pipelines.</a:t>
            </a:r>
          </a:p>
        </p:txBody>
      </p:sp>
      <p:sp>
        <p:nvSpPr>
          <p:cNvPr id="7" name="">
            <a:extLst xmlns:a="http://schemas.openxmlformats.org/drawingml/2006/main">
              <a:ext uri="{FF2B5EF4-FFF2-40B4-BE49-F238E27FC236}">
                <a16:creationId xmlns:a16="http://schemas.microsoft.com/office/drawing/2014/main" id="{706BE3FF-55FF-4EDC-8173-44C3BBAF7496}"/>
              </a:ext>
            </a:extLst>
          </p:cNvPr>
          <p:cNvSpPr>
            <a:spLocks xmlns:a="http://schemas.openxmlformats.org/drawingml/2006/main" noGrp="1"/>
          </p:cNvSpPr>
          <p:nvPr/>
        </p:nvSpPr>
        <p:spPr>
          <a:xfrm xmlns:a="http://schemas.openxmlformats.org/drawingml/2006/main">
            <a:off x="6238875" y="1543050"/>
            <a:ext cx="0" cy="3381375"/>
          </a:xfrm>
          <a:prstGeom xmlns:a="http://schemas.openxmlformats.org/drawingml/2006/main" prst="line">
            <a:avLst/>
          </a:prstGeom>
          <a:noFill xmlns:a="http://schemas.openxmlformats.org/drawingml/2006/main"/>
          <a:ln xmlns:a="http://schemas.openxmlformats.org/drawingml/2006/main" w="19050">
            <a:solidFill>
              <a:srgbClr val="C8D6DA"/>
            </a:solidFill>
            <a:prstDash val="solid"/>
          </a:ln>
        </p:spPr>
      </p:sp>
      <p:sp>
        <p:nvSpPr>
          <p:cNvPr id="8" name="">
            <a:extLst xmlns:a="http://schemas.openxmlformats.org/drawingml/2006/main">
              <a:ext uri="{FF2B5EF4-FFF2-40B4-BE49-F238E27FC236}">
                <a16:creationId xmlns:a16="http://schemas.microsoft.com/office/drawing/2014/main" id="{E1848256-2311-4D61-9B4E-B912778CD633}"/>
              </a:ext>
            </a:extLst>
          </p:cNvPr>
          <p:cNvSpPr>
            <a:spLocks xmlns:a="http://schemas.openxmlformats.org/drawingml/2006/main" noGrp="1"/>
          </p:cNvSpPr>
          <p:nvPr/>
        </p:nvSpPr>
        <p:spPr>
          <a:xfrm xmlns:a="http://schemas.openxmlformats.org/drawingml/2006/main">
            <a:off x="6705600" y="1562100"/>
            <a:ext cx="4667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56825"/>
                </a:solidFill>
                <a:latin typeface="Arial"/>
                <a:ea typeface="Arial"/>
                <a:cs typeface="Arial"/>
              </a:defRPr>
            </a:pPr>
            <a:r>
              <a:rPr sz="2250" b="1">
                <a:solidFill>
                  <a:srgbClr val="C56825"/>
                </a:solidFill>
                <a:latin typeface="Arial"/>
                <a:ea typeface="Arial"/>
                <a:cs typeface="Arial"/>
              </a:rPr>
              <a:t>Current boundary</a:t>
            </a:r>
          </a:p>
        </p:txBody>
      </p:sp>
      <p:sp>
        <p:nvSpPr>
          <p:cNvPr id="9" name="">
            <a:extLst xmlns:a="http://schemas.openxmlformats.org/drawingml/2006/main">
              <a:ext uri="{FF2B5EF4-FFF2-40B4-BE49-F238E27FC236}">
                <a16:creationId xmlns:a16="http://schemas.microsoft.com/office/drawing/2014/main" id="{7E20559B-0F88-43E0-A7C9-F2207BD62F22}"/>
              </a:ext>
            </a:extLst>
          </p:cNvPr>
          <p:cNvSpPr>
            <a:spLocks xmlns:a="http://schemas.openxmlformats.org/drawingml/2006/main" noGrp="1"/>
          </p:cNvSpPr>
          <p:nvPr/>
        </p:nvSpPr>
        <p:spPr>
          <a:xfrm xmlns:a="http://schemas.openxmlformats.org/drawingml/2006/main">
            <a:off x="6705600" y="2143125"/>
            <a:ext cx="4524375" cy="2867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43746"/>
                </a:solidFill>
                <a:latin typeface="Arial"/>
                <a:ea typeface="Arial"/>
                <a:cs typeface="Arial"/>
              </a:defRPr>
            </a:pPr>
            <a:r>
              <a:rPr sz="1650" b="0">
                <a:solidFill>
                  <a:srgbClr val="243746"/>
                </a:solidFill>
                <a:latin typeface="Arial"/>
                <a:ea typeface="Arial"/>
                <a:cs typeface="Arial"/>
              </a:rPr>
              <a:t>One explicit mapping and well-typed legacy rows.</a:t>
            </a:r>
          </a:p>
          <a:p xmlns:a="http://schemas.openxmlformats.org/drawingml/2006/main">
            <a:pPr>
              <a:defRPr sz="1650" b="0">
                <a:solidFill>
                  <a:srgbClr val="243746"/>
                </a:solidFill>
                <a:latin typeface="Arial"/>
                <a:ea typeface="Arial"/>
                <a:cs typeface="Arial"/>
              </a:defRPr>
            </a:pPr>
            <a:r>
              <a:rPr sz="1650" b="0">
                <a:solidFill>
                  <a:srgbClr val="243746"/>
                </a:solidFill>
                <a:latin typeface="Arial"/>
                <a:ea typeface="Arial"/>
                <a:cs typeface="Arial"/>
              </a:rPr>
              <a:t>Adapted execution uses the old pipeline through an adapter.</a:t>
            </a:r>
          </a:p>
          <a:p xmlns:a="http://schemas.openxmlformats.org/drawingml/2006/main">
            <a:pPr>
              <a:defRPr sz="1650" b="0">
                <a:solidFill>
                  <a:srgbClr val="243746"/>
                </a:solidFill>
                <a:latin typeface="Arial"/>
                <a:ea typeface="Arial"/>
                <a:cs typeface="Arial"/>
              </a:defRPr>
            </a:pPr>
            <a:r>
              <a:rPr sz="1650" b="0">
                <a:solidFill>
                  <a:srgbClr val="243746"/>
                </a:solidFill>
                <a:latin typeface="Arial"/>
                <a:ea typeface="Arial"/>
                <a:cs typeface="Arial"/>
              </a:rPr>
              <a:t>No guarantee for future new-only rows.</a:t>
            </a:r>
          </a:p>
          <a:p xmlns:a="http://schemas.openxmlformats.org/drawingml/2006/main">
            <a:pPr>
              <a:defRPr sz="1650" b="0">
                <a:solidFill>
                  <a:srgbClr val="243746"/>
                </a:solidFill>
                <a:latin typeface="Arial"/>
                <a:ea typeface="Arial"/>
                <a:cs typeface="Arial"/>
              </a:defRPr>
            </a:pPr>
            <a:r>
              <a:rPr sz="1650" b="0">
                <a:solidFill>
                  <a:srgbClr val="243746"/>
                </a:solidFill>
                <a:latin typeface="Arial"/>
                <a:ea typeface="Arial"/>
                <a:cs typeface="Arial"/>
              </a:rPr>
              <a:t>Split/merge effects outside proved rules remain unknown.</a:t>
            </a:r>
          </a:p>
          <a:p xmlns:a="http://schemas.openxmlformats.org/drawingml/2006/main">
            <a:pPr>
              <a:defRPr sz="1650" b="0">
                <a:solidFill>
                  <a:srgbClr val="243746"/>
                </a:solidFill>
                <a:latin typeface="Arial"/>
                <a:ea typeface="Arial"/>
                <a:cs typeface="Arial"/>
              </a:defRPr>
            </a:pPr>
            <a:r>
              <a:rPr sz="1650" b="0">
                <a:solidFill>
                  <a:srgbClr val="243746"/>
                </a:solidFill>
                <a:latin typeface="Arial"/>
                <a:ea typeface="Arial"/>
                <a:cs typeface="Arial"/>
              </a:rPr>
              <a:t>Dataset migrations are synthetic.</a:t>
            </a:r>
          </a:p>
        </p:txBody>
      </p:sp>
      <p:sp>
        <p:nvSpPr>
          <p:cNvPr id="10" name="">
            <a:extLst xmlns:a="http://schemas.openxmlformats.org/drawingml/2006/main">
              <a:ext uri="{FF2B5EF4-FFF2-40B4-BE49-F238E27FC236}">
                <a16:creationId xmlns:a16="http://schemas.microsoft.com/office/drawing/2014/main" id="{0929B740-FD61-4CAA-B8DF-322BB2CEF00A}"/>
              </a:ext>
            </a:extLst>
          </p:cNvPr>
          <p:cNvSpPr>
            <a:spLocks xmlns:a="http://schemas.openxmlformats.org/drawingml/2006/main" noGrp="1"/>
          </p:cNvSpPr>
          <p:nvPr/>
        </p:nvSpPr>
        <p:spPr>
          <a:xfrm xmlns:a="http://schemas.openxmlformats.org/drawingml/2006/main">
            <a:off x="704850" y="5276850"/>
            <a:ext cx="10429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63D"/>
                </a:solidFill>
                <a:latin typeface="Arial"/>
                <a:ea typeface="Arial"/>
                <a:cs typeface="Arial"/>
              </a:defRPr>
            </a:pPr>
            <a:r>
              <a:rPr sz="1800" b="1">
                <a:solidFill>
                  <a:srgbClr val="14263D"/>
                </a:solidFill>
                <a:latin typeface="Arial"/>
                <a:ea typeface="Arial"/>
                <a:cs typeface="Arial"/>
              </a:rPr>
              <a:t>Next: independent proof and novelty review, then a documented real migration history if available.</a:t>
            </a:r>
          </a:p>
        </p:txBody>
      </p:sp>
      <p:sp>
        <p:nvSpPr>
          <p:cNvPr id="11" name="">
            <a:extLst xmlns:a="http://schemas.openxmlformats.org/drawingml/2006/main">
              <a:ext uri="{FF2B5EF4-FFF2-40B4-BE49-F238E27FC236}">
                <a16:creationId xmlns:a16="http://schemas.microsoft.com/office/drawing/2014/main" id="{4BD36EAC-1254-4865-BC44-C37ED5376E10}"/>
              </a:ext>
            </a:extLst>
          </p:cNvPr>
          <p:cNvSpPr>
            <a:spLocks xmlns:a="http://schemas.openxmlformats.org/drawingml/2006/main" noGrp="1"/>
          </p:cNvSpPr>
          <p:nvPr/>
        </p:nvSpPr>
        <p:spPr>
          <a:xfrm xmlns:a="http://schemas.openxmlformats.org/drawingml/2006/main">
            <a:off x="704850" y="622935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B6E7D"/>
                </a:solidFill>
                <a:latin typeface="Arial"/>
                <a:ea typeface="Arial"/>
                <a:cs typeface="Arial"/>
              </a:defRPr>
            </a:pPr>
            <a:r>
              <a:rPr sz="1200" b="0">
                <a:solidFill>
                  <a:srgbClr val="5B6E7D"/>
                </a:solidFill>
                <a:latin typeface="Arial"/>
                <a:ea typeface="Arial"/>
                <a:cs typeface="Arial"/>
              </a:rPr>
              <a:t>Full references and reproducibility details are in the speaker notes.</a:t>
            </a:r>
          </a:p>
        </p:txBody>
      </p:sp>
    </p:spTree>
    <p:extLst>
      <p:ext uri="{BB962C8B-B14F-4D97-AF65-F5344CB8AC3E}">
        <p14:creationId xmlns:p14="http://schemas.microsoft.com/office/powerpoint/2010/main" val="17103471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2026-10-08T12:13:47.8010000Z</dcterms:created>
  <dcterms:modified xsi:type="dcterms:W3CDTF">2026-10-08T12:13:47.8010000Z</dcterms:modified>
</coreProperties>
</file>